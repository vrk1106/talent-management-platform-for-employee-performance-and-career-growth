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548640"/>
            <a:ext cx="2926080" cy="2926080"/>
          </a:xfrm>
          <a:prstGeom prst="ellipse">
            <a:avLst/>
          </a:prstGeom>
          <a:solidFill>
            <a:srgbClr val="283374"/>
          </a:solidFill>
          <a:ln w="12700">
            <a:solidFill>
              <a:srgbClr val="2833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TECHNOVA  ·  ZONAL ROUND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SkillForge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Empowering Tomorrow's Workforce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AI platform that turns internal training documents into personalized skill assessments, adaptive study sprints, and executive-ready talent analytics.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2569464" cy="420624"/>
          </a:xfrm>
          <a:prstGeom prst="roundRect">
            <a:avLst>
              <a:gd name="adj" fmla="val 50000"/>
            </a:avLst>
          </a:prstGeom>
          <a:solidFill>
            <a:srgbClr val="283374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92040"/>
            <a:ext cx="2569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Startup Potential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4892040"/>
            <a:ext cx="2185416" cy="420624"/>
          </a:xfrm>
          <a:prstGeom prst="roundRect">
            <a:avLst>
              <a:gd name="adj" fmla="val 50000"/>
            </a:avLst>
          </a:prstGeom>
          <a:solidFill>
            <a:srgbClr val="283374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4892040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AI Innovation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97296" y="4892040"/>
            <a:ext cx="2569464" cy="420624"/>
          </a:xfrm>
          <a:prstGeom prst="roundRect">
            <a:avLst>
              <a:gd name="adj" fmla="val 50000"/>
            </a:avLst>
          </a:prstGeom>
          <a:solidFill>
            <a:srgbClr val="283374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4892040"/>
            <a:ext cx="2569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Industry 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217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Management &amp; AI-Powered Learning Platform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532120"/>
            <a:ext cx="8778240" cy="0"/>
          </a:xfrm>
          <a:prstGeom prst="line">
            <a:avLst/>
          </a:prstGeom>
          <a:noFill/>
          <a:ln w="12700">
            <a:solidFill>
              <a:srgbClr val="3B47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650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AI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06624" y="5779008"/>
            <a:ext cx="54864" cy="54864"/>
          </a:xfrm>
          <a:prstGeom prst="ellipse">
            <a:avLst/>
          </a:prstGeom>
          <a:solidFill>
            <a:srgbClr val="6D79B8"/>
          </a:solidFill>
          <a:ln w="12700">
            <a:solidFill>
              <a:srgbClr val="6D7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5650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Adaptive Sprints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01184" y="5779008"/>
            <a:ext cx="54864" cy="54864"/>
          </a:xfrm>
          <a:prstGeom prst="ellipse">
            <a:avLst/>
          </a:prstGeom>
          <a:solidFill>
            <a:srgbClr val="6D79B8"/>
          </a:solidFill>
          <a:ln w="12700">
            <a:solidFill>
              <a:srgbClr val="6D79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5650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Inference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95744" y="5779008"/>
            <a:ext cx="54864" cy="54864"/>
          </a:xfrm>
          <a:prstGeom prst="ellipse">
            <a:avLst/>
          </a:prstGeom>
          <a:solidFill>
            <a:srgbClr val="6D79B8"/>
          </a:solidFill>
          <a:ln w="12700">
            <a:solidFill>
              <a:srgbClr val="6D7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5650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Voice-Driven 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That Doesn't Scale With People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corporate training spend is growing fast — but the way it's delivered hasn't caught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Slow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assessments, grading, and lesson plans consumes hours of L&amp;D staff time per cohort — with no adaptive personalization.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0574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331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313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03720" y="26791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training content ignores individual skill gaps, leading to poor retention and wasted training budget.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Measurable ROI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7365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L&amp;D platforms can't tie training completion to actual skill growth or business KPIs for leadership.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41148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 Risk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47365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ed-tech tools route sensitive employee performance and HR records through third-party servers.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IMARC Group, India Corporate Training Market Report,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 AI That Closes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5389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document ingestion (BAAI bge-large + ChromaDB) auto-generates exams, 6-day adaptive study sprints, and semantic search from internal training PDFs.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40864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3113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voice AI handles 24/7 hands-free tutoring queries and executes admin actions with audit logging.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0837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 ties training completion directly to performance analytics.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78561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inference architecture — sensitive HR and training data stays on-org by default.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50876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Incumbent LMS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SkillForge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plans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rule-based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AI-generated 6-day sprints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residency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Cloud-only (Cornerstone, Docebo)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Local-first, on-prem inference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$72–$216 / employee / yr (PEPM)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local inference cuts per-query spend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Voice-driven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Built-in, audit-logged commands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715000" y="42702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Cornerstone/Docebo pricing: Vendr procurement data via Educate-me &amp; Schoox,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 Ingestion to Career Growth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four-stage, privacy-aware AI pipeline powering training, search, assessment, and analytics.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3332" y="2404872"/>
            <a:ext cx="585216" cy="5852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3332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31729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Ingestion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training PDF upload, SHA-256 dedup, layout preservation, OCR extraction.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21488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6532" y="2404872"/>
            <a:ext cx="585216" cy="5852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6532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56432" y="31729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Vector Engine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3794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bge-large 1024-dim embeddings indexed in ChromaDB for local RAG retrieval.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9732" y="2404872"/>
            <a:ext cx="585216" cy="5852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9732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99632" y="31729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Exam &amp; Sprint Generator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exam synthesis, 6-day sprint plans, and instant score evaluation.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49640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778240" y="21488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42932" y="2404872"/>
            <a:ext cx="585216" cy="5852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42932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42832" y="31729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Analytics &amp; Voice AI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61120" y="3794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dashboards and real-time Sphere Voice AI interactions.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runs within a secure, admin-toggled environment — cloud burst (Groq) is opt-in and never used for sensitive records.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696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6007608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007608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FastAPI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21992" y="6007608"/>
            <a:ext cx="96560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21992" y="6007608"/>
            <a:ext cx="9656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70478" y="6007608"/>
            <a:ext cx="201533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0478" y="6007608"/>
            <a:ext cx="2015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bge-large-en-v1.5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68696" y="6007608"/>
            <a:ext cx="96560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8696" y="6007608"/>
            <a:ext cx="9656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17182" y="6007608"/>
            <a:ext cx="126553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7182" y="6007608"/>
            <a:ext cx="12655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65592" y="6007608"/>
            <a:ext cx="141549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5592" y="6007608"/>
            <a:ext cx="14154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Fast-Growing, Underserved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206240" cy="4206240"/>
          </a:xfrm>
          <a:prstGeom prst="ellipse">
            <a:avLst/>
          </a:prstGeom>
          <a:solidFill>
            <a:srgbClr val="F4F7FD"/>
          </a:solidFill>
          <a:ln w="15875">
            <a:solidFill>
              <a:srgbClr val="D7E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788920"/>
            <a:ext cx="2834640" cy="2834640"/>
          </a:xfrm>
          <a:prstGeom prst="ellipse">
            <a:avLst/>
          </a:prstGeom>
          <a:solidFill>
            <a:srgbClr val="CADCFC"/>
          </a:solidFill>
          <a:ln w="15875">
            <a:solidFill>
              <a:srgbClr val="B7CB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71700" y="4206240"/>
            <a:ext cx="1417320" cy="141732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4078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63677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  $12.2B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9842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corporate training market, 2025 — 12.9% CAGR to 2034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82512" y="24048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Group,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277063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D8FE0"/>
          </a:solidFill>
          <a:ln w="12700">
            <a:solidFill>
              <a:srgbClr val="6D8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7157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  $1.07B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2512" y="3063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LMS / AI-personalized learning segment, 2025 — 21.7% CAGR to 2033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82512" y="34838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Straits Research, 2025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384962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B9C6EE"/>
          </a:solidFill>
          <a:ln w="12700">
            <a:solidFill>
              <a:srgbClr val="B9C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7947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  ~$2M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2512" y="41422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reachable mid-size enterprises at conservative early-adopter conversion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82512" y="45628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estimate — validate via pilot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4983480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50657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529437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inside India's corporate e-learning market is the fastest-growing driver of the segment — buyers are already budgeting for it, not just piloting it.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are illustrative, not to linear scale. SOM assumes early-stage entry into mid-size enterprises (500–5,000 employees) — validate against pilot conversion before citing externally.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 Hold Up Against Incumbents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Incumbent LMS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SkillForge (target)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build a 1-week personalized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hrs per L&amp;D staff,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minutes, automated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creation &amp; grading turnaround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real-time, auto-graded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cost / employee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$72–$216 (Cornerstone PEPM); $300+ (Docebo mid-market)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local inference, cloud burst only opt-in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employee data lives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cloud (US/EU hosted)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On-org server, offline-first by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setup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per deployment (mid-range on-prem GPU)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projected estimates for a mid-size enterprise; validate against a pilot before finalizing pricing. Incumbent pricing: Educate-me, TrainingCost.com, Schoox (Vendr data), 2026.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the AI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2137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88970" y="1572768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897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2321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91890" y="1554480"/>
            <a:ext cx="2137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9300" y="1572768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2930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6354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32220" y="1554480"/>
            <a:ext cx="2137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69630" y="1572768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963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0387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72550" y="1554480"/>
            <a:ext cx="2137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09960" y="1572768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4420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514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65176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9808" y="297180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1000-character chunks, 200-character overlap, source pointers, SHA-256 dedup.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2514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265176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98848" y="297180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bge-large-en-v1.5 — 1024-d, L2-normalized vectors with versioned metadata.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2514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265176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47888" y="297180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ChromaDB stores vectors + metadata; Top-K cosine search returns ranked, provenance-tagged chunks.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29768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49808" y="46177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engine powers context-aware RAG, exam synthesis, and adaptive sprint generation.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0" y="41605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429768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AI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498848" y="46177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Speech API, TTS readout, and dynamic tool-calling for live analytics queries.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46720" y="41605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47888" y="429768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Layer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247888" y="46177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actions are idempotent, audit-logged, and RBAC-checked — with confirmation + undo flows.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58795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Lewis et al., “Retrieval-Augmented Generation for Knowledge-Intensive NLP Tasks,” NeurIPS 2020.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1965960"/>
          </a:xfrm>
          <a:prstGeom prst="rect">
            <a:avLst/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01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enterprises (500–5,000 employees) with active L&amp;D / HR functions and existing training spend.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4864" cy="1965960"/>
          </a:xfrm>
          <a:prstGeom prst="rect">
            <a:avLst/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600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01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Model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55080" y="2221992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Per-employee/year SaaS subscription, tiered by Admin / Manager / Trainee seats — undercutting incumbents via local-inference cost structure.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864" cy="1965960"/>
          </a:xfrm>
          <a:prstGeom prst="rect">
            <a:avLst/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41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462272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1–2 organizations → case study → outbound to mid-market HR/L&amp;D leaders → channel partnerships with HR-tech consultancies.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840480"/>
            <a:ext cx="54864" cy="1965960"/>
          </a:xfrm>
          <a:prstGeom prst="rect">
            <a:avLst/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8404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041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Defensibility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55080" y="4462272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privacy architecture plus a voice-driven tool-execution layer — harder to replicate than a standard LMS feature set.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925312"/>
            <a:ext cx="1078992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Capital-efficient by design: local inference removes per-query LLM cost as the dominant opex driver at scale — the margin structure incumbents can't easily match.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the Upside — and the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AF6F1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Cuts L&amp;D staff time on exam creation and grading.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Gives employees personalized, 24/7 AI-driven upskilling.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43814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Keeps sensitive HR and performance data on-org infrastructure by default.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05993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Lowers recurring licensing cost versus incumbent LMS/talent suites.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468112" cy="3931920"/>
          </a:xfrm>
          <a:prstGeom prst="roundRect">
            <a:avLst>
              <a:gd name="adj" fmla="val 1860"/>
            </a:avLst>
          </a:prstGeom>
          <a:solidFill>
            <a:srgbClr val="FBEEE9"/>
          </a:solidFill>
          <a:ln w="12700">
            <a:solidFill>
              <a:srgbClr val="F0D4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4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 models can lag cloud-scale LLMs on complex reasoning → admin-toggled Groq cloud burst for non-sensitive queries.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9992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On-prem hardware cost is an adoption barrier for smaller orgs → managed-hosting tier planned for SMB segment.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80390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Notification throttling at scale → queued dispatch with rate limiter.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460857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DB read hotspots from chatbot → read replicas and caching for summaries.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lower recurring cost and stronger data control, weighed against real infrastructure and reasoning-quality trade-offs we're actively engineering around — not glossing over.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Where We're Going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08860" y="1691640"/>
            <a:ext cx="7498080" cy="0"/>
          </a:xfrm>
          <a:prstGeom prst="line">
            <a:avLst/>
          </a:prstGeom>
          <a:noFill/>
          <a:ln w="25400">
            <a:solidFill>
              <a:srgbClr val="B7C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7692" y="149047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7692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488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23160"/>
            <a:ext cx="352044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2834640"/>
            <a:ext cx="31181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built: RAG search, AI exam engine, 6-day sprints, voice AI, executive dashboards, WAL-resilient SQLite backend.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6732" y="149047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6732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21488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1488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2423160"/>
            <a:ext cx="352044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3 Months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98848" y="2834640"/>
            <a:ext cx="31181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1 partner organization, load testing to p95 latency targets, DB monitoring + alerting, brand/theme finalization.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05772" y="149047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5772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21488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1488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423160"/>
            <a:ext cx="352044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 Months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47888" y="2834640"/>
            <a:ext cx="31181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Read-replica scaling for analytics, regional-language voice support, integration with institutional ERPs / HRIS systems.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&amp; 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Engineers Who 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&amp; AI Systems Lead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87952" y="19202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0832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Backend Engineer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27264" y="19202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283374"/>
          </a:solidFill>
          <a:ln w="12700">
            <a:solidFill>
              <a:srgbClr val="3B47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10144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UX Design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858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partner organization to validate the economics above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on enterprise GTM and HR-tech distribution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9194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the jury on where this defensibility argument is weakest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7772400" cy="0"/>
          </a:xfrm>
          <a:prstGeom prst="line">
            <a:avLst/>
          </a:prstGeom>
          <a:noFill/>
          <a:ln w="12700">
            <a:solidFill>
              <a:srgbClr val="3B47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32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is already built and running — the ask is validation, not vision.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 |  TSM Technova Zonal Round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2026-09-10T06:04:10Z</dcterms:created>
  <dcterms:modified xsi:type="dcterms:W3CDTF">2026-09-10T06:04:10Z</dcterms:modified>
</cp:coreProperties>
</file>