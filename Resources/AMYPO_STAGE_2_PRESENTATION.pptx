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96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14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F171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2926080" cy="2926080"/>
          </a:xfrm>
          <a:prstGeom prst="ellipse">
            <a:avLst/>
          </a:prstGeom>
          <a:solidFill>
            <a:srgbClr val="D98B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D98B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HACKWITHAMYPO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Stage 2 Submission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F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INFY (AMY00107) •  </a:t>
            </a:r>
            <a:r>
              <a:rPr lang="en-US" dirty="0">
                <a:solidFill>
                  <a:srgbClr val="C7CF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KPR Institute of Engineering and Technology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995176" cy="777240"/>
          </a:xfrm>
          <a:prstGeom prst="roundRect">
            <a:avLst>
              <a:gd name="adj" fmla="val 14545"/>
            </a:avLst>
          </a:prstGeom>
          <a:solidFill>
            <a:srgbClr val="0F171F"/>
          </a:solidFill>
          <a:ln w="12700">
            <a:solidFill>
              <a:srgbClr val="2E4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PS7 - LOCAL DATABASE QUESTION-ANSWERING SYSTEM (NO THIRD-PARTY API)</a:t>
            </a:r>
            <a:b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</a:br>
            <a:r>
              <a:rPr lang="en-US" sz="10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PS2 - </a:t>
            </a:r>
            <a:r>
              <a:rPr lang="en-IN" sz="1000" dirty="0">
                <a:solidFill>
                  <a:schemeClr val="bg1"/>
                </a:solidFill>
                <a:latin typeface="IBM Plex Mono" panose="020B0509050203000203" pitchFamily="49" charset="0"/>
              </a:rPr>
              <a:t>AI Hallucination Detection and </a:t>
            </a:r>
            <a:r>
              <a:rPr lang="en-IN" sz="1000" dirty="0" err="1">
                <a:solidFill>
                  <a:schemeClr val="bg1"/>
                </a:solidFill>
                <a:latin typeface="IBM Plex Mono" panose="020B0509050203000203" pitchFamily="49" charset="0"/>
              </a:rPr>
              <a:t>Reliablity</a:t>
            </a:r>
            <a:r>
              <a:rPr lang="en-IN" sz="1000" dirty="0">
                <a:solidFill>
                  <a:schemeClr val="bg1"/>
                </a:solidFill>
                <a:latin typeface="IBM Plex Mono" panose="020B0509050203000203" pitchFamily="49" charset="0"/>
              </a:rPr>
              <a:t> Scoring System.</a:t>
            </a:r>
            <a:endParaRPr lang="en-US" sz="1000" dirty="0">
              <a:solidFill>
                <a:schemeClr val="bg1"/>
              </a:solidFill>
              <a:latin typeface="IBM Plex Mono" panose="020B0509050203000203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Leader: Sanjai M S   |   Teammate: Reshekumar 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Restate the problem, in your own words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affected?
</a:t>
            </a:r>
            <a:r>
              <a:rPr lang="en-IN" sz="1400" dirty="0"/>
              <a:t>Students and staff members at the institution.</a:t>
            </a:r>
            <a:r>
              <a:rPr lang="en-US" sz="13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4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broken today?
</a:t>
            </a:r>
            <a:r>
              <a:rPr lang="en-IN" sz="1400" dirty="0"/>
              <a:t>The inability to safely query sensitive structured academic records and unstructured policies without relying on third-party cloud APIs that compromise privacy.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6212B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21031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D98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it matter?
</a:t>
            </a:r>
            <a:r>
              <a:rPr lang="en-IN" sz="1400" dirty="0">
                <a:solidFill>
                  <a:schemeClr val="bg1"/>
                </a:solidFill>
              </a:rPr>
              <a:t>Cloud-dependent solutions introduce data privacy risks, require constant internet access, and are prone to hallucinations when dealing with critical structured academic data.</a:t>
            </a:r>
            <a:r>
              <a:rPr lang="en-US" sz="1300" dirty="0">
                <a:solidFill>
                  <a:srgbClr val="C7CF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400" b="1" dirty="0">
                <a:solidFill>
                  <a:srgbClr val="D98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
</a:t>
            </a:r>
            <a:r>
              <a:rPr lang="en-IN" sz="1400" dirty="0">
                <a:solidFill>
                  <a:schemeClr val="bg1"/>
                </a:solidFill>
              </a:rPr>
              <a:t>The project mandates a 100% offline, self-hosted architecture to guarantee complete institutional compliance and zero data hallucinations.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idea, in one clear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dirty="0"/>
              <a:t>A fully self-hosted, integration-ready Database Question-Answering System that processes structured records and unstructured documents entirely offline.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/>
              <a:t>The system classifies a query's intent and routes it to either a </a:t>
            </a:r>
            <a:r>
              <a:rPr lang="en-IN" sz="1400" dirty="0" err="1"/>
              <a:t>ChromaDB</a:t>
            </a:r>
            <a:r>
              <a:rPr lang="en-IN" sz="1400" dirty="0"/>
              <a:t> vector index or parameterized SQL queries against SQLite, synthesizes a natural language answer using a local Qwen2.5 LLM, </a:t>
            </a:r>
            <a:r>
              <a:rPr lang="en-IN" sz="1400" b="1" dirty="0"/>
              <a:t>and then intercepts the output through an automated Trust Layer that fact-checks the answer against the local database before showing it to the user.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25112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25112" y="41605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Role-Based Access Control (RBAC) for securing isolated data views.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Dual-way Speech-to-Text and Text-to-Speech voice interaction.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Interactive knowledge graphs for dynamic concept mapping and sprint milestones.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Enterprise Trust Layer &amp; Reliability Scoring to automatically detect and flag hallucinations, providing a verifiable confidence score for every answer.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</a:p>
        </p:txBody>
      </p:sp>
      <p:sp>
        <p:nvSpPr>
          <p:cNvPr id="10" name="Text 8"/>
          <p:cNvSpPr/>
          <p:nvPr/>
        </p:nvSpPr>
        <p:spPr>
          <a:xfrm>
            <a:off x="8101584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01584" y="41605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/>
              <a:t>Deliberately excludes real-time integration with external third-party cloud Learning Management Systems (LMS) and public internet web scraping.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APPROACH &amp;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the pieces fit together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ED6E5-CDAB-A4EE-FB22-3DF3C2760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277" y="1600200"/>
            <a:ext cx="7421525" cy="4732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you're building with, and why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1 Template</a:t>
            </a:r>
            <a:endParaRPr lang="en-US" sz="9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FC7C4E6-99C9-3C78-84CA-622B32995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428146"/>
              </p:ext>
            </p:extLst>
          </p:nvPr>
        </p:nvGraphicFramePr>
        <p:xfrm>
          <a:off x="548640" y="1581192"/>
          <a:ext cx="11317296" cy="5093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432">
                  <a:extLst>
                    <a:ext uri="{9D8B030D-6E8A-4147-A177-3AD203B41FA5}">
                      <a16:colId xmlns:a16="http://schemas.microsoft.com/office/drawing/2014/main" val="296820527"/>
                    </a:ext>
                  </a:extLst>
                </a:gridCol>
                <a:gridCol w="3772432">
                  <a:extLst>
                    <a:ext uri="{9D8B030D-6E8A-4147-A177-3AD203B41FA5}">
                      <a16:colId xmlns:a16="http://schemas.microsoft.com/office/drawing/2014/main" val="1593288473"/>
                    </a:ext>
                  </a:extLst>
                </a:gridCol>
                <a:gridCol w="3772432">
                  <a:extLst>
                    <a:ext uri="{9D8B030D-6E8A-4147-A177-3AD203B41FA5}">
                      <a16:colId xmlns:a16="http://schemas.microsoft.com/office/drawing/2014/main" val="2370529986"/>
                    </a:ext>
                  </a:extLst>
                </a:gridCol>
              </a:tblGrid>
              <a:tr h="304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Layer</a:t>
                      </a:r>
                      <a:endParaRPr lang="en-IN" dirty="0"/>
                    </a:p>
                  </a:txBody>
                  <a:tcPr>
                    <a:solidFill>
                      <a:srgbClr val="003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  <a:endParaRPr lang="en-IN" dirty="0"/>
                    </a:p>
                  </a:txBody>
                  <a:tcPr>
                    <a:solidFill>
                      <a:srgbClr val="003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Why this choice?</a:t>
                      </a:r>
                      <a:endParaRPr lang="en-IN" dirty="0"/>
                    </a:p>
                  </a:txBody>
                  <a:tcPr>
                    <a:solidFill>
                      <a:srgbClr val="003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768423"/>
                  </a:ext>
                </a:extLst>
              </a:tr>
              <a:tr h="76388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Inter"/>
                        </a:rPr>
                        <a:t>Front end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HTML/ CSS/ JS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Delivers an intuitive, responsive multi-page web dashboard with interactive elements and voice controls without webserver complexity.</a:t>
                      </a:r>
                      <a:endParaRPr lang="en-IN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24166"/>
                  </a:ext>
                </a:extLst>
              </a:tr>
              <a:tr h="620656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Inter"/>
                        </a:rPr>
                        <a:t>Backend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3.10 + Flask Engine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Offers seamless integration with ML libraries, database connectors, and asynchronous task execution.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100274"/>
                  </a:ext>
                </a:extLst>
              </a:tr>
              <a:tr h="763884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Inter"/>
                        </a:rPr>
                        <a:t>AI / Model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BAAI/bge-large-en-v1.5 &amp; Qwen2.5 (Quantized via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 API)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Provides state-of-the-art offline embeddings and exceptional multi-step reasoning with zero API costs and full data privacy.</a:t>
                      </a:r>
                      <a:endParaRPr lang="en-IN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58044"/>
                  </a:ext>
                </a:extLst>
              </a:tr>
              <a:tr h="907112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Inter"/>
                        </a:rPr>
                        <a:t>Data / Storage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ChromaDB</a:t>
                      </a:r>
                      <a:r>
                        <a:rPr lang="en-US" dirty="0"/>
                        <a:t> &amp; SQLite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Manages lightweight vector storage for similarity searches and zero-configuration, ACID-compliant embedded databases for structured records locally.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141120"/>
                  </a:ext>
                </a:extLst>
              </a:tr>
              <a:tr h="432073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Claim Extraction Engine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SpaCy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NLTK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High-speed, zero-compute sentence splitting (100% offline)</a:t>
                      </a:r>
                      <a:endParaRPr lang="en-IN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175318"/>
                  </a:ext>
                </a:extLst>
              </a:tr>
              <a:tr h="533737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Fact-Checking / NLI Engine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sentence-transformers (cross-encoder/nli-deberta-v3-small)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Running locally to detect logical entailment or contradiction.</a:t>
                      </a:r>
                      <a:endParaRPr lang="en-IN" sz="14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90168"/>
                  </a:ext>
                </a:extLst>
              </a:tr>
              <a:tr h="334199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Inter"/>
                          <a:ea typeface="+mn-ea"/>
                          <a:cs typeface="+mn-cs"/>
                        </a:rPr>
                        <a:t>Orchestration</a:t>
                      </a:r>
                      <a:endParaRPr lang="en-IN" b="0" dirty="0">
                        <a:latin typeface="Inter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Pure Python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Calculating the mathematical Reliability Score.</a:t>
                      </a:r>
                      <a:endParaRPr lang="en-IN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445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FEASIBILITY &amp;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What's realistic to build in the hackathon window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621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>
                <a:solidFill>
                  <a:schemeClr val="bg1"/>
                </a:solidFill>
              </a:rPr>
              <a:t>Local environment preparation, </a:t>
            </a:r>
            <a:r>
              <a:rPr lang="en-IN" sz="1100" dirty="0" err="1">
                <a:solidFill>
                  <a:schemeClr val="bg1"/>
                </a:solidFill>
              </a:rPr>
              <a:t>ChromaDB</a:t>
            </a:r>
            <a:r>
              <a:rPr lang="en-IN" sz="1100" dirty="0">
                <a:solidFill>
                  <a:schemeClr val="bg1"/>
                </a:solidFill>
              </a:rPr>
              <a:t> initialization, and SQLite schema deployment.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154680" y="26060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785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3389660" y="20600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Build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09330" y="2347314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LLM initialization via </a:t>
            </a:r>
            <a:r>
              <a:rPr lang="en-IN" sz="1100" dirty="0" err="1"/>
              <a:t>Ollama</a:t>
            </a:r>
            <a:r>
              <a:rPr lang="en-IN" sz="1100" dirty="0"/>
              <a:t>, parameterizing SQL queries, and establishing the intent routing pipeline.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6060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785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N" sz="1200" dirty="0"/>
          </a:p>
          <a:p>
            <a:r>
              <a:rPr lang="en-IN" sz="1200" dirty="0"/>
              <a:t>Connected UI, voice, RBAC, and real-time Cross-Encoder verification systems.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06005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5603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32520" y="26060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785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15400" y="2103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208291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 &amp; Demo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06840" y="24688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Edge-case testing, UI refinement, and recording a fallback demo video.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risk &amp; fallback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b="1" dirty="0"/>
              <a:t>Risk:</a:t>
            </a:r>
            <a:r>
              <a:rPr lang="en-IN" sz="1400" dirty="0"/>
              <a:t> Running both the Qwen2.5 LLM and the Cross-Encoder verification model locally could strain host compute resources.</a:t>
            </a:r>
          </a:p>
          <a:p>
            <a:r>
              <a:rPr lang="en-IN" sz="1400" b="1" dirty="0"/>
              <a:t>Fallback:</a:t>
            </a:r>
            <a:r>
              <a:rPr lang="en-IN" sz="1400" dirty="0"/>
              <a:t> Use ultra-lightweight NLP (NLTK) for extraction and smallest quantized models for verification to keep latency low.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already built vs. new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4343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/>
              <a:t>Core SQLite schemas and basic document chunking logic. New: The multi-engine intent router, local LLM RAG synthesizer, and offline voice interaction modules.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1 Template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8B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r>
              <a:rPr lang="en-US" sz="1300" dirty="0">
                <a:solidFill>
                  <a:srgbClr val="8A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8A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USP versus the obvious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0F171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obvious way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Cloud Dependency:</a:t>
            </a:r>
            <a:r>
              <a:rPr lang="en-IN" sz="1400" dirty="0">
                <a:solidFill>
                  <a:schemeClr val="bg1"/>
                </a:solidFill>
              </a:rPr>
              <a:t> Relying exclusively on third-party cloud APIs (like OpenAI or Claude) which transmits sensitive academic records over the public internet.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One-Size-Fits-All Retrieval:</a:t>
            </a:r>
            <a:r>
              <a:rPr lang="en-IN" sz="1400" dirty="0">
                <a:solidFill>
                  <a:schemeClr val="bg1"/>
                </a:solidFill>
              </a:rPr>
              <a:t> Shoving all institutional data—including structured grades and attendance—into a single vector database. This leads to severe hallucinations when the LLM attempts to answer exact numerical.</a:t>
            </a:r>
          </a:p>
          <a:p>
            <a:pPr lvl="0"/>
            <a:endParaRPr lang="en-IN" sz="14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bg1"/>
                </a:solidFill>
              </a:rPr>
              <a:t>Static UI &amp; Modality:</a:t>
            </a:r>
            <a:r>
              <a:rPr lang="en-IN" sz="1400" dirty="0">
                <a:solidFill>
                  <a:schemeClr val="bg1"/>
                </a:solidFill>
              </a:rPr>
              <a:t> Building basic text-in/text-out chat wrappers without addressing hands-free operational needs or accessibility for campus staff.</a:t>
            </a:r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D98B2B">
              <a:alpha val="12000"/>
            </a:srgbClr>
          </a:solidFill>
          <a:ln w="15875">
            <a:solidFill>
              <a:srgbClr val="D98B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53796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53746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1400" b="1" dirty="0">
                <a:solidFill>
                  <a:schemeClr val="bg1"/>
                </a:solidFill>
              </a:rPr>
              <a:t>Input &amp; Routing:</a:t>
            </a:r>
            <a:r>
              <a:rPr lang="en-IN" sz="1400" dirty="0">
                <a:solidFill>
                  <a:schemeClr val="bg1"/>
                </a:solidFill>
              </a:rPr>
              <a:t> The </a:t>
            </a:r>
            <a:r>
              <a:rPr lang="en-IN" sz="1400" dirty="0" err="1">
                <a:solidFill>
                  <a:schemeClr val="bg1"/>
                </a:solidFill>
              </a:rPr>
              <a:t>Streamlit</a:t>
            </a:r>
            <a:r>
              <a:rPr lang="en-IN" sz="1400" dirty="0">
                <a:solidFill>
                  <a:schemeClr val="bg1"/>
                </a:solidFill>
              </a:rPr>
              <a:t> Web UI captures queries, which the RBAC module authenticates and directs based on user intent.</a:t>
            </a: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Concurrent Retrieval:</a:t>
            </a:r>
            <a:r>
              <a:rPr lang="en-IN" sz="1400" dirty="0">
                <a:solidFill>
                  <a:schemeClr val="bg1"/>
                </a:solidFill>
              </a:rPr>
              <a:t> The system simultaneously pulls structured SQLite data, </a:t>
            </a:r>
            <a:r>
              <a:rPr lang="en-IN" sz="1400" dirty="0" err="1">
                <a:solidFill>
                  <a:schemeClr val="bg1"/>
                </a:solidFill>
              </a:rPr>
              <a:t>ChromaDB</a:t>
            </a:r>
            <a:r>
              <a:rPr lang="en-IN" sz="1400" dirty="0">
                <a:solidFill>
                  <a:schemeClr val="bg1"/>
                </a:solidFill>
              </a:rPr>
              <a:t> document vectors, and historical semantic caches.</a:t>
            </a: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LLM Drafting:</a:t>
            </a:r>
            <a:r>
              <a:rPr lang="en-IN" sz="1400" dirty="0">
                <a:solidFill>
                  <a:schemeClr val="bg1"/>
                </a:solidFill>
              </a:rPr>
              <a:t> The local Qwen2.5 model ingests the routed query and all retrieved context to formulate an initial draft answer.</a:t>
            </a:r>
          </a:p>
          <a:p>
            <a:pPr lvl="0"/>
            <a:r>
              <a:rPr lang="en-IN" sz="1400" b="1" dirty="0">
                <a:solidFill>
                  <a:schemeClr val="bg1"/>
                </a:solidFill>
              </a:rPr>
              <a:t>Trust &amp; Delivery:</a:t>
            </a:r>
            <a:r>
              <a:rPr lang="en-IN" sz="1400" dirty="0">
                <a:solidFill>
                  <a:schemeClr val="bg1"/>
                </a:solidFill>
              </a:rPr>
              <a:t> The 100% Offline Trust Layer runs NLI scoring on the draft against the original context before the UI delivers the validated response.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C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1 Template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benefits, and how you'd measure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752856" y="1958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2E8C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BENEFICIARY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dirty="0"/>
              <a:t>Student and </a:t>
            </a:r>
            <a:r>
              <a:rPr lang="en-IN" sz="1400" dirty="0"/>
              <a:t>staff</a:t>
            </a:r>
            <a:r>
              <a:rPr lang="en-IN" sz="1600" dirty="0"/>
              <a:t> users.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5112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1964189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2E8C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SUCCESS METRIC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53712" y="2298405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/>
              <a:t>100% offline data privacy compliance, </a:t>
            </a:r>
            <a:r>
              <a:rPr lang="en-IN" sz="1400" b="1" dirty="0"/>
              <a:t>an Average System Reliability Score of &gt;95%</a:t>
            </a:r>
            <a:r>
              <a:rPr lang="en-IN" sz="1400" dirty="0"/>
              <a:t>, zero hallucinations on structured academic queries, and sub-3-second response times for cached FAQ lookups.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01584" y="19202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964189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2E8C7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SCALE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30184" y="2329949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400" dirty="0"/>
              <a:t>Deployment as a pilot within a single academic department for one semester, serving roughly 300 to 500 students and staff.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Longer-term vision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102044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Decentralized Campus Network:</a:t>
            </a:r>
            <a:r>
              <a:rPr lang="en-IN" sz="1400" dirty="0"/>
              <a:t> Expand from a single-department pilot into a federated model across the campus, where each department hosts its own offline LLM node to completely eliminate recurring cloud SaaS costs.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Edge-Optimized Deployments:</a:t>
            </a:r>
            <a:r>
              <a:rPr lang="en-IN" sz="1400" dirty="0"/>
              <a:t> Evolve the system architecture to run on localized edge-computing devices, utilizing aggressive model quantization and system-level optimization to bypass the need for expensive, high-powered desktop GPUs.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b="1" dirty="0"/>
              <a:t>Proactive Academic Analytics:</a:t>
            </a:r>
            <a:r>
              <a:rPr lang="en-IN" sz="1400" dirty="0"/>
              <a:t> Shift the engine from a reactive question-answering tool to a predictive system that </a:t>
            </a:r>
            <a:r>
              <a:rPr lang="en-IN" sz="1400" dirty="0" err="1"/>
              <a:t>analyzes</a:t>
            </a:r>
            <a:r>
              <a:rPr lang="en-IN" sz="1400" dirty="0"/>
              <a:t> historical student query patterns to automatically flag systemic bottlenecks in course syllabi or scheduling.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A5A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r>
              <a:rPr lang="en-US" sz="13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 09   </a:t>
            </a:r>
            <a:r>
              <a:rPr lang="en-US" sz="1100" kern="0" spc="200" dirty="0">
                <a:solidFill>
                  <a:srgbClr val="6B77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 &amp;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6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Who's building this, and with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Sanjai M 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Qwen2.5 LLM inference and </a:t>
            </a:r>
            <a:r>
              <a:rPr lang="en-IN" sz="1400" dirty="0" err="1"/>
              <a:t>Streamlit</a:t>
            </a:r>
            <a:r>
              <a:rPr lang="en-IN" sz="1400" dirty="0"/>
              <a:t> 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CSE, III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53912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6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Reshekumar 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 err="1"/>
              <a:t>ChromaDB</a:t>
            </a:r>
            <a:r>
              <a:rPr lang="en-IN" sz="1400" dirty="0"/>
              <a:t>/SQLite backend and RBAC query routing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28232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CSE, III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C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tech stack summary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HackWithAMYPO 2026 — Stage 2</a:t>
            </a:r>
            <a:endParaRPr lang="en-US" sz="9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CA64941-AF39-26E4-EEE5-558ACEBC8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54370"/>
              </p:ext>
            </p:extLst>
          </p:nvPr>
        </p:nvGraphicFramePr>
        <p:xfrm>
          <a:off x="1742440" y="461772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4423555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885491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Streamlit</a:t>
                      </a: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CSS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8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Python 3.10, Flask</a:t>
                      </a:r>
                      <a:endParaRPr lang="en-IN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9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BAAI/bge-large-en-v1.5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Qwen2.5, </a:t>
                      </a:r>
                      <a:r>
                        <a:rPr lang="en-IN" sz="1800" dirty="0" err="1"/>
                        <a:t>Ollama</a:t>
                      </a:r>
                      <a:r>
                        <a:rPr lang="en-IN" sz="1800" dirty="0"/>
                        <a:t> API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57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ChromaDB</a:t>
                      </a:r>
                      <a:r>
                        <a:rPr lang="en-IN" sz="1800" dirty="0"/>
                        <a:t>, SQLite3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PyPDF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LangChain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51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/>
                        <a:t>Sentence-Transformers, Pandas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 err="1"/>
                        <a:t>SpeechRecognition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gTTS</a:t>
                      </a:r>
                      <a:r>
                        <a:rPr lang="en-IN" sz="1800" dirty="0"/>
                        <a:t>/pyttsx3, </a:t>
                      </a:r>
                      <a:r>
                        <a:rPr lang="en-IN" sz="1800" dirty="0" err="1"/>
                        <a:t>PyVis</a:t>
                      </a:r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9730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1152</Words>
  <Application>Microsoft Office PowerPoint</Application>
  <PresentationFormat>Widescreen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IBM Plex Mono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Reshekumar V</cp:lastModifiedBy>
  <cp:revision>5</cp:revision>
  <dcterms:created xsi:type="dcterms:W3CDTF">2026-08-03T09:54:08Z</dcterms:created>
  <dcterms:modified xsi:type="dcterms:W3CDTF">2026-09-06T10:36:14Z</dcterms:modified>
</cp:coreProperties>
</file>