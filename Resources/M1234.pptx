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fntdata" ContentType="application/x-fontdata"/>
  <Default Extension="jpg" ContentType="image/jpeg"/>
  <Default Extension="png" ContentType="image/png"/>
  <Default Extension="svg" ContentType="image/svg+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0b27203f35647b0" /><Relationship Type="http://schemas.openxmlformats.org/package/2006/relationships/metadata/core-properties" Target="/docProps/core.xml" Id="R9cd61f2c7f1c4c7a" /><Relationship Type="http://schemas.openxmlformats.org/officeDocument/2006/relationships/extended-properties" Target="/docProps/app.xml" Id="Ra9b8048a1e6a4107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true" autoCompressPictures="0">
  <p:sldMasterIdLst>
    <p:sldMasterId id="2147483648" r:id="R277885cd68804762"/>
    <p:sldMasterId id="2147483651" r:id="R40ba3eaf31d54e5e"/>
  </p:sldMasterIdLst>
  <p:notesMasterIdLst>
    <p:notesMasterId r:id="Rea7fbf3281b44581"/>
  </p:notesMasterIdLst>
  <p:sldIdLst>
    <p:sldId id="256" r:id="R1588438aa1004aad"/>
    <p:sldId id="257" r:id="R534d735d25874276"/>
    <p:sldId id="258" r:id="R2a8331c40a944241"/>
    <p:sldId id="259" r:id="Rdcc40bdc852e40c9"/>
    <p:sldId id="260" r:id="R2c62d0ac5ec84029"/>
    <p:sldId id="261" r:id="R9bef15e58f244d2f"/>
    <p:sldId id="262" r:id="R36b3cf68aa6141f2"/>
    <p:sldId id="263" r:id="Rca823583ac9046be"/>
    <p:sldId id="264" r:id="R1eecec0383994de0"/>
    <p:sldId id="265" r:id="R0bdfb680a4d54824"/>
    <p:sldId id="266" r:id="Rfc12f0acf1c94c6d"/>
    <p:sldId id="267" r:id="Rfe2cf402ff0743d7"/>
    <p:sldId id="268" r:id="R922457b452b04049"/>
    <p:sldId id="269" r:id="R8ddfec75715c46b1"/>
  </p:sldIdLst>
  <p:sldSz cx="12191695" cy="6858000"/>
  <p:notesSz cx="6858000" cy="12191695"/>
  <p:embeddedFontLst>
    <p:embeddedFont>
      <p:font typeface="DM Sans"/>
      <p:regular r:id="rcIdc94c4d0d44014c66"/>
    </p:embeddedFont>
    <p:embeddedFont>
      <p:font typeface="DM Sans Bold"/>
      <p:regular r:id="rcIdc5133a9ccf9b480d"/>
    </p:embeddedFont>
    <p:embeddedFont>
      <p:font typeface="Libre Baskerville"/>
      <p:regular r:id="rcIde97b30bd030f4422"/>
    </p:embeddedFont>
    <p:embeddedFont>
      <p:font typeface="Libre Baskerville Bold"/>
      <p:regular r:id="rcId978a7336a6a4426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font" Target="/ppt/fonts/font.fntdata" Id="rcIdc94c4d0d44014c66" /><Relationship Type="http://schemas.openxmlformats.org/officeDocument/2006/relationships/font" Target="/ppt/fonts/font2.fntdata" Id="rcIdc5133a9ccf9b480d" /><Relationship Type="http://schemas.openxmlformats.org/officeDocument/2006/relationships/font" Target="/ppt/fonts/font3.fntdata" Id="rcIde97b30bd030f4422" /><Relationship Type="http://schemas.openxmlformats.org/officeDocument/2006/relationships/font" Target="/ppt/fonts/font4.fntdata" Id="rcId978a7336a6a44262" /><Relationship Type="http://schemas.openxmlformats.org/officeDocument/2006/relationships/notesMaster" Target="/ppt/notesMasters/notesMaster1.xml" Id="Rea7fbf3281b44581" /><Relationship Type="http://schemas.openxmlformats.org/officeDocument/2006/relationships/presProps" Target="/ppt/presProps.xml" Id="R54e38a0694db4a0c" /><Relationship Type="http://schemas.openxmlformats.org/officeDocument/2006/relationships/viewProps" Target="/ppt/viewProps.xml" Id="R360f5b015fcf4894" /><Relationship Type="http://schemas.openxmlformats.org/officeDocument/2006/relationships/slideMaster" Target="/ppt/slideMasters/slideMaster1.xml" Id="R277885cd68804762" /><Relationship Type="http://schemas.openxmlformats.org/officeDocument/2006/relationships/theme" Target="/ppt/slideMasters/theme/theme2.xml" Id="R7a6f75ac95c244db" /><Relationship Type="http://schemas.openxmlformats.org/officeDocument/2006/relationships/slideMaster" Target="/ppt/slideMasters/slideMaster2.xml" Id="R40ba3eaf31d54e5e" /><Relationship Type="http://schemas.openxmlformats.org/officeDocument/2006/relationships/slide" Target="/ppt/slides/slide1.xml" Id="R1588438aa1004aad" /><Relationship Type="http://schemas.openxmlformats.org/officeDocument/2006/relationships/slide" Target="/ppt/slides/slide2.xml" Id="R534d735d25874276" /><Relationship Type="http://schemas.openxmlformats.org/officeDocument/2006/relationships/slide" Target="/ppt/slides/slide3.xml" Id="R2a8331c40a944241" /><Relationship Type="http://schemas.openxmlformats.org/officeDocument/2006/relationships/slide" Target="/ppt/slides/slide4.xml" Id="Rdcc40bdc852e40c9" /><Relationship Type="http://schemas.openxmlformats.org/officeDocument/2006/relationships/slide" Target="/ppt/slides/slide5.xml" Id="R2c62d0ac5ec84029" /><Relationship Type="http://schemas.openxmlformats.org/officeDocument/2006/relationships/slide" Target="/ppt/slides/slide6.xml" Id="R9bef15e58f244d2f" /><Relationship Type="http://schemas.openxmlformats.org/officeDocument/2006/relationships/slide" Target="/ppt/slides/slide7.xml" Id="R36b3cf68aa6141f2" /><Relationship Type="http://schemas.openxmlformats.org/officeDocument/2006/relationships/slide" Target="/ppt/slides/slide8.xml" Id="Rca823583ac9046be" /><Relationship Type="http://schemas.openxmlformats.org/officeDocument/2006/relationships/slide" Target="/ppt/slides/slide9.xml" Id="R1eecec0383994de0" /><Relationship Type="http://schemas.openxmlformats.org/officeDocument/2006/relationships/slide" Target="/ppt/slides/slide10.xml" Id="R0bdfb680a4d54824" /><Relationship Type="http://schemas.openxmlformats.org/officeDocument/2006/relationships/slide" Target="/ppt/slides/slide11.xml" Id="Rfc12f0acf1c94c6d" /><Relationship Type="http://schemas.openxmlformats.org/officeDocument/2006/relationships/slide" Target="/ppt/slides/slide12.xml" Id="Rfe2cf402ff0743d7" /><Relationship Type="http://schemas.openxmlformats.org/officeDocument/2006/relationships/slide" Target="/ppt/slides/slide13.xml" Id="R922457b452b04049" /><Relationship Type="http://schemas.openxmlformats.org/officeDocument/2006/relationships/slide" Target="/ppt/slides/slide14.xml" Id="R8ddfec75715c46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9c5c897e394a443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8100a4e5a44bb" /><Relationship Type="http://schemas.openxmlformats.org/officeDocument/2006/relationships/notesMaster" Target="/ppt/notesMasters/notesMaster1.xml" Id="Rbe7f6b585e2340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a0f9953437464c" /><Relationship Type="http://schemas.openxmlformats.org/officeDocument/2006/relationships/notesMaster" Target="/ppt/notesMasters/notesMaster1.xml" Id="Rdaca565c5f3e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1f997aef44469a" /><Relationship Type="http://schemas.openxmlformats.org/officeDocument/2006/relationships/notesMaster" Target="/ppt/notesMasters/notesMaster1.xml" Id="R9e7ba5df2aca4a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0c182cf6ce4dc1" /><Relationship Type="http://schemas.openxmlformats.org/officeDocument/2006/relationships/notesMaster" Target="/ppt/notesMasters/notesMaster1.xml" Id="R51e317092f2e47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8b7348a374ba0" /><Relationship Type="http://schemas.openxmlformats.org/officeDocument/2006/relationships/notesMaster" Target="/ppt/notesMasters/notesMaster1.xml" Id="Rd51e6c5ab6f3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7270b6a5c34e49" /><Relationship Type="http://schemas.openxmlformats.org/officeDocument/2006/relationships/notesMaster" Target="/ppt/notesMasters/notesMaster1.xml" Id="Rb811a845d76c46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7dd13295c440d8" /><Relationship Type="http://schemas.openxmlformats.org/officeDocument/2006/relationships/notesMaster" Target="/ppt/notesMasters/notesMaster1.xml" Id="R12f5349ea2f64f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6f4203a25b44f7" /><Relationship Type="http://schemas.openxmlformats.org/officeDocument/2006/relationships/notesMaster" Target="/ppt/notesMasters/notesMaster1.xml" Id="R7a49ca4909424f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26a405a14d4dd0" /><Relationship Type="http://schemas.openxmlformats.org/officeDocument/2006/relationships/notesMaster" Target="/ppt/notesMasters/notesMaster1.xml" Id="R703541427bde42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d6426e438c4381" /><Relationship Type="http://schemas.openxmlformats.org/officeDocument/2006/relationships/notesMaster" Target="/ppt/notesMasters/notesMaster1.xml" Id="R2a223d31158545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dd66733bb846e0" /><Relationship Type="http://schemas.openxmlformats.org/officeDocument/2006/relationships/notesMaster" Target="/ppt/notesMasters/notesMaster1.xml" Id="R7c876cc2d5ce4f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1e565366f14787" /><Relationship Type="http://schemas.openxmlformats.org/officeDocument/2006/relationships/notesMaster" Target="/ppt/notesMasters/notesMaster1.xml" Id="R5d20369651e044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5743f383ab4c81" /><Relationship Type="http://schemas.openxmlformats.org/officeDocument/2006/relationships/notesMaster" Target="/ppt/notesMasters/notesMaster1.xml" Id="R92547aa7fc6844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0ef403db5042ad" /><Relationship Type="http://schemas.openxmlformats.org/officeDocument/2006/relationships/notesMaster" Target="/ppt/notesMasters/notesMaster1.xml" Id="Rceee30c6390e40e4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5857ed8c84e01" /><Relationship Type="http://schemas.openxmlformats.org/officeDocument/2006/relationships/image" Target="/ppt/media/image.jpg" Id="Raca6aa9eeb7849bb" /><Relationship Type="http://schemas.openxmlformats.org/officeDocument/2006/relationships/image" Target="/ppt/media/image.png" Id="Rfa2b8c7550a843ae" /><Relationship Type="http://schemas.openxmlformats.org/officeDocument/2006/relationships/hyperlink" Target="https://gamma.app/?utm_source=made-with-gamma" TargetMode="External" Id="rcId334a013d663043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db2125f17d4f28" /><Relationship Type="http://schemas.openxmlformats.org/officeDocument/2006/relationships/image" Target="/ppt/media/image.jpg" Id="R24aeb759368c400e" /><Relationship Type="http://schemas.openxmlformats.org/officeDocument/2006/relationships/image" Target="/ppt/media/image.png" Id="Rf2429f5fd9714ac9" /><Relationship Type="http://schemas.openxmlformats.org/officeDocument/2006/relationships/hyperlink" Target="https://gamma.app/?utm_source=made-with-gamma" TargetMode="External" Id="rcId5c34ddb93c67447d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aca6aa9eeb7849bb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cId334a013d6630439f" tooltip=""/>
          </p:cNvPr>
          <p:cNvPicPr>
            <a:picLocks noChangeAspect="1"/>
          </p:cNvPicPr>
          <p:nvPr/>
        </p:nvPicPr>
        <p:blipFill>
          <a:blip r:embed="Rfa2b8c7550a843ae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24aeb759368c400e"/>
          <a:stretch>
            <a:fillRect/>
          </a:stretch>
        </p:blipFill>
        <p:spPr>
          <a:xfrm>
            <a:off x="0" y="0"/>
            <a:ext cx="12191390" cy="68578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390" cy="6857828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cId5c34ddb93c67447d"/>
          </p:cNvPr>
          <p:cNvPicPr>
            <a:picLocks noChangeAspect="1"/>
          </p:cNvPicPr>
          <p:nvPr/>
        </p:nvPicPr>
        <p:blipFill>
          <a:blip r:embed="Rf2429f5fd9714ac9"/>
          <a:stretch>
            <a:fillRect/>
          </a:stretch>
        </p:blipFill>
        <p:spPr>
          <a:xfrm>
            <a:off x="11076597" y="6558826"/>
            <a:ext cx="1071816" cy="2560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10c3b938034af7" /><Relationship Type="http://schemas.openxmlformats.org/officeDocument/2006/relationships/slideLayout" Target="/ppt/slideLayouts/slideLayout2.xml" Id="Rab4481f5409247b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986f7337d304567" /><Relationship Type="http://schemas.openxmlformats.org/officeDocument/2006/relationships/slideLayout" Target="/ppt/slideLayouts/slideLayout3.xml" Id="R997b5e0715aa439a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ab4481f5409247b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997b5e0715aa439a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999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999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png" Id="Rc90af32796b7473a" /><Relationship Type="http://schemas.openxmlformats.org/officeDocument/2006/relationships/notesSlide" Target="/ppt/notesSlides/notesSlide1.xml" Id="R0128b92241a14deb" /><Relationship Type="http://schemas.openxmlformats.org/officeDocument/2006/relationships/slideLayout" Target="/ppt/slideLayouts/slideLayout2.xml" Id="R2b0db6a3cb4949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png" Id="R1109ae82028648c5" /><Relationship Type="http://schemas.openxmlformats.org/officeDocument/2006/relationships/notesSlide" Target="/ppt/notesSlides/notesSlide2.xml" Id="Rbb7e20ef97ef4cd7" /><Relationship Type="http://schemas.openxmlformats.org/officeDocument/2006/relationships/slideLayout" Target="/ppt/slideLayouts/slideLayout2.xml" Id="Rbe7809416da8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4.png" Id="R59ae1aa834ce438c" /><Relationship Type="http://schemas.openxmlformats.org/officeDocument/2006/relationships/image" Target="/ppt/media/image.svg" Id="R692cf57199e84b00" /><Relationship Type="http://schemas.openxmlformats.org/officeDocument/2006/relationships/image" Target="/ppt/media/image5.png" Id="Rbf20d3bdff6d4eb1" /><Relationship Type="http://schemas.openxmlformats.org/officeDocument/2006/relationships/image" Target="/ppt/media/image2.svg" Id="Rb136b18ecaad4b9f" /><Relationship Type="http://schemas.openxmlformats.org/officeDocument/2006/relationships/image" Target="/ppt/media/image6.png" Id="Ra42268fdbd714120" /><Relationship Type="http://schemas.openxmlformats.org/officeDocument/2006/relationships/image" Target="/ppt/media/image3.svg" Id="Rb4dbab5b9acf476e" /><Relationship Type="http://schemas.openxmlformats.org/officeDocument/2006/relationships/image" Target="/ppt/media/image7.png" Id="R93b556be55084393" /><Relationship Type="http://schemas.openxmlformats.org/officeDocument/2006/relationships/notesSlide" Target="/ppt/notesSlides/notesSlide3.xml" Id="R02c6403f6b1b45fd" /><Relationship Type="http://schemas.openxmlformats.org/officeDocument/2006/relationships/slideLayout" Target="/ppt/slideLayouts/slideLayout2.xml" Id="R7233072852db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8.png" Id="R3967d300a96b48d4" /><Relationship Type="http://schemas.openxmlformats.org/officeDocument/2006/relationships/notesSlide" Target="/ppt/notesSlides/notesSlide4.xml" Id="R84f7f370b5ec4ce4" /><Relationship Type="http://schemas.openxmlformats.org/officeDocument/2006/relationships/slideLayout" Target="/ppt/slideLayouts/slideLayout3.xml" Id="Rfd74971890024a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9.png" Id="R2686439480ec434e" /><Relationship Type="http://schemas.openxmlformats.org/officeDocument/2006/relationships/notesSlide" Target="/ppt/notesSlides/notesSlide5.xml" Id="Rfc3ddffb8ad1441c" /><Relationship Type="http://schemas.openxmlformats.org/officeDocument/2006/relationships/slideLayout" Target="/ppt/slideLayouts/slideLayout3.xml" Id="Red717d34b0ae4c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.jpg" Id="R5057264185d14661" /><Relationship Type="http://schemas.openxmlformats.org/officeDocument/2006/relationships/image" Target="/ppt/media/image10.png" Id="R1bf84db0aedc43d1" /><Relationship Type="http://schemas.openxmlformats.org/officeDocument/2006/relationships/image" Target="/ppt/media/image11.png" Id="R7cccd5843df04a6c" /><Relationship Type="http://schemas.openxmlformats.org/officeDocument/2006/relationships/notesSlide" Target="/ppt/notesSlides/notesSlide6.xml" Id="Rc38e531abb8844de" /><Relationship Type="http://schemas.openxmlformats.org/officeDocument/2006/relationships/slideLayout" Target="/ppt/slideLayouts/slideLayout3.xml" Id="Rfc0cf2be77f047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2.png" Id="Rc0664ee7a5174add" /><Relationship Type="http://schemas.openxmlformats.org/officeDocument/2006/relationships/image" Target="/ppt/media/image13.png" Id="R0c91afbae5de4584" /><Relationship Type="http://schemas.openxmlformats.org/officeDocument/2006/relationships/image" Target="/ppt/media/image4.svg" Id="Rbcd9c2dc41464849" /><Relationship Type="http://schemas.openxmlformats.org/officeDocument/2006/relationships/image" Target="/ppt/media/image5.svg" Id="Rfef13f2150604db3" /><Relationship Type="http://schemas.openxmlformats.org/officeDocument/2006/relationships/image" Target="/ppt/media/image6.svg" Id="R2eedb79f51b443c9" /><Relationship Type="http://schemas.openxmlformats.org/officeDocument/2006/relationships/image" Target="/ppt/media/image14.png" Id="R44461e50ce2b4332" /><Relationship Type="http://schemas.openxmlformats.org/officeDocument/2006/relationships/notesSlide" Target="/ppt/notesSlides/notesSlide7.xml" Id="R14880d0872c84a3b" /><Relationship Type="http://schemas.openxmlformats.org/officeDocument/2006/relationships/slideLayout" Target="/ppt/slideLayouts/slideLayout3.xml" Id="Ra15026c6eca9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5.png" Id="Rb71c870940034872" /><Relationship Type="http://schemas.openxmlformats.org/officeDocument/2006/relationships/notesSlide" Target="/ppt/notesSlides/notesSlide8.xml" Id="R01d8daf79c354e62" /><Relationship Type="http://schemas.openxmlformats.org/officeDocument/2006/relationships/slideLayout" Target="/ppt/slideLayouts/slideLayout2.xml" Id="R1d96d0974f5a4d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6.png" Id="Rbe17d3ba58dd4621" /><Relationship Type="http://schemas.openxmlformats.org/officeDocument/2006/relationships/notesSlide" Target="/ppt/notesSlides/notesSlide9.xml" Id="Ra321db03eed640f7" /><Relationship Type="http://schemas.openxmlformats.org/officeDocument/2006/relationships/slideLayout" Target="/ppt/slideLayouts/slideLayout2.xml" Id="Raeef645228dc40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7.png" Id="R7b08c9f381004b06" /><Relationship Type="http://schemas.openxmlformats.org/officeDocument/2006/relationships/image" Target="/ppt/media/image18.png" Id="Rd02a7d0955b2454e" /><Relationship Type="http://schemas.openxmlformats.org/officeDocument/2006/relationships/image" Target="/ppt/media/image19.png" Id="Rc21295bb0de941d3" /><Relationship Type="http://schemas.openxmlformats.org/officeDocument/2006/relationships/notesSlide" Target="/ppt/notesSlides/notesSlide10.xml" Id="Raff80ae982f145db" /><Relationship Type="http://schemas.openxmlformats.org/officeDocument/2006/relationships/slideLayout" Target="/ppt/slideLayouts/slideLayout2.xml" Id="Ra7a3b9a788ef4a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20.png" Id="Rc92371e454f7444d" /><Relationship Type="http://schemas.openxmlformats.org/officeDocument/2006/relationships/image" Target="/ppt/media/image21.png" Id="R069144483c984789" /><Relationship Type="http://schemas.openxmlformats.org/officeDocument/2006/relationships/image" Target="/ppt/media/image7.svg" Id="R3efbc17de19444b8" /><Relationship Type="http://schemas.openxmlformats.org/officeDocument/2006/relationships/image" Target="/ppt/media/image22.png" Id="R03b9b543671048e8" /><Relationship Type="http://schemas.openxmlformats.org/officeDocument/2006/relationships/image" Target="/ppt/media/image8.svg" Id="Rf274ad69940c4996" /><Relationship Type="http://schemas.openxmlformats.org/officeDocument/2006/relationships/image" Target="/ppt/media/image23.png" Id="Rbce0af5872254892" /><Relationship Type="http://schemas.openxmlformats.org/officeDocument/2006/relationships/image" Target="/ppt/media/image9.svg" Id="R97df8357bf9d4dd3" /><Relationship Type="http://schemas.openxmlformats.org/officeDocument/2006/relationships/image" Target="/ppt/media/image24.png" Id="R5a3e35172a674e01" /><Relationship Type="http://schemas.openxmlformats.org/officeDocument/2006/relationships/image" Target="/ppt/media/image10.svg" Id="Rbbe6b225cd3e4512" /><Relationship Type="http://schemas.openxmlformats.org/officeDocument/2006/relationships/image" Target="/ppt/media/image25.png" Id="R87f3b97b449740c6" /><Relationship Type="http://schemas.openxmlformats.org/officeDocument/2006/relationships/notesSlide" Target="/ppt/notesSlides/notesSlide11.xml" Id="R79857e9fe4d54a61" /><Relationship Type="http://schemas.openxmlformats.org/officeDocument/2006/relationships/slideLayout" Target="/ppt/slideLayouts/slideLayout2.xml" Id="R4a1021979f8241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26.png" Id="Ra4aa9d525c794069" /><Relationship Type="http://schemas.openxmlformats.org/officeDocument/2006/relationships/notesSlide" Target="/ppt/notesSlides/notesSlide12.xml" Id="Rcd08123c1a564d06" /><Relationship Type="http://schemas.openxmlformats.org/officeDocument/2006/relationships/slideLayout" Target="/ppt/slideLayouts/slideLayout2.xml" Id="Rc8eeca12c9f740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27.png" Id="R6701f5d9eaf84583" /><Relationship Type="http://schemas.openxmlformats.org/officeDocument/2006/relationships/image" Target="/ppt/media/image28.png" Id="R7ef54e9674654fd0" /><Relationship Type="http://schemas.openxmlformats.org/officeDocument/2006/relationships/image" Target="/ppt/media/image11.svg" Id="R600c1ca12f4845e6" /><Relationship Type="http://schemas.openxmlformats.org/officeDocument/2006/relationships/image" Target="/ppt/media/image29.png" Id="Rcc2584e1897d4884" /><Relationship Type="http://schemas.openxmlformats.org/officeDocument/2006/relationships/image" Target="/ppt/media/image12.svg" Id="R5b1c5b1ce1d049e7" /><Relationship Type="http://schemas.openxmlformats.org/officeDocument/2006/relationships/image" Target="/ppt/media/image30.png" Id="R6be92519e1ad4edf" /><Relationship Type="http://schemas.openxmlformats.org/officeDocument/2006/relationships/image" Target="/ppt/media/image31.png" Id="Rb6aeb4851ec24fd5" /><Relationship Type="http://schemas.openxmlformats.org/officeDocument/2006/relationships/notesSlide" Target="/ppt/notesSlides/notesSlide13.xml" Id="R1575d7accf86466a" /><Relationship Type="http://schemas.openxmlformats.org/officeDocument/2006/relationships/slideLayout" Target="/ppt/slideLayouts/slideLayout2.xml" Id="R6e4cf23763c44f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32.png" Id="Rbaf5b032aaf54283" /><Relationship Type="http://schemas.openxmlformats.org/officeDocument/2006/relationships/notesSlide" Target="/ppt/notesSlides/notesSlide14.xml" Id="R8328b9933e264f6b" /><Relationship Type="http://schemas.openxmlformats.org/officeDocument/2006/relationships/slideLayout" Target="/ppt/slideLayouts/slideLayout2.xml" Id="R87e495fe643f4f1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c90af32796b7473a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964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1 — Robust Document Ingestion &amp; Semantic Retrieval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187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Establish a production-ready foundation for document ingestion, vector indexing, and retrieval. This card summarizes core components and design choices that maximize accuracy, traceability, and retrieval relevance for downstream ML systems.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753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Ingestion &amp; Text Preparation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1109ae82028648c5"/>
          <a:stretch>
            <a:fillRect/>
          </a:stretch>
        </p:blipFill>
        <p:spPr>
          <a:xfrm>
            <a:off x="2046633" y="2779713"/>
            <a:ext cx="1904952" cy="190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35097" y="1324769"/>
            <a:ext cx="5801374" cy="1672431"/>
          </a:xfrm>
          <a:prstGeom prst="roundRect">
            <a:avLst>
              <a:gd name="adj" fmla="val 403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02078" y="1491754"/>
            <a:ext cx="54674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PDF Ingestion Pipeline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902078" y="1879302"/>
            <a:ext cx="5467412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    SHA-256 content hashing for deduplication (pre-store). Primary extraction with PyPDF to preserve logical layout; automatic OCR fallback for scanned or image-based pages. Store extracted metadata (filename, page, coordinates, timestamp).           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735097" y="3133725"/>
            <a:ext cx="5801374" cy="1672431"/>
          </a:xfrm>
          <a:prstGeom prst="roundRect">
            <a:avLst>
              <a:gd name="adj" fmla="val 403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2078" y="3300710"/>
            <a:ext cx="54674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Layout &amp; Provenance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02078" y="3688259"/>
            <a:ext cx="5467412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    Preserve layout blocks (headings, paragraphs, tables) and per-chunk source pointers (file → page → bbox). Include extraction confidence score for each chunk to support downstream filtering and QA.           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735097" y="4942681"/>
            <a:ext cx="5801374" cy="1196975"/>
          </a:xfrm>
          <a:prstGeom prst="roundRect">
            <a:avLst>
              <a:gd name="adj" fmla="val 563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02078" y="5109666"/>
            <a:ext cx="54674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Sanitization &amp; Normalization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902078" y="5497215"/>
            <a:ext cx="54674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Normalize whitespace, remove non-text artifacts, canonicalize Unicode, and tag language. Keep a short raw-text snapshot for auditing.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2232"/>
            <a:ext cx="1038993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B88E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917575"/>
            <a:ext cx="146721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776070" y="872232"/>
            <a:ext cx="771109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B88E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66754" y="917575"/>
            <a:ext cx="119932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B88E2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150243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Chunking, Embeddings &amp; Retrieval Architecture</a:t>
            </a:r>
            <a:endParaRPr lang="en-US" sz="2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59ae1aa834ce438c">
            <a:extLst>
              <a:ext uri="{96DAC541-7B7A-43D3-8B79-37D633B846F1}">
                <asvg:svgBlip xmlns:asvg="http://schemas.microsoft.com/office/drawing/2016/SVG/main" r:embed="R692cf57199e84b00"/>
              </a:ext>
            </a:extLst>
          </a:blip>
          <a:stretch>
            <a:fillRect/>
          </a:stretch>
        </p:blipFill>
        <p:spPr>
          <a:xfrm>
            <a:off x="661475" y="1845667"/>
            <a:ext cx="5924104" cy="12540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1730" y="2136874"/>
            <a:ext cx="558359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Chunking Strategy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1730" y="2494062"/>
            <a:ext cx="558359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1000-character chunks with 200-character overlap, plus source pointers and SHA-256.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bf20d3bdff6d4eb1">
            <a:extLst>
              <a:ext uri="{96DAC541-7B7A-43D3-8B79-37D633B846F1}">
                <asvg:svgBlip xmlns:asvg="http://schemas.microsoft.com/office/drawing/2016/SVG/main" r:embed="Rb136b18ecaad4b9f"/>
              </a:ext>
            </a:extLst>
          </a:blip>
          <a:stretch>
            <a:fillRect/>
          </a:stretch>
        </p:blipFill>
        <p:spPr>
          <a:xfrm>
            <a:off x="888283" y="3220641"/>
            <a:ext cx="5697296" cy="12540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8538" y="3511848"/>
            <a:ext cx="535678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058538" y="3869035"/>
            <a:ext cx="535678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BAAI bge-large-en-v1.5 creates 1024-d, L2-normalized vectors with versioned metadata.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a42268fdbd714120">
            <a:extLst>
              <a:ext uri="{96DAC541-7B7A-43D3-8B79-37D633B846F1}">
                <asvg:svgBlip xmlns:asvg="http://schemas.microsoft.com/office/drawing/2016/SVG/main" r:embed="Rb4dbab5b9acf476e"/>
              </a:ext>
            </a:extLst>
          </a:blip>
          <a:stretch>
            <a:fillRect/>
          </a:stretch>
        </p:blipFill>
        <p:spPr>
          <a:xfrm>
            <a:off x="1115092" y="4595614"/>
            <a:ext cx="5470487" cy="125402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5347" y="4886821"/>
            <a:ext cx="512997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Vector Store &amp; Retrieval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5347" y="5244009"/>
            <a:ext cx="512997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ChromaDB stores vectors and metadata. Top-K cosine search returns ranked chunks with provenance.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851975" y="1709638"/>
            <a:ext cx="4793336" cy="4276030"/>
          </a:xfrm>
          <a:prstGeom prst="roundRect">
            <a:avLst>
              <a:gd name="adj" fmla="val 2546"/>
            </a:avLst>
          </a:prstGeom>
          <a:solidFill>
            <a:srgbClr val="B88E2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93b556be55084393"/>
          <a:stretch>
            <a:fillRect/>
          </a:stretch>
        </p:blipFill>
        <p:spPr>
          <a:xfrm>
            <a:off x="8296167" y="1845667"/>
            <a:ext cx="1904952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3967d300a96b48d4"/>
          <a:stretch>
            <a:fillRect/>
          </a:stretch>
        </p:blipFill>
        <p:spPr>
          <a:xfrm>
            <a:off x="7619618" y="0"/>
            <a:ext cx="4571771" cy="6857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58" y="1493998"/>
            <a:ext cx="6296702" cy="177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99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2 — RAG Chatbot, Talent Portal, Exams &amp; Announcements</a:t>
            </a:r>
            <a:endParaRPr lang="en-US" sz="3699" dirty="0"/>
          </a:p>
        </p:txBody>
      </p:sp>
      <p:sp>
        <p:nvSpPr>
          <p:cNvPr id="4" name="Text 1"/>
          <p:cNvSpPr/>
          <p:nvPr/>
        </p:nvSpPr>
        <p:spPr>
          <a:xfrm>
            <a:off x="661458" y="3549363"/>
            <a:ext cx="6296702" cy="1814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milestone delivers an integrated learning platform: a Retrieval-Augmented Generation (RAG) conversational agent, a secure multi-role talent portal, an AI-driven exam engine, an announcement broadcaster, and executive analytics to measure trainee performance. The architecture prioritizes traceability, role-based access, automation, and data-driven insights.</a:t>
            </a:r>
            <a:endParaRPr lang="en-US" sz="144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2686439480ec434e"/>
          <a:stretch>
            <a:fillRect/>
          </a:stretch>
        </p:blipFill>
        <p:spPr>
          <a:xfrm>
            <a:off x="7619618" y="0"/>
            <a:ext cx="4571771" cy="6857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58" y="577934"/>
            <a:ext cx="6296702" cy="883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49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RAG AI Chatbot: Precise, Citable Answers</a:t>
            </a:r>
            <a:endParaRPr lang="en-US" sz="2749" dirty="0"/>
          </a:p>
        </p:txBody>
      </p:sp>
      <p:sp>
        <p:nvSpPr>
          <p:cNvPr id="4" name="Text 1"/>
          <p:cNvSpPr/>
          <p:nvPr/>
        </p:nvSpPr>
        <p:spPr>
          <a:xfrm>
            <a:off x="661458" y="1709496"/>
            <a:ext cx="6296702" cy="54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Implemented a conversational Q&amp;A agent using Qwen LLM (via Ollama) plus vector retrieval for exact-document citations. Key capabilities:   </a:t>
            </a:r>
            <a:endParaRPr lang="en-US" sz="1349" dirty="0"/>
          </a:p>
        </p:txBody>
      </p:sp>
      <p:sp>
        <p:nvSpPr>
          <p:cNvPr id="5" name="Shape 2"/>
          <p:cNvSpPr/>
          <p:nvPr/>
        </p:nvSpPr>
        <p:spPr>
          <a:xfrm>
            <a:off x="661458" y="2442704"/>
            <a:ext cx="3065706" cy="1835898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4507" y="2625758"/>
            <a:ext cx="2699607" cy="27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Vector Retrieval</a:t>
            </a:r>
            <a:endParaRPr lang="en-US" sz="1699" dirty="0"/>
          </a:p>
        </p:txBody>
      </p:sp>
      <p:sp>
        <p:nvSpPr>
          <p:cNvPr id="7" name="Text 4"/>
          <p:cNvSpPr/>
          <p:nvPr/>
        </p:nvSpPr>
        <p:spPr>
          <a:xfrm>
            <a:off x="844507" y="3000994"/>
            <a:ext cx="2699607" cy="820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Embeds PDFs and knowledge artifacts for fast semantic search and high-recall retrieval.</a:t>
            </a:r>
            <a:endParaRPr lang="en-US" sz="1349" dirty="0"/>
          </a:p>
        </p:txBody>
      </p:sp>
      <p:sp>
        <p:nvSpPr>
          <p:cNvPr id="8" name="Shape 5"/>
          <p:cNvSpPr/>
          <p:nvPr/>
        </p:nvSpPr>
        <p:spPr>
          <a:xfrm>
            <a:off x="3892454" y="2442704"/>
            <a:ext cx="3065706" cy="1835898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5504" y="2625758"/>
            <a:ext cx="2699607" cy="27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Contextual Prompting</a:t>
            </a:r>
            <a:endParaRPr lang="en-US" sz="1699" dirty="0"/>
          </a:p>
        </p:txBody>
      </p:sp>
      <p:sp>
        <p:nvSpPr>
          <p:cNvPr id="10" name="Text 7"/>
          <p:cNvSpPr/>
          <p:nvPr/>
        </p:nvSpPr>
        <p:spPr>
          <a:xfrm>
            <a:off x="4075504" y="3000994"/>
            <a:ext cx="2699607" cy="109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conditioned on retrieved passages to ensure answers reference source text with provenance links.</a:t>
            </a:r>
            <a:endParaRPr lang="en-US" sz="1349" dirty="0"/>
          </a:p>
        </p:txBody>
      </p:sp>
      <p:sp>
        <p:nvSpPr>
          <p:cNvPr id="11" name="Shape 8"/>
          <p:cNvSpPr/>
          <p:nvPr/>
        </p:nvSpPr>
        <p:spPr>
          <a:xfrm>
            <a:off x="661458" y="4443896"/>
            <a:ext cx="3065706" cy="1835898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507" y="4626950"/>
            <a:ext cx="2699607" cy="27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Citation Transparency</a:t>
            </a:r>
            <a:endParaRPr lang="en-US" sz="1699" dirty="0"/>
          </a:p>
        </p:txBody>
      </p:sp>
      <p:sp>
        <p:nvSpPr>
          <p:cNvPr id="13" name="Text 10"/>
          <p:cNvSpPr/>
          <p:nvPr/>
        </p:nvSpPr>
        <p:spPr>
          <a:xfrm>
            <a:off x="844507" y="5002186"/>
            <a:ext cx="2699607" cy="109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Responses include exact citations and document excerpts to support auditability and compliance.</a:t>
            </a:r>
            <a:endParaRPr lang="en-US" sz="1349" dirty="0"/>
          </a:p>
        </p:txBody>
      </p:sp>
      <p:sp>
        <p:nvSpPr>
          <p:cNvPr id="14" name="Shape 11"/>
          <p:cNvSpPr/>
          <p:nvPr/>
        </p:nvSpPr>
        <p:spPr>
          <a:xfrm>
            <a:off x="3892454" y="4443896"/>
            <a:ext cx="3065706" cy="1835898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5504" y="4626950"/>
            <a:ext cx="2699607" cy="276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Fail-Safes</a:t>
            </a:r>
            <a:endParaRPr lang="en-US" sz="1699" dirty="0"/>
          </a:p>
        </p:txBody>
      </p:sp>
      <p:sp>
        <p:nvSpPr>
          <p:cNvPr id="16" name="Text 13"/>
          <p:cNvSpPr/>
          <p:nvPr/>
        </p:nvSpPr>
        <p:spPr>
          <a:xfrm>
            <a:off x="4075504" y="5002186"/>
            <a:ext cx="2699607" cy="109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Fallback logic routes unknown queries to human review or suggests document uploads to expand coverage.</a:t>
            </a:r>
            <a:endParaRPr lang="en-US" sz="134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5057264185d14661"/>
          <a:stretch>
            <a:fillRect/>
          </a:stretch>
        </p:blipFill>
        <p:spPr>
          <a:xfrm>
            <a:off x="1302677" y="581506"/>
            <a:ext cx="2381527" cy="23815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7067" y="1264511"/>
            <a:ext cx="6989115" cy="22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99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Multi-Role Talent Portal &amp; Announcement System</a:t>
            </a:r>
            <a:endParaRPr lang="en-US" sz="1599" dirty="0"/>
          </a:p>
        </p:txBody>
      </p:sp>
      <p:sp>
        <p:nvSpPr>
          <p:cNvPr id="4" name="Text 1"/>
          <p:cNvSpPr/>
          <p:nvPr/>
        </p:nvSpPr>
        <p:spPr>
          <a:xfrm>
            <a:off x="4540816" y="1654723"/>
            <a:ext cx="7598684" cy="10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role-aware portal supports Admin, Manager, and Trainee accounts with SQLite-backed storage.</a:t>
            </a:r>
            <a:endParaRPr lang="en-US" sz="1099" dirty="0"/>
          </a:p>
        </p:txBody>
      </p:sp>
      <p:sp>
        <p:nvSpPr>
          <p:cNvPr id="5" name="Text 2"/>
          <p:cNvSpPr/>
          <p:nvPr/>
        </p:nvSpPr>
        <p:spPr>
          <a:xfrm>
            <a:off x="4547067" y="1851871"/>
            <a:ext cx="6989115" cy="339518"/>
          </a:xfrm>
          <a:prstGeom prst="rect">
            <a:avLst/>
          </a:prstGeom>
          <a:noFill/>
          <a:ln/>
        </p:spPr>
        <p:txBody>
          <a:bodyPr wrap="square" lIns="0" tIns="35323" rIns="0" bIns="0" rtlCol="0" anchor="t">
            <a:noAutofit/>
          </a:bodyPr>
          <a:lstStyle/>
          <a:p>
            <a:pPr marL="132080" indent="-132080" algn="l">
              <a:lnSpc>
                <a:spcPct val="98000"/>
              </a:lnSpc>
              <a:buSzPct val="100000"/>
              <a:buChar char="•"/>
            </a:pPr>
            <a:r>
              <a:rPr lang="en-US" sz="11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Admin: system setup, user management, analytics export</a:t>
            </a:r>
            <a:endParaRPr lang="en-US" sz="1199" dirty="0"/>
          </a:p>
          <a:p>
            <a:pPr marL="132080" indent="-132080" algn="l">
              <a:lnSpc>
                <a:spcPct val="98000"/>
              </a:lnSpc>
              <a:buSzPct val="100000"/>
              <a:buChar char="•"/>
            </a:pPr>
            <a:r>
              <a:rPr lang="en-US" sz="11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Manager: assign exams, view KPIs, publish announcements</a:t>
            </a:r>
            <a:endParaRPr lang="en-US" sz="1199" dirty="0"/>
          </a:p>
          <a:p>
            <a:pPr marL="132080" indent="-132080" algn="l">
              <a:lnSpc>
                <a:spcPct val="98000"/>
              </a:lnSpc>
              <a:buSzPct val="100000"/>
              <a:buChar char="•"/>
            </a:pPr>
            <a:r>
              <a:rPr lang="en-US" sz="11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Trainee: take exams, view results, receive announcements</a:t>
            </a:r>
            <a:endParaRPr lang="en-US" sz="1199" dirty="0"/>
          </a:p>
        </p:txBody>
      </p:sp>
      <p:sp>
        <p:nvSpPr>
          <p:cNvPr id="6" name="Shape 3"/>
          <p:cNvSpPr/>
          <p:nvPr/>
        </p:nvSpPr>
        <p:spPr>
          <a:xfrm>
            <a:off x="4540816" y="2534962"/>
            <a:ext cx="6989115" cy="221847"/>
          </a:xfrm>
          <a:prstGeom prst="roundRect">
            <a:avLst>
              <a:gd name="adj" fmla="val 16718"/>
            </a:avLst>
          </a:prstGeom>
          <a:solidFill>
            <a:srgbClr val="F7EDD4"/>
          </a:solidFill>
          <a:ln/>
        </p:spPr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959732-B044-B408-C36E-05D25E469CC9}"/>
              </a:ext>
            </a:extLst>
          </p:cNvPr>
          <p:cNvGrpSpPr/>
          <p:nvPr/>
        </p:nvGrpSpPr>
        <p:grpSpPr>
          <a:xfrm>
            <a:off x="4547067" y="2551361"/>
            <a:ext cx="7422083" cy="117442"/>
            <a:chOff x="4635367" y="2092302"/>
            <a:chExt cx="7422083" cy="117442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1bf84db0aedc43d1"/>
            <a:stretch>
              <a:fillRect/>
            </a:stretch>
          </p:blipFill>
          <p:spPr>
            <a:xfrm>
              <a:off x="4635367" y="2121441"/>
              <a:ext cx="110325" cy="88302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833992" y="2092302"/>
              <a:ext cx="7223458" cy="1035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199" dirty="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Announcements can be broadcast or targeted by role, team, or cohort.</a:t>
              </a:r>
              <a:endParaRPr lang="en-US" sz="1199" dirty="0"/>
            </a:p>
          </p:txBody>
        </p:sp>
      </p:grpSp>
      <p:sp>
        <p:nvSpPr>
          <p:cNvPr id="9" name="Shape 5"/>
          <p:cNvSpPr/>
          <p:nvPr/>
        </p:nvSpPr>
        <p:spPr>
          <a:xfrm>
            <a:off x="661458" y="3077788"/>
            <a:ext cx="10868473" cy="12699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7cccd5843df04a6c"/>
          <a:stretch>
            <a:fillRect/>
          </a:stretch>
        </p:blipFill>
        <p:spPr>
          <a:xfrm>
            <a:off x="2095196" y="2886214"/>
            <a:ext cx="1904904" cy="190495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FD98448-2FBB-27E0-14EC-0A77F0990368}"/>
              </a:ext>
            </a:extLst>
          </p:cNvPr>
          <p:cNvGrpSpPr/>
          <p:nvPr/>
        </p:nvGrpSpPr>
        <p:grpSpPr>
          <a:xfrm>
            <a:off x="5478881" y="3530376"/>
            <a:ext cx="6490268" cy="365512"/>
            <a:chOff x="5655483" y="3976885"/>
            <a:chExt cx="6490268" cy="365512"/>
          </a:xfrm>
        </p:grpSpPr>
        <p:sp>
          <p:nvSpPr>
            <p:cNvPr id="11" name="Text 6"/>
            <p:cNvSpPr/>
            <p:nvPr/>
          </p:nvSpPr>
          <p:spPr>
            <a:xfrm>
              <a:off x="5655483" y="3976885"/>
              <a:ext cx="5880698" cy="2207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99" dirty="0">
                  <a:solidFill>
                    <a:srgbClr val="5C4E3D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AI Exam Creation &amp; Auto-Grading</a:t>
              </a:r>
              <a:endParaRPr lang="en-US" sz="1599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5655483" y="4238816"/>
              <a:ext cx="6490268" cy="1035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099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The exam engine ingests PDFs, generates assessments, assigns them, </a:t>
              </a:r>
            </a:p>
            <a:p>
              <a:pPr marL="0" indent="0" algn="l">
                <a:lnSpc>
                  <a:spcPct val="98000"/>
                </a:lnSpc>
                <a:buNone/>
              </a:pPr>
              <a:r>
                <a:rPr lang="en-US" sz="1099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and grades automatically where possible.</a:t>
              </a:r>
              <a:endParaRPr lang="en-US" sz="1099" dirty="0"/>
            </a:p>
          </p:txBody>
        </p:sp>
      </p:grpSp>
      <p:sp>
        <p:nvSpPr>
          <p:cNvPr id="13" name="Text 8"/>
          <p:cNvSpPr/>
          <p:nvPr/>
        </p:nvSpPr>
        <p:spPr>
          <a:xfrm>
            <a:off x="681994" y="4623888"/>
            <a:ext cx="176600" cy="110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649" dirty="0"/>
          </a:p>
        </p:txBody>
      </p:sp>
      <p:sp>
        <p:nvSpPr>
          <p:cNvPr id="14" name="Shape 9"/>
          <p:cNvSpPr/>
          <p:nvPr/>
        </p:nvSpPr>
        <p:spPr>
          <a:xfrm>
            <a:off x="681994" y="4761203"/>
            <a:ext cx="5413600" cy="1269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5" name="Text 10"/>
          <p:cNvSpPr/>
          <p:nvPr/>
        </p:nvSpPr>
        <p:spPr>
          <a:xfrm>
            <a:off x="681994" y="4830754"/>
            <a:ext cx="5413600" cy="138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Ingest &amp; Extract:</a:t>
            </a:r>
            <a:endParaRPr lang="en-US" sz="1399" dirty="0"/>
          </a:p>
        </p:txBody>
      </p:sp>
      <p:sp>
        <p:nvSpPr>
          <p:cNvPr id="16" name="Text 11"/>
          <p:cNvSpPr/>
          <p:nvPr/>
        </p:nvSpPr>
        <p:spPr>
          <a:xfrm>
            <a:off x="681994" y="5035537"/>
            <a:ext cx="5413600" cy="10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 PDFs and embed content.</a:t>
            </a:r>
            <a:endParaRPr lang="en-US" sz="1199" dirty="0"/>
          </a:p>
        </p:txBody>
      </p:sp>
      <p:sp>
        <p:nvSpPr>
          <p:cNvPr id="17" name="Text 12"/>
          <p:cNvSpPr/>
          <p:nvPr/>
        </p:nvSpPr>
        <p:spPr>
          <a:xfrm>
            <a:off x="6136768" y="4623888"/>
            <a:ext cx="176600" cy="110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649" dirty="0"/>
          </a:p>
        </p:txBody>
      </p:sp>
      <p:sp>
        <p:nvSpPr>
          <p:cNvPr id="18" name="Shape 13"/>
          <p:cNvSpPr/>
          <p:nvPr/>
        </p:nvSpPr>
        <p:spPr>
          <a:xfrm>
            <a:off x="6136768" y="4761203"/>
            <a:ext cx="5413699" cy="1269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9" name="Text 14"/>
          <p:cNvSpPr/>
          <p:nvPr/>
        </p:nvSpPr>
        <p:spPr>
          <a:xfrm>
            <a:off x="6136768" y="4830754"/>
            <a:ext cx="5413699" cy="138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Generate Questions:</a:t>
            </a:r>
            <a:endParaRPr lang="en-US" sz="1399" dirty="0"/>
          </a:p>
        </p:txBody>
      </p:sp>
      <p:sp>
        <p:nvSpPr>
          <p:cNvPr id="20" name="Text 15"/>
          <p:cNvSpPr/>
          <p:nvPr/>
        </p:nvSpPr>
        <p:spPr>
          <a:xfrm>
            <a:off x="6136768" y="5026252"/>
            <a:ext cx="5413699" cy="10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MCQs, short answers, and code prompts.</a:t>
            </a:r>
            <a:endParaRPr lang="en-US" sz="1199" dirty="0"/>
          </a:p>
        </p:txBody>
      </p:sp>
      <p:sp>
        <p:nvSpPr>
          <p:cNvPr id="21" name="Text 16"/>
          <p:cNvSpPr/>
          <p:nvPr/>
        </p:nvSpPr>
        <p:spPr>
          <a:xfrm>
            <a:off x="681994" y="5204402"/>
            <a:ext cx="176600" cy="110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649" dirty="0"/>
          </a:p>
        </p:txBody>
      </p:sp>
      <p:sp>
        <p:nvSpPr>
          <p:cNvPr id="22" name="Shape 17"/>
          <p:cNvSpPr/>
          <p:nvPr/>
        </p:nvSpPr>
        <p:spPr>
          <a:xfrm>
            <a:off x="681994" y="5341718"/>
            <a:ext cx="5413600" cy="1269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3" name="Text 18"/>
          <p:cNvSpPr/>
          <p:nvPr/>
        </p:nvSpPr>
        <p:spPr>
          <a:xfrm>
            <a:off x="681994" y="5411268"/>
            <a:ext cx="5413600" cy="138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Assign &amp; Proctor:</a:t>
            </a:r>
            <a:endParaRPr lang="en-US" sz="1399" dirty="0"/>
          </a:p>
        </p:txBody>
      </p:sp>
      <p:sp>
        <p:nvSpPr>
          <p:cNvPr id="24" name="Text 19"/>
          <p:cNvSpPr/>
          <p:nvPr/>
        </p:nvSpPr>
        <p:spPr>
          <a:xfrm>
            <a:off x="681994" y="5625774"/>
            <a:ext cx="5413600" cy="10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 exams with time limits and logging.</a:t>
            </a:r>
            <a:endParaRPr lang="en-US" sz="1199" dirty="0"/>
          </a:p>
        </p:txBody>
      </p:sp>
      <p:sp>
        <p:nvSpPr>
          <p:cNvPr id="25" name="Text 20"/>
          <p:cNvSpPr/>
          <p:nvPr/>
        </p:nvSpPr>
        <p:spPr>
          <a:xfrm>
            <a:off x="6136768" y="5204402"/>
            <a:ext cx="176600" cy="1103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649" dirty="0"/>
          </a:p>
        </p:txBody>
      </p:sp>
      <p:sp>
        <p:nvSpPr>
          <p:cNvPr id="26" name="Shape 21"/>
          <p:cNvSpPr/>
          <p:nvPr/>
        </p:nvSpPr>
        <p:spPr>
          <a:xfrm>
            <a:off x="6136768" y="5341718"/>
            <a:ext cx="5413699" cy="12699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7" name="Text 22"/>
          <p:cNvSpPr/>
          <p:nvPr/>
        </p:nvSpPr>
        <p:spPr>
          <a:xfrm>
            <a:off x="6136768" y="5411268"/>
            <a:ext cx="5413699" cy="138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Grade &amp; Review:</a:t>
            </a:r>
            <a:endParaRPr lang="en-US" sz="1399" dirty="0"/>
          </a:p>
        </p:txBody>
      </p:sp>
      <p:sp>
        <p:nvSpPr>
          <p:cNvPr id="28" name="Text 23"/>
          <p:cNvSpPr/>
          <p:nvPr/>
        </p:nvSpPr>
        <p:spPr>
          <a:xfrm>
            <a:off x="6136768" y="5625774"/>
            <a:ext cx="5413699" cy="103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9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rule-based scoring and human review for edge cases.</a:t>
            </a:r>
            <a:endParaRPr lang="en-US" sz="119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58" y="552535"/>
            <a:ext cx="10868473" cy="28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49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Analytics: KPI Charts &amp; Performance Insights</a:t>
            </a:r>
            <a:endParaRPr lang="en-US" sz="1749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c0664ee7a5174add"/>
          <a:stretch>
            <a:fillRect/>
          </a:stretch>
        </p:blipFill>
        <p:spPr>
          <a:xfrm>
            <a:off x="661458" y="2140293"/>
            <a:ext cx="3804649" cy="2611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58" y="4827764"/>
            <a:ext cx="5853315" cy="289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Dashboard visualizes trainee score trends (bars) with pass-rate overlay (line). Metrics support cohort filtering, drill-down to question-level item analysis, and export for enterprise reporting.       </a:t>
            </a:r>
            <a:endParaRPr lang="en-US" sz="849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0c91afbae5de4584"/>
          <a:stretch>
            <a:fillRect/>
          </a:stretch>
        </p:blipFill>
        <p:spPr>
          <a:xfrm>
            <a:off x="8214306" y="1013692"/>
            <a:ext cx="1904904" cy="190495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bcd9c2dc41464849"/>
              </a:ext>
            </a:extLst>
          </a:blip>
          <a:stretch>
            <a:fillRect/>
          </a:stretch>
        </p:blipFill>
        <p:spPr>
          <a:xfrm>
            <a:off x="6797334" y="2994942"/>
            <a:ext cx="283056" cy="2830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97334" y="3362835"/>
            <a:ext cx="4738847" cy="17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Score Distribution</a:t>
            </a:r>
            <a:endParaRPr lang="en-US" sz="1099" dirty="0"/>
          </a:p>
        </p:txBody>
      </p:sp>
      <p:sp>
        <p:nvSpPr>
          <p:cNvPr id="8" name="Text 3"/>
          <p:cNvSpPr/>
          <p:nvPr/>
        </p:nvSpPr>
        <p:spPr>
          <a:xfrm>
            <a:off x="6797334" y="3607602"/>
            <a:ext cx="4738847" cy="14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Histogram and percentile bands to identify at-risk learners and high performers.</a:t>
            </a:r>
            <a:endParaRPr lang="en-US" sz="849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fef13f2150604db3"/>
              </a:ext>
            </a:extLst>
          </a:blip>
          <a:stretch>
            <a:fillRect/>
          </a:stretch>
        </p:blipFill>
        <p:spPr>
          <a:xfrm>
            <a:off x="6797334" y="3888285"/>
            <a:ext cx="283056" cy="2830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97334" y="4256179"/>
            <a:ext cx="4738847" cy="17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Engagement KPIs</a:t>
            </a:r>
            <a:endParaRPr lang="en-US" sz="1099" dirty="0"/>
          </a:p>
        </p:txBody>
      </p:sp>
      <p:sp>
        <p:nvSpPr>
          <p:cNvPr id="11" name="Text 5"/>
          <p:cNvSpPr/>
          <p:nvPr/>
        </p:nvSpPr>
        <p:spPr>
          <a:xfrm>
            <a:off x="6797334" y="4500946"/>
            <a:ext cx="4738847" cy="14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Completion rate, time-on-task, and sequence adherence for predictive success modeling.</a:t>
            </a:r>
            <a:endParaRPr lang="en-US" sz="849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2eedb79f51b443c9"/>
              </a:ext>
            </a:extLst>
          </a:blip>
          <a:stretch>
            <a:fillRect/>
          </a:stretch>
        </p:blipFill>
        <p:spPr>
          <a:xfrm>
            <a:off x="6797334" y="4781628"/>
            <a:ext cx="283056" cy="2830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97334" y="5149523"/>
            <a:ext cx="4738847" cy="176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99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Metrics</a:t>
            </a:r>
            <a:endParaRPr lang="en-US" sz="1099" dirty="0"/>
          </a:p>
        </p:txBody>
      </p:sp>
      <p:sp>
        <p:nvSpPr>
          <p:cNvPr id="14" name="Text 7"/>
          <p:cNvSpPr/>
          <p:nvPr/>
        </p:nvSpPr>
        <p:spPr>
          <a:xfrm>
            <a:off x="6797334" y="5394289"/>
            <a:ext cx="4738847" cy="289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49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 throughput, auto-grade rate, and announcement reach for SLA and capacity planning.</a:t>
            </a:r>
            <a:endParaRPr lang="en-US" sz="849" dirty="0"/>
          </a:p>
        </p:txBody>
      </p:sp>
      <p:sp>
        <p:nvSpPr>
          <p:cNvPr id="15" name="Shape 8"/>
          <p:cNvSpPr/>
          <p:nvPr/>
        </p:nvSpPr>
        <p:spPr>
          <a:xfrm>
            <a:off x="6797334" y="5760496"/>
            <a:ext cx="4738847" cy="468499"/>
          </a:xfrm>
          <a:prstGeom prst="roundRect">
            <a:avLst>
              <a:gd name="adj" fmla="val 10154"/>
            </a:avLst>
          </a:prstGeom>
          <a:solidFill>
            <a:srgbClr val="F7EDD4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44461e50ce2b4332"/>
          <a:stretch>
            <a:fillRect/>
          </a:stretch>
        </p:blipFill>
        <p:spPr>
          <a:xfrm>
            <a:off x="6910538" y="5865467"/>
            <a:ext cx="141478" cy="11320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165219" y="5849790"/>
            <a:ext cx="4257759" cy="289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49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Next steps: integrate A/B testing for exam variants, add anomaly detection on performance dips, and enable scheduled executive reports.</a:t>
            </a:r>
            <a:endParaRPr lang="en-US" sz="84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b71c87094003487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964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3 — Sphere Voice AI Assistant &amp; AI Study Sprints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187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Delivering hands-free voice intelligence plus structured, AI-driven study workflows. This milestone combines a production-ready voice assistant (STT → intent → TTS), system automation via voice, and a reusable 6-day sprint generator optimized for trainee outcomes.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5373"/>
            <a:ext cx="10868745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Product: Sphere Voice AI Assistant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be17d3ba58dd4621"/>
          <a:stretch>
            <a:fillRect/>
          </a:stretch>
        </p:blipFill>
        <p:spPr>
          <a:xfrm>
            <a:off x="2033933" y="2828925"/>
            <a:ext cx="1904952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5833" y="1640780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Capabilities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755833" y="2091829"/>
            <a:ext cx="5780637" cy="1799828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Speech-to-Text (low-latency, noise-robust) feeding NLU for intent &amp; slot extraction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Context-aware Text-to-Speech answers with selectable voice personas and SSML support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Multilingual audio input and output — built to scale across languages (first release: 4 languages)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55833" y="4062214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Design &amp; Reliability Priorities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755833" y="4513263"/>
            <a:ext cx="5780637" cy="1519734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Deterministic handoffs: audio → transcript → intent → action with traceable context IDs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Fallbacks: confidence thresholds, clarification prompts, and server-side re-querying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Privacy-first: ephemeral audio storage, user opt-ins for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699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Voice-Driven Tool Execution — Actions You Can Say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7b08c9f381004b06"/>
          <a:stretch>
            <a:fillRect/>
          </a:stretch>
        </p:blipFill>
        <p:spPr>
          <a:xfrm>
            <a:off x="661475" y="2337495"/>
            <a:ext cx="762378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2337495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Fetch Trainee Metrics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041452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“Hey Sphere, show Sam’s weekly mastery score.” Returns per-lesson metrics, recent activity, and flags for intervention.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d02a7d0955b2454e"/>
          <a:stretch>
            <a:fillRect/>
          </a:stretch>
        </p:blipFill>
        <p:spPr>
          <a:xfrm>
            <a:off x="4363135" y="2337495"/>
            <a:ext cx="762378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2337495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Trigger Exam Creation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041452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“Create a Day-5 gateway exam for Module 3.” Generates question set, rubric, and schedules proctoring rules.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c21295bb0de941d3"/>
          <a:stretch>
            <a:fillRect/>
          </a:stretch>
        </p:blipFill>
        <p:spPr>
          <a:xfrm>
            <a:off x="8064794" y="2337495"/>
            <a:ext cx="762378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2337495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Dispatch Announcements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041452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“Announce sprint kickoff to cohort B.” Sends multi-channel notice (in-app, email, voice summary) with delivery trace.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476617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Actions are modeled as idempotent commands with audit logs and RBAC checks. Voice confirmations and undo flows reduce accidental operations.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4434"/>
            <a:ext cx="1086874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6-Day AI Study Sprint Orchestrator (with Multilingual Voice Support)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c92371e454f7444d"/>
          <a:stretch>
            <a:fillRect/>
          </a:stretch>
        </p:blipFill>
        <p:spPr>
          <a:xfrm>
            <a:off x="1684395" y="2862659"/>
            <a:ext cx="3799189" cy="10052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7498" y="3202566"/>
            <a:ext cx="574267" cy="1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1 Setup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977498" y="3334639"/>
            <a:ext cx="574267" cy="13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Configure sprint, establish baseline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2635566" y="3090828"/>
            <a:ext cx="574267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2 Micro-lessons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635566" y="3325728"/>
            <a:ext cx="574267" cy="20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 focused lessons and materials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293634" y="3202566"/>
            <a:ext cx="574267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3 Practice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293634" y="3437465"/>
            <a:ext cx="574267" cy="13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skills with feedback loops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3951701" y="3090828"/>
            <a:ext cx="574267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4 Deep Review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951701" y="3325728"/>
            <a:ext cx="574267" cy="20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Consolidate concepts and weak spots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4613425" y="3202566"/>
            <a:ext cx="574266" cy="205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 5 Gateway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613425" y="3437465"/>
            <a:ext cx="574266" cy="13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Timed exam to assess mastery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61475" y="3954959"/>
            <a:ext cx="5845029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Each sprint is auto-generated by the AI planner: curated daily tasks, prioritized reference materials, suggested time budgets, Day‑5 gateway exam creation, and a Day‑7 Voice Socratic interview for oral mastery checks.       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069144483c984789">
            <a:extLst>
              <a:ext uri="{96DAC541-7B7A-43D3-8B79-37D633B846F1}">
                <asvg:svgBlip xmlns:asvg="http://schemas.microsoft.com/office/drawing/2016/SVG/main" r:embed="R3efbc17de19444b8"/>
              </a:ext>
            </a:extLst>
          </a:blip>
          <a:stretch>
            <a:fillRect/>
          </a:stretch>
        </p:blipFill>
        <p:spPr>
          <a:xfrm>
            <a:off x="6807923" y="1059755"/>
            <a:ext cx="302312" cy="302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07923" y="1458714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Multilingual Chat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807923" y="1725017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4-language support with smart selection popups. Voice UI adapts phrasing and TTS voice per locale.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03b9b543671048e8">
            <a:extLst>
              <a:ext uri="{96DAC541-7B7A-43D3-8B79-37D633B846F1}">
                <asvg:svgBlip xmlns:asvg="http://schemas.microsoft.com/office/drawing/2016/SVG/main" r:embed="Rf274ad69940c4996"/>
              </a:ext>
            </a:extLst>
          </a:blip>
          <a:stretch>
            <a:fillRect/>
          </a:stretch>
        </p:blipFill>
        <p:spPr>
          <a:xfrm>
            <a:off x="6807923" y="2197001"/>
            <a:ext cx="302312" cy="302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07923" y="2595959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Adaptive Scheduling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807923" y="2862263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daily task timing based on learner engagement signals and preferred study windows.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bce0af5872254892">
            <a:extLst>
              <a:ext uri="{96DAC541-7B7A-43D3-8B79-37D633B846F1}">
                <asvg:svgBlip xmlns:asvg="http://schemas.microsoft.com/office/drawing/2016/SVG/main" r:embed="R97df8357bf9d4dd3"/>
              </a:ext>
            </a:extLst>
          </a:blip>
          <a:stretch>
            <a:fillRect/>
          </a:stretch>
        </p:blipFill>
        <p:spPr>
          <a:xfrm>
            <a:off x="6807923" y="3334246"/>
            <a:ext cx="302312" cy="302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7923" y="3733205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Assessment &amp; Gates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07923" y="3999508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Day‑5 gating exam plus pass/fail criteria that feed the next sprint’s difficulty tuning.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5a3e35172a674e01">
            <a:extLst>
              <a:ext uri="{96DAC541-7B7A-43D3-8B79-37D633B846F1}">
                <asvg:svgBlip xmlns:asvg="http://schemas.microsoft.com/office/drawing/2016/SVG/main" r:embed="Rbbe6b225cd3e4512"/>
              </a:ext>
            </a:extLst>
          </a:blip>
          <a:stretch>
            <a:fillRect/>
          </a:stretch>
        </p:blipFill>
        <p:spPr>
          <a:xfrm>
            <a:off x="6807923" y="4471491"/>
            <a:ext cx="302312" cy="302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07923" y="4870450"/>
            <a:ext cx="472864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Voice Socratic Interviews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6807923" y="5136753"/>
            <a:ext cx="472864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Oral assessments that prompt reasoning, record responses, and provide targeted coach feedback.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6807923" y="5541070"/>
            <a:ext cx="4728647" cy="675382"/>
          </a:xfrm>
          <a:prstGeom prst="roundRect">
            <a:avLst>
              <a:gd name="adj" fmla="val 7521"/>
            </a:avLst>
          </a:prstGeom>
          <a:solidFill>
            <a:srgbClr val="F7EDD4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87f3b97b449740c6"/>
          <a:stretch>
            <a:fillRect/>
          </a:stretch>
        </p:blipFill>
        <p:spPr>
          <a:xfrm>
            <a:off x="6928768" y="5663406"/>
            <a:ext cx="151106" cy="1208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00720" y="5640784"/>
            <a:ext cx="4215005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Implementation notes: prioritize low-latency STT for live interviews, use speaker diarization for multi-learner sessions, and retain consented audio for quality review.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a4aa9d525c794069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26182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4 — Delivery Summary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2104430"/>
            <a:ext cx="629686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Concise overview of Milestone 4: delivered automated email notification service, database-aware chatbot enhancements, ASGI server performance upgrades, SQLite WAL resilience fixes, and final UI/branding for the Talent Management Platform.   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416697"/>
            <a:ext cx="1985218" cy="2715121"/>
          </a:xfrm>
          <a:prstGeom prst="roundRect">
            <a:avLst>
              <a:gd name="adj" fmla="val 3799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3602534"/>
            <a:ext cx="16135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Scope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3985320"/>
            <a:ext cx="161355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Notifications, chatbot DB integration, server performance, DB locking resilience, UI/brand finalization.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17246" y="3416697"/>
            <a:ext cx="1985218" cy="2715121"/>
          </a:xfrm>
          <a:prstGeom prst="roundRect">
            <a:avLst>
              <a:gd name="adj" fmla="val 3799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03078" y="3602534"/>
            <a:ext cx="16135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Audience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003078" y="3985320"/>
            <a:ext cx="1613554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 engineering and product teams evaluating Milestone 4 deliverables.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73017" y="3416697"/>
            <a:ext cx="1985318" cy="2715121"/>
          </a:xfrm>
          <a:prstGeom prst="roundRect">
            <a:avLst>
              <a:gd name="adj" fmla="val 3799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58849" y="3602534"/>
            <a:ext cx="16136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Goal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158849" y="3985320"/>
            <a:ext cx="1613653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Operational readiness, reliability under load, and polished user-facing experience for rollout.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324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Components &amp; Engineering Highlights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6701f5d9eaf84583"/>
          <a:stretch>
            <a:fillRect/>
          </a:stretch>
        </p:blipFill>
        <p:spPr>
          <a:xfrm>
            <a:off x="2351227" y="1520825"/>
            <a:ext cx="1904952" cy="1905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7ef54e9674654fd0">
            <a:extLst>
              <a:ext uri="{96DAC541-7B7A-43D3-8B79-37D633B846F1}">
                <asvg:svgBlip xmlns:asvg="http://schemas.microsoft.com/office/drawing/2016/SVG/main" r:embed="R600c1ca12f4845e6"/>
              </a:ext>
            </a:extLst>
          </a:blip>
          <a:stretch>
            <a:fillRect/>
          </a:stretch>
        </p:blipFill>
        <p:spPr>
          <a:xfrm>
            <a:off x="6252014" y="1174055"/>
            <a:ext cx="5284556" cy="7049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38342" y="1309588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Automated Email Notification Service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438342" y="1581348"/>
            <a:ext cx="4962699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Templated SMTP notifications with retry, backoff, and audit logging.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cc2584e1897d4884">
            <a:extLst>
              <a:ext uri="{96DAC541-7B7A-43D3-8B79-37D633B846F1}">
                <asvg:svgBlip xmlns:asvg="http://schemas.microsoft.com/office/drawing/2016/SVG/main" r:embed="R5b1c5b1ce1d049e7"/>
              </a:ext>
            </a:extLst>
          </a:blip>
          <a:stretch>
            <a:fillRect/>
          </a:stretch>
        </p:blipFill>
        <p:spPr>
          <a:xfrm>
            <a:off x="6252014" y="1958777"/>
            <a:ext cx="5284556" cy="8670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38342" y="2094309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DB-Aware Chatbot Intelligence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38342" y="2366070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controlled read access to trainee records and score tables for live lookups and summaries.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cc2584e1897d4884">
            <a:extLst>
              <a:ext uri="{96DAC541-7B7A-43D3-8B79-37D633B846F1}">
                <asvg:svgBlip xmlns:asvg="http://schemas.microsoft.com/office/drawing/2016/SVG/main" r:embed="R5b1c5b1ce1d049e7"/>
              </a:ext>
            </a:extLst>
          </a:blip>
          <a:stretch>
            <a:fillRect/>
          </a:stretch>
        </p:blipFill>
        <p:spPr>
          <a:xfrm>
            <a:off x="6252014" y="2905621"/>
            <a:ext cx="5284556" cy="8670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38342" y="3041154"/>
            <a:ext cx="49626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FastAPI + Uvicorn Architecture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38342" y="3312914"/>
            <a:ext cx="49626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Moved to FastAPI on Uvicorn, with CPU-heavy search isolated to keep requests responsive.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661475" y="3982938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6be92519e1ad4edf"/>
          <a:stretch>
            <a:fillRect/>
          </a:stretch>
        </p:blipFill>
        <p:spPr>
          <a:xfrm>
            <a:off x="2462945" y="4205883"/>
            <a:ext cx="1904952" cy="190500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b6aeb4851ec24fd5"/>
          <a:stretch>
            <a:fillRect/>
          </a:stretch>
        </p:blipFill>
        <p:spPr>
          <a:xfrm>
            <a:off x="6475350" y="4683323"/>
            <a:ext cx="354698" cy="44330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929859" y="4683323"/>
            <a:ext cx="2026095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SQLite WAL Lock Resilience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929859" y="5147072"/>
            <a:ext cx="202609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 mode and connection retry logic reduced Windows file-lock freezes.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b6aeb4851ec24fd5"/>
          <a:stretch>
            <a:fillRect/>
          </a:stretch>
        </p:blipFill>
        <p:spPr>
          <a:xfrm>
            <a:off x="9055766" y="4683323"/>
            <a:ext cx="354698" cy="44330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510276" y="4683323"/>
            <a:ext cx="202619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Controls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9510276" y="4955084"/>
            <a:ext cx="202619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checks, circuit breakers, and graceful shutdowns improved runtime stability.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1966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UX, Branding, Release &amp; Next Steps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271885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Finalized UI/UX with glassmorphism cards, accessible light/dark themes, and brand assets for "Talent Management Platform for Employee Performance and Career Growth." Design tokens and component library published.   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86323" y="1843286"/>
            <a:ext cx="19050" cy="3485852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5" name="Shape 3"/>
          <p:cNvSpPr/>
          <p:nvPr/>
        </p:nvSpPr>
        <p:spPr>
          <a:xfrm>
            <a:off x="5491174" y="2003822"/>
            <a:ext cx="453617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6" name="Shape 4"/>
          <p:cNvSpPr/>
          <p:nvPr/>
        </p:nvSpPr>
        <p:spPr>
          <a:xfrm>
            <a:off x="5925741" y="1843286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2394" y="187161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1895177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Release checklist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2203946"/>
            <a:ext cx="4678345" cy="997545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QA signoff on notifications and chatbot responses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test p95 latency targets met for ASGI service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 WAL monitoring in place with alerting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assets and theme tokens merged into main repo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6904" y="2850555"/>
            <a:ext cx="453617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1" name="Shape 9"/>
          <p:cNvSpPr/>
          <p:nvPr/>
        </p:nvSpPr>
        <p:spPr>
          <a:xfrm>
            <a:off x="5925741" y="269001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2394" y="271834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851875" y="2741910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 &amp; Mitigation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1875" y="3050679"/>
            <a:ext cx="4678345" cy="1390650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Risk: SMTP throttling → Mitigation: queued dispatch with rate limiter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Risk: DB read hotspots from chatbot → Mitigation: read replicas &amp; caching for summaries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Risk: Vector search CPU spikes → Mitigation: dedicated workers via ThreadPoolExecutor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91174" y="3847108"/>
            <a:ext cx="453617" cy="19050"/>
          </a:xfrm>
          <a:prstGeom prst="roundRect">
            <a:avLst>
              <a:gd name="adj" fmla="val 49999"/>
            </a:avLst>
          </a:prstGeom>
          <a:solidFill>
            <a:srgbClr val="DDD3B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25741" y="3686572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2394" y="371489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61475" y="3738463"/>
            <a:ext cx="46783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Recommended Next Steps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4047232"/>
            <a:ext cx="4678345" cy="1172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staged rollout to 10% of accounts and monitor delivery &amp; latency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read-replica for high-volume analytics queries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 off branding assets and component docs to product and marketing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475" y="5465167"/>
            <a:ext cx="10868745" cy="740767"/>
          </a:xfrm>
          <a:prstGeom prst="roundRect">
            <a:avLst>
              <a:gd name="adj" fmla="val 8574"/>
            </a:avLst>
          </a:prstGeom>
          <a:solidFill>
            <a:srgbClr val="F7EDD4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baf5b032aaf54283"/>
          <a:stretch>
            <a:fillRect/>
          </a:stretch>
        </p:blipFill>
        <p:spPr>
          <a:xfrm>
            <a:off x="812680" y="5637609"/>
            <a:ext cx="189007" cy="15120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52893" y="5623917"/>
            <a:ext cx="102261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Key takeaway: Milestone 4 delivers production-grade notifications, DB-integrated conversational intelligence, improved ASGI performance, and durable SQLite operations — ready for staged rollout under monitoring.</a:t>
            </a:r>
            <a:endParaRPr lang="en-US" sz="1150" dirty="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/>
  <lastModifiedBy/>
  <revision>1</revision>
  <dcterms:created xsi:type="dcterms:W3CDTF">2026-08-23T07:38:57.0000000Z</dcterms:created>
  <dcterms:modified xsi:type="dcterms:W3CDTF">2026-08-23T08:09:04.0720000Z</dcterms:modified>
</coreProperties>
</file>