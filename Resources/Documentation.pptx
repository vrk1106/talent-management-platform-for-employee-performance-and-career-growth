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ibre Baskerville" charset="1" panose="02000000000000000000"/>
      <p:regular r:id="rId26"/>
    </p:embeddedFont>
    <p:embeddedFont>
      <p:font typeface="DM Sans Italics" charset="1" panose="00000000000000000000"/>
      <p:regular r:id="rId27"/>
    </p:embeddedFont>
    <p:embeddedFont>
      <p:font typeface="DM Sans" charset="1" panose="00000000000000000000"/>
      <p:regular r:id="rId28"/>
    </p:embeddedFont>
    <p:embeddedFont>
      <p:font typeface="Libre Baskerville Bold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6.jpe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7829" cy="10287000"/>
            <a:chOff x="0" y="0"/>
            <a:chExt cx="9143771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7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3746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038" y="1190920"/>
            <a:ext cx="9445285" cy="35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Talent Management Platform for Employee Performance and Career growth.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038" y="5112391"/>
            <a:ext cx="944528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 i="true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Accelerate workforce capability and career growth through intelligent performance tracking, automated skill assessments, structured 6-day study sprints, and instant semantic search across all internal training documentation.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7296" y="8637984"/>
            <a:ext cx="890803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3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Reshekumar V.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935831"/>
            <a:ext cx="16303114" cy="31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Platform Architecture &amp;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10" y="1291828"/>
            <a:ext cx="16303114" cy="6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From Document Ingestion to Career Growth in Four Stages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10" y="2110826"/>
            <a:ext cx="17217495" cy="29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 end-to-end, privacy-aware AI ecosystem powering enterprise training, semantic document search, automated assessments, and talent analytics.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68898" y="2565644"/>
            <a:ext cx="6349746" cy="6349756"/>
            <a:chOff x="0" y="0"/>
            <a:chExt cx="8466328" cy="846634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466328" cy="8466328"/>
            </a:xfrm>
            <a:custGeom>
              <a:avLst/>
              <a:gdLst/>
              <a:ahLst/>
              <a:cxnLst/>
              <a:rect r="r" b="b" t="t" l="l"/>
              <a:pathLst>
                <a:path h="8466328" w="8466328">
                  <a:moveTo>
                    <a:pt x="0" y="0"/>
                  </a:moveTo>
                  <a:lnTo>
                    <a:pt x="8466328" y="0"/>
                  </a:lnTo>
                  <a:lnTo>
                    <a:pt x="8466328" y="8466328"/>
                  </a:lnTo>
                  <a:lnTo>
                    <a:pt x="0" y="84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82898" y="3282915"/>
            <a:ext cx="1519761" cy="65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Document 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5652" y="4044725"/>
            <a:ext cx="2045970" cy="107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Policy &amp; training PDF upload, SHA-256 deduplication, layout preservation, and OCR extraction.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5731" y="3277200"/>
            <a:ext cx="1908134" cy="65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Semantic Vector Engine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6903" y="4039019"/>
            <a:ext cx="2045970" cy="108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BAAI bge-large 1024-dim embeddings indexed in ChromaDB for local RAG retrieval.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0059" y="6203575"/>
            <a:ext cx="1545793" cy="9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AI Exam &amp; Sprint Generator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5833" y="7286368"/>
            <a:ext cx="2045970" cy="107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Automated exam synthesis, 6-day Sprint study plan creation, and instant score evaluation.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6011" y="6094447"/>
            <a:ext cx="1605534" cy="9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Talent Analytics &amp; Voice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66903" y="7177230"/>
            <a:ext cx="2045970" cy="129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Executive KPI tracking, performance dashboards, and real-time Sphere Voice AI interactions.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10" y="9043092"/>
            <a:ext cx="17217495" cy="29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Every stage operates within a secure environment, transforming raw corporate knowledge into measurable employee competency and career advancement.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10" y="1388564"/>
            <a:ext cx="1808216" cy="387696"/>
            <a:chOff x="0" y="0"/>
            <a:chExt cx="2410955" cy="516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0968" cy="516890"/>
            </a:xfrm>
            <a:custGeom>
              <a:avLst/>
              <a:gdLst/>
              <a:ahLst/>
              <a:cxnLst/>
              <a:rect r="r" b="b" t="t" l="l"/>
              <a:pathLst>
                <a:path h="516890" w="2410968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296668" y="0"/>
                  </a:lnTo>
                  <a:cubicBezTo>
                    <a:pt x="2359787" y="0"/>
                    <a:pt x="2410968" y="51181"/>
                    <a:pt x="2410968" y="114300"/>
                  </a:cubicBezTo>
                  <a:lnTo>
                    <a:pt x="2410968" y="402590"/>
                  </a:lnTo>
                  <a:cubicBezTo>
                    <a:pt x="2410968" y="465709"/>
                    <a:pt x="2359787" y="516890"/>
                    <a:pt x="2296668" y="516890"/>
                  </a:cubicBezTo>
                  <a:lnTo>
                    <a:pt x="114300" y="516890"/>
                  </a:lnTo>
                  <a:cubicBezTo>
                    <a:pt x="51181" y="516890"/>
                    <a:pt x="0" y="465709"/>
                    <a:pt x="0" y="40259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5200" y="1465059"/>
            <a:ext cx="2416607" cy="23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5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TECHNOLOGIES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1858566"/>
            <a:ext cx="16303114" cy="80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sz="49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Engineering the Enterprise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10" y="2962275"/>
            <a:ext cx="17217495" cy="43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high-performance, modular stack combining local privacy-aware AI with enterprise talent analytics and interactive voice intelligence.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7011" y="3656114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Flask MVC &amp; Glassmorphism UI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7011" y="4144718"/>
            <a:ext cx="7083295" cy="8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Modern Flask backend with Jinja2 templates, Chart.js analytics, and custom Glassmorphism UI design system.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12029" y="3656114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SQLite Relational Database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2029" y="4144718"/>
            <a:ext cx="7083295" cy="121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Multi-table relational database storing user credentials, facial descriptors, exam templates, and 6-day study sprints.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7011" y="5815165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BAAI/bge-large-en-v1.5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7011" y="6303759"/>
            <a:ext cx="7083295" cy="8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High-density Sentence-Transformers model generating 1024-dimensional embeddings for semantic retrieval.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2029" y="5815165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ChromaDB Vector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2029" y="6303759"/>
            <a:ext cx="7083295" cy="8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Embedded vector database for indexing dense document embeddings and metadata chunks.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7011" y="7586367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Groq LLM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7011" y="8074971"/>
            <a:ext cx="7083295" cy="8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 engine powering local context-aware RAG, automated AI exam synthesis, and 6-day study plan generation.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2029" y="7586367"/>
            <a:ext cx="7083295" cy="3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Sphere Voice AI &amp; Tool Engine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12029" y="8074971"/>
            <a:ext cx="7083295" cy="8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 Web Speech API assistant with TTS audio readout and dynamic backend tool calling for analytics.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7829" cy="10287000"/>
            <a:chOff x="0" y="0"/>
            <a:chExt cx="9143771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7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3746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038" y="2656580"/>
            <a:ext cx="9445285" cy="269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Milestone 1 — Robust Document Ingestion &amp; Semantic Retrieval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038" y="5692083"/>
            <a:ext cx="944528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Establish a production-ready foundation for document ingestion, vector indexing, and retrieval. This card summarizes core components and design choices that maximize accuracy, traceability, and retrieval relevance for downstream ML systems.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837600"/>
            <a:ext cx="16303114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Ingestion &amp; Text Preparation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3764" y="2333339"/>
            <a:ext cx="6278870" cy="6279032"/>
            <a:chOff x="0" y="0"/>
            <a:chExt cx="8371827" cy="837204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371840" cy="8372094"/>
            </a:xfrm>
            <a:custGeom>
              <a:avLst/>
              <a:gdLst/>
              <a:ahLst/>
              <a:cxnLst/>
              <a:rect r="r" b="b" t="t" l="l"/>
              <a:pathLst>
                <a:path h="8372094" w="8371840">
                  <a:moveTo>
                    <a:pt x="0" y="0"/>
                  </a:moveTo>
                  <a:lnTo>
                    <a:pt x="8371840" y="0"/>
                  </a:lnTo>
                  <a:lnTo>
                    <a:pt x="8371840" y="8372094"/>
                  </a:lnTo>
                  <a:lnTo>
                    <a:pt x="0" y="837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97884" y="1982391"/>
            <a:ext cx="8711584" cy="2518172"/>
            <a:chOff x="0" y="0"/>
            <a:chExt cx="11615445" cy="33575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15420" cy="3357626"/>
            </a:xfrm>
            <a:custGeom>
              <a:avLst/>
              <a:gdLst/>
              <a:ahLst/>
              <a:cxnLst/>
              <a:rect r="r" b="b" t="t" l="l"/>
              <a:pathLst>
                <a:path h="3357626" w="11615420">
                  <a:moveTo>
                    <a:pt x="0" y="135509"/>
                  </a:moveTo>
                  <a:cubicBezTo>
                    <a:pt x="0" y="60706"/>
                    <a:pt x="60706" y="0"/>
                    <a:pt x="135509" y="0"/>
                  </a:cubicBezTo>
                  <a:lnTo>
                    <a:pt x="11479911" y="0"/>
                  </a:lnTo>
                  <a:cubicBezTo>
                    <a:pt x="11554714" y="0"/>
                    <a:pt x="11615420" y="60706"/>
                    <a:pt x="11615420" y="135509"/>
                  </a:cubicBezTo>
                  <a:lnTo>
                    <a:pt x="11615420" y="3222117"/>
                  </a:lnTo>
                  <a:cubicBezTo>
                    <a:pt x="11615420" y="3296920"/>
                    <a:pt x="11554714" y="3357626"/>
                    <a:pt x="11479911" y="3357626"/>
                  </a:cubicBezTo>
                  <a:lnTo>
                    <a:pt x="135509" y="3357626"/>
                  </a:lnTo>
                  <a:cubicBezTo>
                    <a:pt x="60706" y="3357499"/>
                    <a:pt x="0" y="3296920"/>
                    <a:pt x="0" y="3222117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853116" y="2228107"/>
            <a:ext cx="8201120" cy="38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PDF Ingestion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53116" y="2771327"/>
            <a:ext cx="8201120" cy="147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SHA-256 content hashing for deduplication (pre-store). Primary extraction with PyPDF to preserve logical layout; automatic OCR fallback for scanned or image-based pages. Store extracted metadata (filename, page, coordinates, timestamp).          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97884" y="4695825"/>
            <a:ext cx="8711584" cy="2518172"/>
            <a:chOff x="0" y="0"/>
            <a:chExt cx="11615445" cy="33575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15420" cy="3357626"/>
            </a:xfrm>
            <a:custGeom>
              <a:avLst/>
              <a:gdLst/>
              <a:ahLst/>
              <a:cxnLst/>
              <a:rect r="r" b="b" t="t" l="l"/>
              <a:pathLst>
                <a:path h="3357626" w="11615420">
                  <a:moveTo>
                    <a:pt x="0" y="135509"/>
                  </a:moveTo>
                  <a:cubicBezTo>
                    <a:pt x="0" y="60706"/>
                    <a:pt x="60706" y="0"/>
                    <a:pt x="135509" y="0"/>
                  </a:cubicBezTo>
                  <a:lnTo>
                    <a:pt x="11479911" y="0"/>
                  </a:lnTo>
                  <a:cubicBezTo>
                    <a:pt x="11554714" y="0"/>
                    <a:pt x="11615420" y="60706"/>
                    <a:pt x="11615420" y="135509"/>
                  </a:cubicBezTo>
                  <a:lnTo>
                    <a:pt x="11615420" y="3222117"/>
                  </a:lnTo>
                  <a:cubicBezTo>
                    <a:pt x="11615420" y="3296920"/>
                    <a:pt x="11554714" y="3357626"/>
                    <a:pt x="11479911" y="3357626"/>
                  </a:cubicBezTo>
                  <a:lnTo>
                    <a:pt x="135509" y="3357626"/>
                  </a:lnTo>
                  <a:cubicBezTo>
                    <a:pt x="60706" y="3357499"/>
                    <a:pt x="0" y="3296920"/>
                    <a:pt x="0" y="3222117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853116" y="4941541"/>
            <a:ext cx="8201120" cy="38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Layout &amp; Provenance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3116" y="5484762"/>
            <a:ext cx="8201120" cy="147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Preserve layout blocks (headings, paragraphs, tables) and per-chunk source pointers (file → page → bbox). Include extraction confidence score for each chunk to support downstream filtering and QA.          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97884" y="7409259"/>
            <a:ext cx="8711584" cy="1804988"/>
            <a:chOff x="0" y="0"/>
            <a:chExt cx="11615445" cy="2406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15420" cy="2406650"/>
            </a:xfrm>
            <a:custGeom>
              <a:avLst/>
              <a:gdLst/>
              <a:ahLst/>
              <a:cxnLst/>
              <a:rect r="r" b="b" t="t" l="l"/>
              <a:pathLst>
                <a:path h="2406650" w="11615420">
                  <a:moveTo>
                    <a:pt x="0" y="135636"/>
                  </a:moveTo>
                  <a:cubicBezTo>
                    <a:pt x="0" y="60706"/>
                    <a:pt x="60706" y="0"/>
                    <a:pt x="135636" y="0"/>
                  </a:cubicBezTo>
                  <a:lnTo>
                    <a:pt x="11479784" y="0"/>
                  </a:lnTo>
                  <a:cubicBezTo>
                    <a:pt x="11554714" y="0"/>
                    <a:pt x="11615420" y="60706"/>
                    <a:pt x="11615420" y="135636"/>
                  </a:cubicBezTo>
                  <a:lnTo>
                    <a:pt x="11615420" y="2271014"/>
                  </a:lnTo>
                  <a:cubicBezTo>
                    <a:pt x="11615420" y="2345944"/>
                    <a:pt x="11554714" y="2406650"/>
                    <a:pt x="11479784" y="2406650"/>
                  </a:cubicBezTo>
                  <a:lnTo>
                    <a:pt x="135636" y="2406650"/>
                  </a:lnTo>
                  <a:cubicBezTo>
                    <a:pt x="60706" y="2406650"/>
                    <a:pt x="0" y="2345944"/>
                    <a:pt x="0" y="2271014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853116" y="7654976"/>
            <a:ext cx="8201120" cy="38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Sanitization &amp; Normalization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3116" y="8198196"/>
            <a:ext cx="8201120" cy="76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Normalize whitespace, remove non-text artifacts, canonicalize Unicode, and tag language. Keep a short raw-text snapshot for auditing.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47" y="1303582"/>
            <a:ext cx="1568015" cy="354063"/>
            <a:chOff x="0" y="0"/>
            <a:chExt cx="2090687" cy="4720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0674" cy="472059"/>
            </a:xfrm>
            <a:custGeom>
              <a:avLst/>
              <a:gdLst/>
              <a:ahLst/>
              <a:cxnLst/>
              <a:rect r="r" b="b" t="t" l="l"/>
              <a:pathLst>
                <a:path h="472059" w="2090674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1986280" y="0"/>
                  </a:lnTo>
                  <a:cubicBezTo>
                    <a:pt x="2043938" y="0"/>
                    <a:pt x="2090674" y="46736"/>
                    <a:pt x="2090674" y="104394"/>
                  </a:cubicBezTo>
                  <a:lnTo>
                    <a:pt x="2090674" y="367665"/>
                  </a:lnTo>
                  <a:cubicBezTo>
                    <a:pt x="2090674" y="425323"/>
                    <a:pt x="2043938" y="472059"/>
                    <a:pt x="1986280" y="472059"/>
                  </a:cubicBezTo>
                  <a:lnTo>
                    <a:pt x="104394" y="472059"/>
                  </a:lnTo>
                  <a:cubicBezTo>
                    <a:pt x="46736" y="472059"/>
                    <a:pt x="0" y="425323"/>
                    <a:pt x="0" y="36766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293" r="0" b="-36299"/>
              </a:stretch>
            </a:blipFill>
            <a:ln w="9525" cap="sq">
              <a:solidFill>
                <a:srgbClr val="B88E2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28236" y="1385887"/>
            <a:ext cx="2200818" cy="1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425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59342" y="1303582"/>
            <a:ext cx="1166184" cy="354063"/>
            <a:chOff x="0" y="0"/>
            <a:chExt cx="1554912" cy="4720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4861" cy="472059"/>
            </a:xfrm>
            <a:custGeom>
              <a:avLst/>
              <a:gdLst/>
              <a:ahLst/>
              <a:cxnLst/>
              <a:rect r="r" b="b" t="t" l="l"/>
              <a:pathLst>
                <a:path h="472059" w="155486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1450467" y="0"/>
                  </a:lnTo>
                  <a:cubicBezTo>
                    <a:pt x="1508125" y="0"/>
                    <a:pt x="1554861" y="46736"/>
                    <a:pt x="1554861" y="104394"/>
                  </a:cubicBezTo>
                  <a:lnTo>
                    <a:pt x="1554861" y="367665"/>
                  </a:lnTo>
                  <a:cubicBezTo>
                    <a:pt x="1554861" y="425323"/>
                    <a:pt x="1508125" y="472059"/>
                    <a:pt x="1450467" y="472059"/>
                  </a:cubicBezTo>
                  <a:lnTo>
                    <a:pt x="104394" y="472059"/>
                  </a:lnTo>
                  <a:cubicBezTo>
                    <a:pt x="46736" y="472059"/>
                    <a:pt x="0" y="425323"/>
                    <a:pt x="0" y="36766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78" r="-3" b="-14184"/>
              </a:stretch>
            </a:blipFill>
            <a:ln w="9525" cap="sq">
              <a:solidFill>
                <a:srgbClr val="B88E2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800131" y="1385887"/>
            <a:ext cx="1798987" cy="1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425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RETRIEVAL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10" y="1715843"/>
            <a:ext cx="16303114" cy="57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5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Chunking, Embeddings &amp; Retrieval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7594" y="3195790"/>
            <a:ext cx="8375390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Chunking Strategy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7594" y="3712521"/>
            <a:ext cx="8375390" cy="6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1000-character chunks with 200-character overlap, plus source pointers and SHA-256.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7808" y="5258248"/>
            <a:ext cx="8035176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Embeddings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7808" y="5774979"/>
            <a:ext cx="8035176" cy="6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BAAI bge-large-en-v1.5 creates 1024-d, L2-normalized vectors with versioned metadata.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28022" y="7320705"/>
            <a:ext cx="7694962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Vector Store &amp; Retrieval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28022" y="7837437"/>
            <a:ext cx="7694962" cy="6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Local ChromaDB stores vectors and metadata. Top-K cosine search returns ranked chunks with provenance.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77961" y="2564454"/>
            <a:ext cx="7190003" cy="6414049"/>
            <a:chOff x="0" y="0"/>
            <a:chExt cx="9586671" cy="85520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86595" cy="8551926"/>
            </a:xfrm>
            <a:custGeom>
              <a:avLst/>
              <a:gdLst/>
              <a:ahLst/>
              <a:cxnLst/>
              <a:rect r="r" b="b" t="t" l="l"/>
              <a:pathLst>
                <a:path h="8551926" w="9586595">
                  <a:moveTo>
                    <a:pt x="0" y="217678"/>
                  </a:moveTo>
                  <a:cubicBezTo>
                    <a:pt x="0" y="97536"/>
                    <a:pt x="97536" y="0"/>
                    <a:pt x="217678" y="0"/>
                  </a:cubicBezTo>
                  <a:lnTo>
                    <a:pt x="9368917" y="0"/>
                  </a:lnTo>
                  <a:cubicBezTo>
                    <a:pt x="9489186" y="0"/>
                    <a:pt x="9586595" y="97536"/>
                    <a:pt x="9586595" y="217678"/>
                  </a:cubicBezTo>
                  <a:lnTo>
                    <a:pt x="9586595" y="8334248"/>
                  </a:lnTo>
                  <a:cubicBezTo>
                    <a:pt x="9586595" y="8454517"/>
                    <a:pt x="9489060" y="8551926"/>
                    <a:pt x="9368917" y="8551926"/>
                  </a:cubicBezTo>
                  <a:lnTo>
                    <a:pt x="217678" y="8551926"/>
                  </a:lnTo>
                  <a:cubicBezTo>
                    <a:pt x="97536" y="8552053"/>
                    <a:pt x="0" y="8454517"/>
                    <a:pt x="0" y="833437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27762" y="2832011"/>
            <a:ext cx="4890411" cy="4890526"/>
            <a:chOff x="0" y="0"/>
            <a:chExt cx="6520548" cy="652070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520561" cy="6520688"/>
            </a:xfrm>
            <a:custGeom>
              <a:avLst/>
              <a:gdLst/>
              <a:ahLst/>
              <a:cxnLst/>
              <a:rect r="r" b="b" t="t" l="l"/>
              <a:pathLst>
                <a:path h="6520688" w="6520561">
                  <a:moveTo>
                    <a:pt x="0" y="0"/>
                  </a:moveTo>
                  <a:lnTo>
                    <a:pt x="6520561" y="0"/>
                  </a:lnTo>
                  <a:lnTo>
                    <a:pt x="6520561" y="6520688"/>
                  </a:lnTo>
                  <a:lnTo>
                    <a:pt x="0" y="6520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9428" y="-25446"/>
            <a:ext cx="6857657" cy="10286743"/>
            <a:chOff x="0" y="0"/>
            <a:chExt cx="9143543" cy="1371565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492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9143492">
                  <a:moveTo>
                    <a:pt x="0" y="0"/>
                  </a:moveTo>
                  <a:lnTo>
                    <a:pt x="9143492" y="0"/>
                  </a:lnTo>
                  <a:lnTo>
                    <a:pt x="9143492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191" y="2202894"/>
            <a:ext cx="9445057" cy="269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4"/>
              </a:lnSpc>
            </a:pPr>
            <a:r>
              <a:rPr lang="en-US" sz="5548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Milestone 2 — RAG Chatbot, Talent Portal, Exams &amp; Announcements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191" y="5238321"/>
            <a:ext cx="9445057" cy="280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1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This milestone delivers an integrated learning platform: a Retrieval-Augmented Generation (RAG) conversational agent, a secure multi-role talent portal, an AI-driven exam engine, an announcement broadcaster, and executive analytics to measure trainee performance. The architecture prioritizes traceability, role-based access, automation, and data-driven insights.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9428" y="0"/>
            <a:ext cx="6857657" cy="10286743"/>
            <a:chOff x="0" y="0"/>
            <a:chExt cx="9143543" cy="1371565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492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9143492">
                  <a:moveTo>
                    <a:pt x="0" y="0"/>
                  </a:moveTo>
                  <a:lnTo>
                    <a:pt x="9143492" y="0"/>
                  </a:lnTo>
                  <a:lnTo>
                    <a:pt x="9143492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191" y="847849"/>
            <a:ext cx="9445057" cy="134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412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RAG AI Chatbot: Precise, Citable Answers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191" y="2497569"/>
            <a:ext cx="9445057" cy="88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02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Implemented a conversational Q&amp;A agent using Qwen LLM (via Ollama) plus vector retrieval for exact-document citations. Key capabilities:  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28" y="3659295"/>
            <a:ext cx="4608081" cy="2763374"/>
            <a:chOff x="0" y="0"/>
            <a:chExt cx="6144108" cy="3684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44133" cy="3684524"/>
            </a:xfrm>
            <a:custGeom>
              <a:avLst/>
              <a:gdLst/>
              <a:ahLst/>
              <a:cxnLst/>
              <a:rect r="r" b="b" t="t" l="l"/>
              <a:pathLst>
                <a:path h="3684524" w="6144133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5995162" y="0"/>
                  </a:lnTo>
                  <a:cubicBezTo>
                    <a:pt x="6077458" y="0"/>
                    <a:pt x="6144133" y="66675"/>
                    <a:pt x="6144133" y="148971"/>
                  </a:cubicBezTo>
                  <a:lnTo>
                    <a:pt x="6144133" y="3535553"/>
                  </a:lnTo>
                  <a:cubicBezTo>
                    <a:pt x="6144133" y="3617849"/>
                    <a:pt x="6077458" y="3684524"/>
                    <a:pt x="5995162" y="3684524"/>
                  </a:cubicBezTo>
                  <a:lnTo>
                    <a:pt x="148971" y="3684524"/>
                  </a:lnTo>
                  <a:cubicBezTo>
                    <a:pt x="66675" y="3684524"/>
                    <a:pt x="0" y="3617849"/>
                    <a:pt x="0" y="35355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66758" y="3919585"/>
            <a:ext cx="4049411" cy="4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5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Vector Retrieval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6758" y="4434811"/>
            <a:ext cx="4049411" cy="129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02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Embeds PDFs and knowledge artifacts for fast semantic search and high-recall retrieval.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33920" y="3659295"/>
            <a:ext cx="4608081" cy="2763374"/>
            <a:chOff x="0" y="0"/>
            <a:chExt cx="6144108" cy="36844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4133" cy="3684524"/>
            </a:xfrm>
            <a:custGeom>
              <a:avLst/>
              <a:gdLst/>
              <a:ahLst/>
              <a:cxnLst/>
              <a:rect r="r" b="b" t="t" l="l"/>
              <a:pathLst>
                <a:path h="3684524" w="6144133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5995162" y="0"/>
                  </a:lnTo>
                  <a:cubicBezTo>
                    <a:pt x="6077458" y="0"/>
                    <a:pt x="6144133" y="66675"/>
                    <a:pt x="6144133" y="148971"/>
                  </a:cubicBezTo>
                  <a:lnTo>
                    <a:pt x="6144133" y="3535553"/>
                  </a:lnTo>
                  <a:cubicBezTo>
                    <a:pt x="6144133" y="3617849"/>
                    <a:pt x="6077458" y="3684524"/>
                    <a:pt x="5995162" y="3684524"/>
                  </a:cubicBezTo>
                  <a:lnTo>
                    <a:pt x="148971" y="3684524"/>
                  </a:lnTo>
                  <a:cubicBezTo>
                    <a:pt x="66675" y="3684524"/>
                    <a:pt x="0" y="3617849"/>
                    <a:pt x="0" y="35355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113259" y="3919585"/>
            <a:ext cx="4049411" cy="4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5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Contextual Prompting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3259" y="4434811"/>
            <a:ext cx="4049411" cy="170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02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 conditioned on retrieved passages to ensure answers reference source text with provenance links.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7428" y="6661080"/>
            <a:ext cx="4608081" cy="2763374"/>
            <a:chOff x="0" y="0"/>
            <a:chExt cx="6144108" cy="36844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44133" cy="3684524"/>
            </a:xfrm>
            <a:custGeom>
              <a:avLst/>
              <a:gdLst/>
              <a:ahLst/>
              <a:cxnLst/>
              <a:rect r="r" b="b" t="t" l="l"/>
              <a:pathLst>
                <a:path h="3684524" w="6144133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5995162" y="0"/>
                  </a:lnTo>
                  <a:cubicBezTo>
                    <a:pt x="6077458" y="0"/>
                    <a:pt x="6144133" y="66675"/>
                    <a:pt x="6144133" y="148971"/>
                  </a:cubicBezTo>
                  <a:lnTo>
                    <a:pt x="6144133" y="3535553"/>
                  </a:lnTo>
                  <a:cubicBezTo>
                    <a:pt x="6144133" y="3617849"/>
                    <a:pt x="6077458" y="3684524"/>
                    <a:pt x="5995162" y="3684524"/>
                  </a:cubicBezTo>
                  <a:lnTo>
                    <a:pt x="148971" y="3684524"/>
                  </a:lnTo>
                  <a:cubicBezTo>
                    <a:pt x="66675" y="3684524"/>
                    <a:pt x="0" y="3617849"/>
                    <a:pt x="0" y="35355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66758" y="6921379"/>
            <a:ext cx="4049411" cy="4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5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Citation Transparency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758" y="7436606"/>
            <a:ext cx="4049411" cy="170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02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Responses include exact citations and document excerpts to support auditability and compliance.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833920" y="6661080"/>
            <a:ext cx="4608081" cy="2763374"/>
            <a:chOff x="0" y="0"/>
            <a:chExt cx="6144108" cy="36844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44133" cy="3684524"/>
            </a:xfrm>
            <a:custGeom>
              <a:avLst/>
              <a:gdLst/>
              <a:ahLst/>
              <a:cxnLst/>
              <a:rect r="r" b="b" t="t" l="l"/>
              <a:pathLst>
                <a:path h="3684524" w="6144133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5995162" y="0"/>
                  </a:lnTo>
                  <a:cubicBezTo>
                    <a:pt x="6077458" y="0"/>
                    <a:pt x="6144133" y="66675"/>
                    <a:pt x="6144133" y="148971"/>
                  </a:cubicBezTo>
                  <a:lnTo>
                    <a:pt x="6144133" y="3535553"/>
                  </a:lnTo>
                  <a:cubicBezTo>
                    <a:pt x="6144133" y="3617849"/>
                    <a:pt x="6077458" y="3684524"/>
                    <a:pt x="5995162" y="3684524"/>
                  </a:cubicBezTo>
                  <a:lnTo>
                    <a:pt x="148971" y="3684524"/>
                  </a:lnTo>
                  <a:cubicBezTo>
                    <a:pt x="66675" y="3684524"/>
                    <a:pt x="0" y="3617849"/>
                    <a:pt x="0" y="35355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113259" y="6921379"/>
            <a:ext cx="4049411" cy="43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5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Fail-Safes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13259" y="7436606"/>
            <a:ext cx="4049411" cy="170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02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Fallback logic routes unknown queries to human review or suggests document uploads to expand coverage.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54016" y="872261"/>
            <a:ext cx="3572294" cy="3572380"/>
            <a:chOff x="0" y="0"/>
            <a:chExt cx="4763059" cy="47631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4763008" cy="4763135"/>
            </a:xfrm>
            <a:custGeom>
              <a:avLst/>
              <a:gdLst/>
              <a:ahLst/>
              <a:cxnLst/>
              <a:rect r="r" b="b" t="t" l="l"/>
              <a:pathLst>
                <a:path h="4763135" w="4763008">
                  <a:moveTo>
                    <a:pt x="0" y="0"/>
                  </a:moveTo>
                  <a:lnTo>
                    <a:pt x="4763008" y="0"/>
                  </a:lnTo>
                  <a:lnTo>
                    <a:pt x="4763008" y="4763135"/>
                  </a:lnTo>
                  <a:lnTo>
                    <a:pt x="0" y="4763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20605" y="1896770"/>
            <a:ext cx="10483672" cy="33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398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Multi-Role Talent Portal &amp; Announcement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1223" y="2491607"/>
            <a:ext cx="11398025" cy="14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role-aware portal supports Admin, Manager, and Trainee accounts with SQLite-backed storage.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0605" y="2813133"/>
            <a:ext cx="10483672" cy="47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484" indent="-162742" lvl="1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Admin: system setup, user management, analytics export</a:t>
            </a:r>
          </a:p>
          <a:p>
            <a:pPr algn="l" marL="325484" indent="-162742" lvl="1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Manager: assign exams, view KPIs, publish announcements</a:t>
            </a:r>
          </a:p>
          <a:p>
            <a:pPr algn="l" marL="325484" indent="-162742" lvl="1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Trainee: take exams, view results, receive announcements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11223" y="3802447"/>
            <a:ext cx="10483672" cy="332775"/>
            <a:chOff x="0" y="0"/>
            <a:chExt cx="13978230" cy="443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78255" cy="443738"/>
            </a:xfrm>
            <a:custGeom>
              <a:avLst/>
              <a:gdLst/>
              <a:ahLst/>
              <a:cxnLst/>
              <a:rect r="r" b="b" t="t" l="l"/>
              <a:pathLst>
                <a:path h="443738" w="13978255">
                  <a:moveTo>
                    <a:pt x="0" y="74168"/>
                  </a:moveTo>
                  <a:cubicBezTo>
                    <a:pt x="0" y="33147"/>
                    <a:pt x="33147" y="0"/>
                    <a:pt x="74168" y="0"/>
                  </a:cubicBezTo>
                  <a:lnTo>
                    <a:pt x="13904088" y="0"/>
                  </a:lnTo>
                  <a:cubicBezTo>
                    <a:pt x="13945108" y="0"/>
                    <a:pt x="13978255" y="33147"/>
                    <a:pt x="13978255" y="74168"/>
                  </a:cubicBezTo>
                  <a:lnTo>
                    <a:pt x="13978255" y="369570"/>
                  </a:lnTo>
                  <a:cubicBezTo>
                    <a:pt x="13978255" y="410591"/>
                    <a:pt x="13945108" y="443738"/>
                    <a:pt x="13904088" y="443738"/>
                  </a:cubicBezTo>
                  <a:lnTo>
                    <a:pt x="74168" y="443738"/>
                  </a:lnTo>
                  <a:cubicBezTo>
                    <a:pt x="33147" y="443738"/>
                    <a:pt x="0" y="410464"/>
                    <a:pt x="0" y="36957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20605" y="3870750"/>
            <a:ext cx="165487" cy="132455"/>
            <a:chOff x="0" y="0"/>
            <a:chExt cx="220650" cy="17660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20599" cy="176657"/>
            </a:xfrm>
            <a:custGeom>
              <a:avLst/>
              <a:gdLst/>
              <a:ahLst/>
              <a:cxnLst/>
              <a:rect r="r" b="b" t="t" l="l"/>
              <a:pathLst>
                <a:path h="176657" w="220599">
                  <a:moveTo>
                    <a:pt x="0" y="0"/>
                  </a:moveTo>
                  <a:lnTo>
                    <a:pt x="220599" y="0"/>
                  </a:lnTo>
                  <a:lnTo>
                    <a:pt x="220599" y="176657"/>
                  </a:lnTo>
                  <a:lnTo>
                    <a:pt x="0" y="176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50" t="0" r="-1479" b="2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118537" y="3827040"/>
            <a:ext cx="10835183" cy="15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Announcements can be broadcast or targeted by role, team, or cohort.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191" y="4616682"/>
            <a:ext cx="16302714" cy="19050"/>
            <a:chOff x="0" y="0"/>
            <a:chExt cx="21736952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36938" cy="25400"/>
            </a:xfrm>
            <a:custGeom>
              <a:avLst/>
              <a:gdLst/>
              <a:ahLst/>
              <a:cxnLst/>
              <a:rect r="r" b="b" t="t" l="l"/>
              <a:pathLst>
                <a:path h="25400" w="21736938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4238" y="0"/>
                  </a:lnTo>
                  <a:cubicBezTo>
                    <a:pt x="21731224" y="0"/>
                    <a:pt x="21736938" y="5715"/>
                    <a:pt x="21736938" y="12700"/>
                  </a:cubicBezTo>
                  <a:cubicBezTo>
                    <a:pt x="21736938" y="19685"/>
                    <a:pt x="21731224" y="25400"/>
                    <a:pt x="2172423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54240">
                <a:alpha val="2470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42793" y="4329322"/>
            <a:ext cx="2857357" cy="2857424"/>
            <a:chOff x="0" y="0"/>
            <a:chExt cx="3809810" cy="380989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3809746" cy="3809873"/>
            </a:xfrm>
            <a:custGeom>
              <a:avLst/>
              <a:gdLst/>
              <a:ahLst/>
              <a:cxnLst/>
              <a:rect r="r" b="b" t="t" l="l"/>
              <a:pathLst>
                <a:path h="3809873" w="3809746">
                  <a:moveTo>
                    <a:pt x="0" y="0"/>
                  </a:moveTo>
                  <a:lnTo>
                    <a:pt x="3809746" y="0"/>
                  </a:lnTo>
                  <a:lnTo>
                    <a:pt x="3809746" y="3809873"/>
                  </a:lnTo>
                  <a:lnTo>
                    <a:pt x="0" y="380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18322" y="5295567"/>
            <a:ext cx="8821045" cy="33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398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Exam Creation &amp; Auto-Grading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18322" y="5697988"/>
            <a:ext cx="9735398" cy="14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exam engine ingests PDFs, generates assessments, assigns them, </a:t>
            </a:r>
          </a:p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and grades automatically where possible.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2995" y="7098259"/>
            <a:ext cx="264900" cy="165487"/>
            <a:chOff x="0" y="0"/>
            <a:chExt cx="353200" cy="220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3200" cy="220656"/>
            </a:xfrm>
            <a:custGeom>
              <a:avLst/>
              <a:gdLst/>
              <a:ahLst/>
              <a:cxnLst/>
              <a:rect r="r" b="b" t="t" l="l"/>
              <a:pathLst>
                <a:path h="220656" w="353200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t="0" r="-30153" b="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05150" y="7098259"/>
            <a:ext cx="264900" cy="165487"/>
            <a:chOff x="0" y="0"/>
            <a:chExt cx="353200" cy="2206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3200" cy="220656"/>
            </a:xfrm>
            <a:custGeom>
              <a:avLst/>
              <a:gdLst/>
              <a:ahLst/>
              <a:cxnLst/>
              <a:rect r="r" b="b" t="t" l="l"/>
              <a:pathLst>
                <a:path h="220656" w="353200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t="0" r="-30153" b="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41530" y="7339794"/>
            <a:ext cx="16302714" cy="19050"/>
          </a:xfrm>
          <a:custGeom>
            <a:avLst/>
            <a:gdLst/>
            <a:ahLst/>
            <a:cxnLst/>
            <a:rect r="r" b="b" t="t" l="l"/>
            <a:pathLst>
              <a:path h="19050" w="16302714">
                <a:moveTo>
                  <a:pt x="0" y="0"/>
                </a:moveTo>
                <a:lnTo>
                  <a:pt x="16302714" y="0"/>
                </a:lnTo>
                <a:lnTo>
                  <a:pt x="1630271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2995" y="7540152"/>
            <a:ext cx="8120396" cy="2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Ingest &amp; Extract: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2995" y="7856849"/>
            <a:ext cx="8120396" cy="15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Parse PDFs and embed content.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05150" y="7540152"/>
            <a:ext cx="8120548" cy="2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Generate Questions: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05150" y="7842923"/>
            <a:ext cx="8120548" cy="15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 MCQs, short answers, and code prompts.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13346" y="8307486"/>
            <a:ext cx="264900" cy="165487"/>
            <a:chOff x="0" y="0"/>
            <a:chExt cx="353200" cy="2206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3200" cy="220656"/>
            </a:xfrm>
            <a:custGeom>
              <a:avLst/>
              <a:gdLst/>
              <a:ahLst/>
              <a:cxnLst/>
              <a:rect r="r" b="b" t="t" l="l"/>
              <a:pathLst>
                <a:path h="220656" w="353200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t="0" r="-30153" b="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95511" y="8307486"/>
            <a:ext cx="264900" cy="165487"/>
            <a:chOff x="0" y="0"/>
            <a:chExt cx="353200" cy="2206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200" cy="220656"/>
            </a:xfrm>
            <a:custGeom>
              <a:avLst/>
              <a:gdLst/>
              <a:ahLst/>
              <a:cxnLst/>
              <a:rect r="r" b="b" t="t" l="l"/>
              <a:pathLst>
                <a:path h="220656" w="353200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t="0" r="-30153" b="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04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022995" y="8520103"/>
            <a:ext cx="16302714" cy="19050"/>
          </a:xfrm>
          <a:custGeom>
            <a:avLst/>
            <a:gdLst/>
            <a:ahLst/>
            <a:cxnLst/>
            <a:rect r="r" b="b" t="t" l="l"/>
            <a:pathLst>
              <a:path h="19050" w="16302714">
                <a:moveTo>
                  <a:pt x="0" y="0"/>
                </a:moveTo>
                <a:lnTo>
                  <a:pt x="16302713" y="0"/>
                </a:lnTo>
                <a:lnTo>
                  <a:pt x="1630271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41530" y="8730472"/>
            <a:ext cx="8120396" cy="2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Assign &amp; Proctor: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1530" y="9061752"/>
            <a:ext cx="8120396" cy="15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Schedule exams with time limits and logging.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23686" y="8730472"/>
            <a:ext cx="8120548" cy="2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Grade &amp; Review: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23686" y="9061752"/>
            <a:ext cx="8120548" cy="15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Use rule-based scoring and human review for edge cases.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086" cy="10286743"/>
            <a:chOff x="0" y="0"/>
            <a:chExt cx="24382781" cy="13715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2730" cy="13715619"/>
            </a:xfrm>
            <a:custGeom>
              <a:avLst/>
              <a:gdLst/>
              <a:ahLst/>
              <a:cxnLst/>
              <a:rect r="r" b="b" t="t" l="l"/>
              <a:pathLst>
                <a:path h="13715619" w="24382730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191" y="819274"/>
            <a:ext cx="16302714" cy="43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62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Executive Analytics: KPI Charts &amp; Performance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191" y="3210439"/>
            <a:ext cx="5706970" cy="3916756"/>
            <a:chOff x="0" y="0"/>
            <a:chExt cx="7609294" cy="522234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609332" cy="5222367"/>
            </a:xfrm>
            <a:custGeom>
              <a:avLst/>
              <a:gdLst/>
              <a:ahLst/>
              <a:cxnLst/>
              <a:rect r="r" b="b" t="t" l="l"/>
              <a:pathLst>
                <a:path h="5222367" w="7609332">
                  <a:moveTo>
                    <a:pt x="0" y="0"/>
                  </a:moveTo>
                  <a:lnTo>
                    <a:pt x="7609332" y="0"/>
                  </a:lnTo>
                  <a:lnTo>
                    <a:pt x="7609332" y="5222367"/>
                  </a:lnTo>
                  <a:lnTo>
                    <a:pt x="0" y="5222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191" y="7222598"/>
            <a:ext cx="8779974" cy="45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Dashboard visualizes trainee score trends (bars) with pass-rate overlay (line). Metrics support cohort filtering, drill-down to question-level item analysis, and export for enterprise reporting.      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21454" y="1520542"/>
            <a:ext cx="2857357" cy="2857424"/>
            <a:chOff x="0" y="0"/>
            <a:chExt cx="3809810" cy="380989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809746" cy="3809873"/>
            </a:xfrm>
            <a:custGeom>
              <a:avLst/>
              <a:gdLst/>
              <a:ahLst/>
              <a:cxnLst/>
              <a:rect r="r" b="b" t="t" l="l"/>
              <a:pathLst>
                <a:path h="3809873" w="3809746">
                  <a:moveTo>
                    <a:pt x="0" y="0"/>
                  </a:moveTo>
                  <a:lnTo>
                    <a:pt x="3809746" y="0"/>
                  </a:lnTo>
                  <a:lnTo>
                    <a:pt x="3809746" y="3809873"/>
                  </a:lnTo>
                  <a:lnTo>
                    <a:pt x="0" y="380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95998" y="5034725"/>
            <a:ext cx="7108269" cy="27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Score Distribution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5998" y="5392350"/>
            <a:ext cx="7108269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Histogram and percentile bands to identify at-risk learners and high performers.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5998" y="6374740"/>
            <a:ext cx="7108269" cy="27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Engagement KPIs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95998" y="6732365"/>
            <a:ext cx="7108269" cy="23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Completion rate, time-on-task, and sequence adherence for predictive success modeling.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95998" y="7714764"/>
            <a:ext cx="7108269" cy="27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Metrics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5998" y="8072380"/>
            <a:ext cx="7108269" cy="45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Exam throughput, auto-grade rate, and announcement reach for SLA and capacity planning.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95998" y="8640747"/>
            <a:ext cx="7108269" cy="702745"/>
            <a:chOff x="0" y="0"/>
            <a:chExt cx="9477692" cy="9369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77629" cy="937006"/>
            </a:xfrm>
            <a:custGeom>
              <a:avLst/>
              <a:gdLst/>
              <a:ahLst/>
              <a:cxnLst/>
              <a:rect r="r" b="b" t="t" l="l"/>
              <a:pathLst>
                <a:path h="937006" w="9477629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lnTo>
                    <a:pt x="9382506" y="0"/>
                  </a:lnTo>
                  <a:cubicBezTo>
                    <a:pt x="9435085" y="0"/>
                    <a:pt x="9477629" y="42545"/>
                    <a:pt x="9477629" y="95123"/>
                  </a:cubicBezTo>
                  <a:lnTo>
                    <a:pt x="9477629" y="841883"/>
                  </a:lnTo>
                  <a:cubicBezTo>
                    <a:pt x="9477629" y="894461"/>
                    <a:pt x="9435085" y="937006"/>
                    <a:pt x="9382506" y="937006"/>
                  </a:cubicBezTo>
                  <a:lnTo>
                    <a:pt x="95123" y="937006"/>
                  </a:lnTo>
                  <a:cubicBezTo>
                    <a:pt x="42545" y="937006"/>
                    <a:pt x="0" y="894461"/>
                    <a:pt x="0" y="841883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365810" y="8798204"/>
            <a:ext cx="212217" cy="169812"/>
            <a:chOff x="0" y="0"/>
            <a:chExt cx="282956" cy="22641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82956" cy="226441"/>
            </a:xfrm>
            <a:custGeom>
              <a:avLst/>
              <a:gdLst/>
              <a:ahLst/>
              <a:cxnLst/>
              <a:rect r="r" b="b" t="t" l="l"/>
              <a:pathLst>
                <a:path h="226441" w="282956">
                  <a:moveTo>
                    <a:pt x="0" y="0"/>
                  </a:moveTo>
                  <a:lnTo>
                    <a:pt x="282956" y="0"/>
                  </a:lnTo>
                  <a:lnTo>
                    <a:pt x="282956" y="226441"/>
                  </a:lnTo>
                  <a:lnTo>
                    <a:pt x="0" y="226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22" t="0" r="-1122" b="1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747829" y="8755637"/>
            <a:ext cx="6386636" cy="45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Next steps: integrate A/B testing for exam variants, add anomaly detection on performance dips, and enable scheduled executive reports.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9714" y="0"/>
            <a:ext cx="6857829" cy="10287000"/>
            <a:chOff x="0" y="0"/>
            <a:chExt cx="9143771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7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3746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2656580"/>
            <a:ext cx="9445285" cy="269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Milestone 3 — Sphere Voice AI Assistant &amp; AI Study Sprints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5692083"/>
            <a:ext cx="944528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Delivering hands-free voice intelligence plus structured, AI-driven study workflows. This milestone combines a production-ready voice assistant (STT → intent → TTS), system automation via voice, and a reusable 6-day sprint generator optimized for trainee outcomes.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1129008"/>
            <a:ext cx="16303114" cy="69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Product: Sphere Voice AI Assistant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89449" y="2881903"/>
            <a:ext cx="5391102" cy="5391236"/>
            <a:chOff x="0" y="0"/>
            <a:chExt cx="7188136" cy="718831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188073" cy="7188327"/>
            </a:xfrm>
            <a:custGeom>
              <a:avLst/>
              <a:gdLst/>
              <a:ahLst/>
              <a:cxnLst/>
              <a:rect r="r" b="b" t="t" l="l"/>
              <a:pathLst>
                <a:path h="7188327" w="7188073">
                  <a:moveTo>
                    <a:pt x="0" y="0"/>
                  </a:moveTo>
                  <a:lnTo>
                    <a:pt x="7188073" y="0"/>
                  </a:lnTo>
                  <a:lnTo>
                    <a:pt x="7188073" y="7188327"/>
                  </a:lnTo>
                  <a:lnTo>
                    <a:pt x="0" y="7188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633746" y="2451649"/>
            <a:ext cx="8670960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Capabilities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33746" y="3133373"/>
            <a:ext cx="8670960" cy="27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 Speech-to-Text (low-latency, noise-robust) feeding NLU for intent &amp; slot extraction</a:t>
            </a:r>
          </a:p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Context-aware Text-to-Speech answers with selectable voice personas and SSML support</a:t>
            </a:r>
          </a:p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Multilingual audio input and output — built to scale across languages (first release: 4 languages)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33746" y="6083798"/>
            <a:ext cx="8670960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Design &amp; Reliability Priorities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3746" y="6765522"/>
            <a:ext cx="8670960" cy="228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Deterministic handoffs: audio → transcript → intent → action with traceable context IDs</a:t>
            </a:r>
          </a:p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Fallbacks: confidence thresholds, clarification prompts, and server-side re-querying</a:t>
            </a:r>
          </a:p>
          <a:p>
            <a:pPr algn="l" marL="380048" indent="-190024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Privacy-first: ephemeral audio storage, user opt-ins for analytics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2201913"/>
            <a:ext cx="16303114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Voice-Driven Tool Execution — Actions You Can Say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10" y="3506238"/>
            <a:ext cx="1143572" cy="1429493"/>
            <a:chOff x="0" y="0"/>
            <a:chExt cx="1524762" cy="19059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24762" cy="1906016"/>
            </a:xfrm>
            <a:custGeom>
              <a:avLst/>
              <a:gdLst/>
              <a:ahLst/>
              <a:cxnLst/>
              <a:rect r="r" b="b" t="t" l="l"/>
              <a:pathLst>
                <a:path h="1906016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4" t="0" r="-83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90130" y="3487188"/>
            <a:ext cx="370022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Fetch Trainee 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0130" y="4476455"/>
            <a:ext cx="3700224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“Hey Sphere, show Sam’s weekly mastery score.” Returns per-lesson metrics, recent activity, and flags for intervention.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704" y="3506238"/>
            <a:ext cx="1143572" cy="1429493"/>
            <a:chOff x="0" y="0"/>
            <a:chExt cx="1524762" cy="190599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762" cy="1906016"/>
            </a:xfrm>
            <a:custGeom>
              <a:avLst/>
              <a:gdLst/>
              <a:ahLst/>
              <a:cxnLst/>
              <a:rect r="r" b="b" t="t" l="l"/>
              <a:pathLst>
                <a:path h="1906016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4" t="0" r="-83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42615" y="3487188"/>
            <a:ext cx="370022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Trigger Exam Creation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2615" y="4476455"/>
            <a:ext cx="3700224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“Create a Day-5 gateway exam for Module 3.” Generates question set, rubric, and schedules proctoring rules.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188" y="3506238"/>
            <a:ext cx="1143572" cy="1429493"/>
            <a:chOff x="0" y="0"/>
            <a:chExt cx="1524762" cy="190599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24762" cy="1906016"/>
            </a:xfrm>
            <a:custGeom>
              <a:avLst/>
              <a:gdLst/>
              <a:ahLst/>
              <a:cxnLst/>
              <a:rect r="r" b="b" t="t" l="l"/>
              <a:pathLst>
                <a:path h="1906016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" t="0" r="-83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595109" y="3487188"/>
            <a:ext cx="370022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Dispatch Announcements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95109" y="4476455"/>
            <a:ext cx="3700224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“Announce sprint kickoff to cohort B.” Sends multi-channel notice (in-app, email, voice summary) with delivery trace.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10" y="7063530"/>
            <a:ext cx="1630311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Actions are modeled as idempotent commands with audit logs and RBAC checks. Voice confirmations and undo flows reduce accidental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812597"/>
            <a:ext cx="16303114" cy="47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8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6-Day AI Study Sprint Orchestrator (with Multilingual Voice Support)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26592" y="4293984"/>
            <a:ext cx="5698779" cy="1507922"/>
            <a:chOff x="0" y="0"/>
            <a:chExt cx="7598372" cy="20105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598410" cy="2010537"/>
            </a:xfrm>
            <a:custGeom>
              <a:avLst/>
              <a:gdLst/>
              <a:ahLst/>
              <a:cxnLst/>
              <a:rect r="r" b="b" t="t" l="l"/>
              <a:pathLst>
                <a:path h="2010537" w="7598410">
                  <a:moveTo>
                    <a:pt x="0" y="0"/>
                  </a:moveTo>
                  <a:lnTo>
                    <a:pt x="7598410" y="0"/>
                  </a:lnTo>
                  <a:lnTo>
                    <a:pt x="7598410" y="2010537"/>
                  </a:lnTo>
                  <a:lnTo>
                    <a:pt x="0" y="2010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8" r="0" b="-15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966247" y="4794323"/>
            <a:ext cx="861403" cy="16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"/>
              </a:lnSpc>
            </a:pPr>
            <a:r>
              <a:rPr lang="en-US" sz="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1 Setup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6247" y="5021008"/>
            <a:ext cx="861403" cy="18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"/>
              </a:lnSpc>
            </a:pPr>
            <a:r>
              <a:rPr lang="en-US" sz="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Configure sprint, establish baseline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3351" y="4626721"/>
            <a:ext cx="861403" cy="31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"/>
              </a:lnSpc>
            </a:pPr>
            <a:r>
              <a:rPr lang="en-US" sz="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2 Micro-lessons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3351" y="5007645"/>
            <a:ext cx="861403" cy="28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"/>
              </a:lnSpc>
            </a:pPr>
            <a:r>
              <a:rPr lang="en-US" sz="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Short focused lessons and materials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40456" y="4794323"/>
            <a:ext cx="861403" cy="31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"/>
              </a:lnSpc>
            </a:pPr>
            <a:r>
              <a:rPr lang="en-US" sz="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3 Practice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40456" y="5175247"/>
            <a:ext cx="861403" cy="18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"/>
              </a:lnSpc>
            </a:pPr>
            <a:r>
              <a:rPr lang="en-US" sz="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Apply skills with feedback loops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27550" y="4626721"/>
            <a:ext cx="861403" cy="31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"/>
              </a:lnSpc>
            </a:pPr>
            <a:r>
              <a:rPr lang="en-US" sz="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4 Deep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27550" y="5007645"/>
            <a:ext cx="861403" cy="28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"/>
              </a:lnSpc>
            </a:pPr>
            <a:r>
              <a:rPr lang="en-US" sz="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Consolidate concepts and weak spots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0141" y="4794323"/>
            <a:ext cx="861403" cy="31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"/>
              </a:lnSpc>
            </a:pPr>
            <a:r>
              <a:rPr lang="en-US" sz="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5 Gateway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0141" y="5175247"/>
            <a:ext cx="861403" cy="18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"/>
              </a:lnSpc>
            </a:pPr>
            <a:r>
              <a:rPr lang="en-US" sz="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Timed exam to assess mastery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10" y="5922912"/>
            <a:ext cx="8767543" cy="72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Each sprint is auto-generated by the AI planner: curated daily tasks, prioritized reference materials, suggested time budgets, Day‑5 gateway exam creation, and a Day‑7 Voice Socratic interview for oral mastery checks.     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11886" y="2178548"/>
            <a:ext cx="7092972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Multilingual Chat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1886" y="2577998"/>
            <a:ext cx="7092972" cy="48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4-language support with smart selection popups. Voice UI adapts phrasing and TTS voice per locale.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11886" y="3884409"/>
            <a:ext cx="7092972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Adaptive Scheduling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11886" y="4283869"/>
            <a:ext cx="7092972" cy="48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Personalized daily task timing based on learner engagement signals and preferred study windows.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11886" y="5590280"/>
            <a:ext cx="7092972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Assessment &amp; Gates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1886" y="5989739"/>
            <a:ext cx="7092972" cy="48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Automated Day‑5 gating exam plus pass/fail criteria that feed the next sprint’s difficulty tuning.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11886" y="7296150"/>
            <a:ext cx="7092972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Voice Socratic Interviews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11886" y="7695600"/>
            <a:ext cx="7092972" cy="48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Oral assessments that prompt reasoning, record responses, and provide targeted coach feedback.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11886" y="8311601"/>
            <a:ext cx="7092972" cy="1013069"/>
            <a:chOff x="0" y="0"/>
            <a:chExt cx="9457296" cy="13507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57309" cy="1350772"/>
            </a:xfrm>
            <a:custGeom>
              <a:avLst/>
              <a:gdLst/>
              <a:ahLst/>
              <a:cxnLst/>
              <a:rect r="r" b="b" t="t" l="l"/>
              <a:pathLst>
                <a:path h="1350772" w="945730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355709" y="0"/>
                  </a:lnTo>
                  <a:cubicBezTo>
                    <a:pt x="9411843" y="0"/>
                    <a:pt x="9457309" y="45466"/>
                    <a:pt x="9457309" y="101600"/>
                  </a:cubicBezTo>
                  <a:lnTo>
                    <a:pt x="9457309" y="1249172"/>
                  </a:lnTo>
                  <a:cubicBezTo>
                    <a:pt x="9457309" y="1305306"/>
                    <a:pt x="9411843" y="1350772"/>
                    <a:pt x="9355709" y="1350772"/>
                  </a:cubicBezTo>
                  <a:lnTo>
                    <a:pt x="101600" y="1350772"/>
                  </a:lnTo>
                  <a:cubicBezTo>
                    <a:pt x="45466" y="1350772"/>
                    <a:pt x="0" y="1305306"/>
                    <a:pt x="0" y="1249172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393156" y="8495109"/>
            <a:ext cx="226657" cy="181270"/>
            <a:chOff x="0" y="0"/>
            <a:chExt cx="302209" cy="241694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02260" cy="241681"/>
            </a:xfrm>
            <a:custGeom>
              <a:avLst/>
              <a:gdLst/>
              <a:ahLst/>
              <a:cxnLst/>
              <a:rect r="r" b="b" t="t" l="l"/>
              <a:pathLst>
                <a:path h="241681" w="302260">
                  <a:moveTo>
                    <a:pt x="0" y="0"/>
                  </a:moveTo>
                  <a:lnTo>
                    <a:pt x="302260" y="0"/>
                  </a:lnTo>
                  <a:lnTo>
                    <a:pt x="302260" y="241681"/>
                  </a:lnTo>
                  <a:lnTo>
                    <a:pt x="0" y="241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01" r="16" b="-210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801083" y="8451647"/>
            <a:ext cx="6322504" cy="72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Implementation notes: prioritize low-latency STT for live interviews, use speaker diarization for multi-learner sessions, and retain consented audio for quality review.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9714" y="0"/>
            <a:ext cx="6857829" cy="10287000"/>
            <a:chOff x="0" y="0"/>
            <a:chExt cx="9143771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374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3746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10" y="1060694"/>
            <a:ext cx="9445285" cy="171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2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Milestone 4 — Delivery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10" y="3080442"/>
            <a:ext cx="9445285" cy="175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Concise overview of Milestone 4: delivered automated email notification service, database-aware chatbot enhancements, ASGI server performance upgrades, SQLite WAL resilience fixes, and final UI/branding for the Talent Management Platform.  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47" y="5120288"/>
            <a:ext cx="2987354" cy="4082205"/>
            <a:chOff x="0" y="0"/>
            <a:chExt cx="3983139" cy="54429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2974" cy="5442839"/>
            </a:xfrm>
            <a:custGeom>
              <a:avLst/>
              <a:gdLst/>
              <a:ahLst/>
              <a:cxnLst/>
              <a:rect r="r" b="b" t="t" l="l"/>
              <a:pathLst>
                <a:path h="5442839" w="3982974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3831717" y="0"/>
                  </a:lnTo>
                  <a:cubicBezTo>
                    <a:pt x="3915283" y="0"/>
                    <a:pt x="3982974" y="67691"/>
                    <a:pt x="3982974" y="151257"/>
                  </a:cubicBezTo>
                  <a:lnTo>
                    <a:pt x="3982974" y="5291582"/>
                  </a:lnTo>
                  <a:cubicBezTo>
                    <a:pt x="3982974" y="5375148"/>
                    <a:pt x="3915283" y="5442839"/>
                    <a:pt x="3831717" y="5442839"/>
                  </a:cubicBezTo>
                  <a:lnTo>
                    <a:pt x="151257" y="5442839"/>
                  </a:lnTo>
                  <a:cubicBezTo>
                    <a:pt x="67691" y="5442966"/>
                    <a:pt x="0" y="5375148"/>
                    <a:pt x="0" y="5291582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70959" y="5394274"/>
            <a:ext cx="2420331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959" y="5901776"/>
            <a:ext cx="2420331" cy="301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Notifications, chatbot DB integration, server performance, DB locking resilience, UI/brand finalization.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21109" y="5120288"/>
            <a:ext cx="2987354" cy="4082205"/>
            <a:chOff x="0" y="0"/>
            <a:chExt cx="3983139" cy="5442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82974" cy="5442839"/>
            </a:xfrm>
            <a:custGeom>
              <a:avLst/>
              <a:gdLst/>
              <a:ahLst/>
              <a:cxnLst/>
              <a:rect r="r" b="b" t="t" l="l"/>
              <a:pathLst>
                <a:path h="5442839" w="3982974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3831717" y="0"/>
                  </a:lnTo>
                  <a:cubicBezTo>
                    <a:pt x="3915283" y="0"/>
                    <a:pt x="3982974" y="67691"/>
                    <a:pt x="3982974" y="151257"/>
                  </a:cubicBezTo>
                  <a:lnTo>
                    <a:pt x="3982974" y="5291582"/>
                  </a:lnTo>
                  <a:cubicBezTo>
                    <a:pt x="3982974" y="5375148"/>
                    <a:pt x="3915283" y="5442839"/>
                    <a:pt x="3831717" y="5442839"/>
                  </a:cubicBezTo>
                  <a:lnTo>
                    <a:pt x="151257" y="5442839"/>
                  </a:lnTo>
                  <a:cubicBezTo>
                    <a:pt x="67691" y="5442966"/>
                    <a:pt x="0" y="5375148"/>
                    <a:pt x="0" y="5291582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504620" y="5394274"/>
            <a:ext cx="2420331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Audience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04620" y="5901776"/>
            <a:ext cx="2420331" cy="259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Enterprise engineering and product teams evaluating Milestone 4 deliverables.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54760" y="5120288"/>
            <a:ext cx="2987507" cy="4082205"/>
            <a:chOff x="0" y="0"/>
            <a:chExt cx="3983342" cy="54429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3355" cy="5442966"/>
            </a:xfrm>
            <a:custGeom>
              <a:avLst/>
              <a:gdLst/>
              <a:ahLst/>
              <a:cxnLst/>
              <a:rect r="r" b="b" t="t" l="l"/>
              <a:pathLst>
                <a:path h="5442966" w="3983355">
                  <a:moveTo>
                    <a:pt x="0" y="151384"/>
                  </a:moveTo>
                  <a:cubicBezTo>
                    <a:pt x="0" y="67691"/>
                    <a:pt x="67691" y="0"/>
                    <a:pt x="151384" y="0"/>
                  </a:cubicBezTo>
                  <a:lnTo>
                    <a:pt x="3831971" y="0"/>
                  </a:lnTo>
                  <a:cubicBezTo>
                    <a:pt x="3915537" y="0"/>
                    <a:pt x="3983355" y="67691"/>
                    <a:pt x="3983355" y="151384"/>
                  </a:cubicBezTo>
                  <a:lnTo>
                    <a:pt x="3983355" y="5291582"/>
                  </a:lnTo>
                  <a:cubicBezTo>
                    <a:pt x="3983355" y="5375148"/>
                    <a:pt x="3915664" y="5442966"/>
                    <a:pt x="3831971" y="5442966"/>
                  </a:cubicBezTo>
                  <a:lnTo>
                    <a:pt x="151384" y="5442966"/>
                  </a:lnTo>
                  <a:cubicBezTo>
                    <a:pt x="67691" y="5442966"/>
                    <a:pt x="0" y="5375148"/>
                    <a:pt x="0" y="5291582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738272" y="5394274"/>
            <a:ext cx="24204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38272" y="5901776"/>
            <a:ext cx="2420483" cy="301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Operational readiness, reliability under load, and polished user-facing experience for rollout.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966940"/>
            <a:ext cx="16303114" cy="47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8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Components &amp; Engineering Highlights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17374" y="1671752"/>
            <a:ext cx="3940626" cy="3940731"/>
            <a:chOff x="0" y="0"/>
            <a:chExt cx="5254168" cy="525430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254117" cy="5254244"/>
            </a:xfrm>
            <a:custGeom>
              <a:avLst/>
              <a:gdLst/>
              <a:ahLst/>
              <a:cxnLst/>
              <a:rect r="r" b="b" t="t" l="l"/>
              <a:pathLst>
                <a:path h="5254244" w="5254117">
                  <a:moveTo>
                    <a:pt x="0" y="0"/>
                  </a:moveTo>
                  <a:lnTo>
                    <a:pt x="5254117" y="0"/>
                  </a:lnTo>
                  <a:lnTo>
                    <a:pt x="5254117" y="5254244"/>
                  </a:lnTo>
                  <a:lnTo>
                    <a:pt x="0" y="525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57512" y="1954854"/>
            <a:ext cx="7444045" cy="29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Email Notification 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7512" y="2362495"/>
            <a:ext cx="7444045" cy="25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Templated SMTP notifications with retry, backoff, and audit logging.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57512" y="3131934"/>
            <a:ext cx="7444045" cy="29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DB-Aware Chatbot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7512" y="3539576"/>
            <a:ext cx="7444045" cy="4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Provides controlled read access to trainee records and score tables for live lookups and summaries.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7512" y="4552207"/>
            <a:ext cx="7444045" cy="29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FastAPI + Uvicorn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7512" y="4959848"/>
            <a:ext cx="7444045" cy="4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Moved to FastAPI on Uvicorn, with CPU-heavy search isolated to keep requests responsive.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10" y="5974404"/>
            <a:ext cx="16303114" cy="19050"/>
            <a:chOff x="0" y="0"/>
            <a:chExt cx="21737485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7447" cy="25400"/>
            </a:xfrm>
            <a:custGeom>
              <a:avLst/>
              <a:gdLst/>
              <a:ahLst/>
              <a:cxnLst/>
              <a:rect r="r" b="b" t="t" l="l"/>
              <a:pathLst>
                <a:path h="25400" w="21737447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4747" y="0"/>
                  </a:lnTo>
                  <a:cubicBezTo>
                    <a:pt x="21731732" y="0"/>
                    <a:pt x="21737447" y="5715"/>
                    <a:pt x="21737447" y="12700"/>
                  </a:cubicBezTo>
                  <a:cubicBezTo>
                    <a:pt x="21737447" y="19685"/>
                    <a:pt x="21731732" y="25400"/>
                    <a:pt x="21724747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54240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17374" y="6308827"/>
            <a:ext cx="3345447" cy="3345532"/>
            <a:chOff x="0" y="0"/>
            <a:chExt cx="4460596" cy="446071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460621" cy="4460748"/>
            </a:xfrm>
            <a:custGeom>
              <a:avLst/>
              <a:gdLst/>
              <a:ahLst/>
              <a:cxnLst/>
              <a:rect r="r" b="b" t="t" l="l"/>
              <a:pathLst>
                <a:path h="4460748" w="4460621">
                  <a:moveTo>
                    <a:pt x="0" y="0"/>
                  </a:moveTo>
                  <a:lnTo>
                    <a:pt x="4460621" y="0"/>
                  </a:lnTo>
                  <a:lnTo>
                    <a:pt x="4460621" y="4460748"/>
                  </a:lnTo>
                  <a:lnTo>
                    <a:pt x="0" y="4460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13024" y="7024983"/>
            <a:ext cx="532047" cy="664959"/>
            <a:chOff x="0" y="0"/>
            <a:chExt cx="709397" cy="88661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09422" cy="886587"/>
            </a:xfrm>
            <a:custGeom>
              <a:avLst/>
              <a:gdLst/>
              <a:ahLst/>
              <a:cxnLst/>
              <a:rect r="r" b="b" t="t" l="l"/>
              <a:pathLst>
                <a:path h="886587" w="709422">
                  <a:moveTo>
                    <a:pt x="0" y="0"/>
                  </a:moveTo>
                  <a:lnTo>
                    <a:pt x="709422" y="0"/>
                  </a:lnTo>
                  <a:lnTo>
                    <a:pt x="709422" y="886587"/>
                  </a:lnTo>
                  <a:lnTo>
                    <a:pt x="0" y="886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" r="3" b="-1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394785" y="7015458"/>
            <a:ext cx="3039142" cy="58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SQLite WAL Lock Resilience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94785" y="7711088"/>
            <a:ext cx="3039142" cy="73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WAL mode and connection retry logic reduced Windows file-lock freezes.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583650" y="7024983"/>
            <a:ext cx="532047" cy="664959"/>
            <a:chOff x="0" y="0"/>
            <a:chExt cx="709397" cy="88661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09422" cy="886587"/>
            </a:xfrm>
            <a:custGeom>
              <a:avLst/>
              <a:gdLst/>
              <a:ahLst/>
              <a:cxnLst/>
              <a:rect r="r" b="b" t="t" l="l"/>
              <a:pathLst>
                <a:path h="886587" w="709422">
                  <a:moveTo>
                    <a:pt x="0" y="0"/>
                  </a:moveTo>
                  <a:lnTo>
                    <a:pt x="709422" y="0"/>
                  </a:lnTo>
                  <a:lnTo>
                    <a:pt x="709422" y="886587"/>
                  </a:lnTo>
                  <a:lnTo>
                    <a:pt x="0" y="886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" r="3" b="-1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65412" y="7015458"/>
            <a:ext cx="3039294" cy="29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Controls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65412" y="7423099"/>
            <a:ext cx="3039294" cy="73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Health checks, circuit breakers, and graceful shutdowns improved runtime stability.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10" y="968426"/>
            <a:ext cx="16303114" cy="57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5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UX, Branding, Release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10" y="1879254"/>
            <a:ext cx="16303114" cy="6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Finalized UI/UX with glassmorphism cards, accessible light/dark themes, and brand assets for "Talent Management Platform for Employee Performance and Career Growth." Design tokens and component library published.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29484" y="2764927"/>
            <a:ext cx="28575" cy="5228777"/>
            <a:chOff x="0" y="0"/>
            <a:chExt cx="38100" cy="6971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6971665"/>
            </a:xfrm>
            <a:custGeom>
              <a:avLst/>
              <a:gdLst/>
              <a:ahLst/>
              <a:cxnLst/>
              <a:rect r="r" b="b" t="t" l="l"/>
              <a:pathLst>
                <a:path h="697166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952615"/>
                  </a:lnTo>
                  <a:cubicBezTo>
                    <a:pt x="38100" y="6963156"/>
                    <a:pt x="29591" y="6971665"/>
                    <a:pt x="19050" y="6971665"/>
                  </a:cubicBezTo>
                  <a:cubicBezTo>
                    <a:pt x="8509" y="6971665"/>
                    <a:pt x="0" y="6963156"/>
                    <a:pt x="0" y="6952615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36763" y="3005738"/>
            <a:ext cx="680428" cy="28575"/>
            <a:chOff x="0" y="0"/>
            <a:chExt cx="907237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7288" cy="38100"/>
            </a:xfrm>
            <a:custGeom>
              <a:avLst/>
              <a:gdLst/>
              <a:ahLst/>
              <a:cxnLst/>
              <a:rect r="r" b="b" t="t" l="l"/>
              <a:pathLst>
                <a:path h="38100" w="9072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83853" y="2760164"/>
            <a:ext cx="519846" cy="519855"/>
            <a:chOff x="0" y="0"/>
            <a:chExt cx="693128" cy="6931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166" cy="693166"/>
            </a:xfrm>
            <a:custGeom>
              <a:avLst/>
              <a:gdLst/>
              <a:ahLst/>
              <a:cxnLst/>
              <a:rect r="r" b="b" t="t" l="l"/>
              <a:pathLst>
                <a:path h="693166" w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973588" y="2807418"/>
            <a:ext cx="340214" cy="425206"/>
            <a:chOff x="0" y="0"/>
            <a:chExt cx="453619" cy="56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3616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1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t="0" r="-11035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210" y="2833240"/>
            <a:ext cx="7017515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Release checklist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10" y="3337827"/>
            <a:ext cx="7017515" cy="146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QA signoff on notifications and chatbot responses</a:t>
            </a:r>
          </a:p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Load test p95 latency targets met for ASGI service</a:t>
            </a:r>
          </a:p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DB WAL monitoring in place with alerting</a:t>
            </a:r>
          </a:p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Brand assets and theme tokens merged into main repo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70352" y="4275830"/>
            <a:ext cx="680428" cy="28575"/>
            <a:chOff x="0" y="0"/>
            <a:chExt cx="907237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7288" cy="38100"/>
            </a:xfrm>
            <a:custGeom>
              <a:avLst/>
              <a:gdLst/>
              <a:ahLst/>
              <a:cxnLst/>
              <a:rect r="r" b="b" t="t" l="l"/>
              <a:pathLst>
                <a:path h="38100" w="9072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883853" y="4030266"/>
            <a:ext cx="519846" cy="519855"/>
            <a:chOff x="0" y="0"/>
            <a:chExt cx="693128" cy="6931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3166" cy="693166"/>
            </a:xfrm>
            <a:custGeom>
              <a:avLst/>
              <a:gdLst/>
              <a:ahLst/>
              <a:cxnLst/>
              <a:rect r="r" b="b" t="t" l="l"/>
              <a:pathLst>
                <a:path h="693166" w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73588" y="4077519"/>
            <a:ext cx="340214" cy="425206"/>
            <a:chOff x="0" y="0"/>
            <a:chExt cx="453619" cy="5669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616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1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t="0" r="-11035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77808" y="4103341"/>
            <a:ext cx="7017515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 &amp; Mitigation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77808" y="4607928"/>
            <a:ext cx="7017515" cy="205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SMTP throttling → Mitigation: queued dispatch with rate limiter</a:t>
            </a:r>
          </a:p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DB read hotspots from chatbot → Mitigation: read replicas &amp; caching for summaries</a:t>
            </a:r>
          </a:p>
          <a:p>
            <a:pPr algn="l" marL="312182" indent="-156091" lvl="1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Vector search CPU spikes → Mitigation: dedicated workers via ThreadPoolExecutor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36763" y="5770664"/>
            <a:ext cx="680428" cy="28575"/>
            <a:chOff x="0" y="0"/>
            <a:chExt cx="907237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7288" cy="38100"/>
            </a:xfrm>
            <a:custGeom>
              <a:avLst/>
              <a:gdLst/>
              <a:ahLst/>
              <a:cxnLst/>
              <a:rect r="r" b="b" t="t" l="l"/>
              <a:pathLst>
                <a:path h="38100" w="9072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883853" y="5525100"/>
            <a:ext cx="519846" cy="519855"/>
            <a:chOff x="0" y="0"/>
            <a:chExt cx="693128" cy="6931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3166" cy="693166"/>
            </a:xfrm>
            <a:custGeom>
              <a:avLst/>
              <a:gdLst/>
              <a:ahLst/>
              <a:cxnLst/>
              <a:rect r="r" b="b" t="t" l="l"/>
              <a:pathLst>
                <a:path h="693166" w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973588" y="5572344"/>
            <a:ext cx="340214" cy="425206"/>
            <a:chOff x="0" y="0"/>
            <a:chExt cx="453619" cy="5669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3616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1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t="0" r="-11035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2210" y="5598166"/>
            <a:ext cx="7017515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Recommended Next 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210" y="6042269"/>
            <a:ext cx="7017515" cy="178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484"/>
              </a:lnSpc>
              <a:buAutoNum type="arabicPeriod" startAt="1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Run staged rollout to 10% of accounts and monitor delivery &amp; latency</a:t>
            </a:r>
          </a:p>
          <a:p>
            <a:pPr algn="l" marL="312182" indent="-156091" lvl="1">
              <a:lnSpc>
                <a:spcPts val="2484"/>
              </a:lnSpc>
              <a:buAutoNum type="arabicPeriod" startAt="1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Enable read-replica for high-volume analytics queries</a:t>
            </a:r>
          </a:p>
          <a:p>
            <a:pPr algn="l" marL="312182" indent="-156091" lvl="1">
              <a:lnSpc>
                <a:spcPts val="2484"/>
              </a:lnSpc>
              <a:buAutoNum type="arabicPeriod" startAt="1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Hand off branding assets and component docs to product and marketing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2210" y="8197748"/>
            <a:ext cx="16303114" cy="1111148"/>
            <a:chOff x="0" y="0"/>
            <a:chExt cx="21737485" cy="14815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37447" cy="1481455"/>
            </a:xfrm>
            <a:custGeom>
              <a:avLst/>
              <a:gdLst/>
              <a:ahLst/>
              <a:cxnLst/>
              <a:rect r="r" b="b" t="t" l="l"/>
              <a:pathLst>
                <a:path h="1481455" w="2173744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610447" y="0"/>
                  </a:lnTo>
                  <a:cubicBezTo>
                    <a:pt x="21680551" y="0"/>
                    <a:pt x="21737447" y="56896"/>
                    <a:pt x="21737447" y="127000"/>
                  </a:cubicBezTo>
                  <a:lnTo>
                    <a:pt x="21737447" y="1354455"/>
                  </a:lnTo>
                  <a:cubicBezTo>
                    <a:pt x="21737447" y="1424559"/>
                    <a:pt x="21680551" y="1481455"/>
                    <a:pt x="21610447" y="1481455"/>
                  </a:cubicBezTo>
                  <a:lnTo>
                    <a:pt x="127000" y="1481455"/>
                  </a:lnTo>
                  <a:cubicBezTo>
                    <a:pt x="56896" y="1481455"/>
                    <a:pt x="0" y="1424559"/>
                    <a:pt x="0" y="1354455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19019" y="8456409"/>
            <a:ext cx="283512" cy="226809"/>
            <a:chOff x="0" y="0"/>
            <a:chExt cx="378016" cy="30241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77952" cy="302387"/>
            </a:xfrm>
            <a:custGeom>
              <a:avLst/>
              <a:gdLst/>
              <a:ahLst/>
              <a:cxnLst/>
              <a:rect r="r" b="b" t="t" l="l"/>
              <a:pathLst>
                <a:path h="302387" w="377952">
                  <a:moveTo>
                    <a:pt x="0" y="0"/>
                  </a:moveTo>
                  <a:lnTo>
                    <a:pt x="377952" y="0"/>
                  </a:lnTo>
                  <a:lnTo>
                    <a:pt x="377952" y="302387"/>
                  </a:lnTo>
                  <a:lnTo>
                    <a:pt x="0" y="3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9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729340" y="8407298"/>
            <a:ext cx="15339184" cy="68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Key takeaway: Milestone 4 delivers production-grade notifications, DB-integrated conversational intelligence, improved ASGI performance, and durable SQLite operations — ready for staged rollout under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DAHTGIdb-Ao</dc:identifier>
  <dcterms:modified xsi:type="dcterms:W3CDTF">2011-08-01T06:04:30Z</dcterms:modified>
  <cp:revision>1</cp:revision>
  <dc:title>Final.pptx</dc:title>
</cp:coreProperties>
</file>