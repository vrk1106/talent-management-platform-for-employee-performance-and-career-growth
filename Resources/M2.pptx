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embeddedFontLst>
    <p:embeddedFont>
      <p:font typeface="DM Sans" panose="020F0502020204030204" pitchFamily="2" charset="0"/>
      <p:regular r:id="rId7"/>
    </p:embeddedFont>
    <p:embeddedFont>
      <p:font typeface="Libre Baskerville" panose="020F0502020204030204" pitchFamily="2" charset="0"/>
      <p:regular r:id="rId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696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0521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94036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Milestone 2 — RAG Chatbot, Talent Portal, Exams &amp; Announcements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549452"/>
            <a:ext cx="629686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This milestone delivers an integrated learning platform: a Retrieval-Augmented Generation (RAG) conversational agent, a secure multi-role talent portal, an AI-driven exam engine, an announcement broadcaster, and executive analytics to measure trainee performance. The architecture prioritizes traceability, role-based access, automation, and data-driven insights.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7949"/>
            <a:ext cx="6296860" cy="883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RAG AI Chatbot: Precise, Citable Answers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61475" y="1709539"/>
            <a:ext cx="6296860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Implemented a conversational Q&amp;A agent using Qwen LLM (via Ollama) plus vector retrieval for exact-document citations. Key capabilities:   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61475" y="2442766"/>
            <a:ext cx="3065783" cy="1835944"/>
          </a:xfrm>
          <a:prstGeom prst="roundRect">
            <a:avLst>
              <a:gd name="adj" fmla="val 404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4529" y="2625824"/>
            <a:ext cx="269967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Vector Retrieval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4529" y="3001070"/>
            <a:ext cx="2699675" cy="8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Embeds PDFs and knowledge artifacts for fast semantic search and high-recall retrieval.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892552" y="2442766"/>
            <a:ext cx="3065783" cy="1835944"/>
          </a:xfrm>
          <a:prstGeom prst="roundRect">
            <a:avLst>
              <a:gd name="adj" fmla="val 404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75606" y="2625824"/>
            <a:ext cx="269967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Contextual Prompting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075606" y="3001070"/>
            <a:ext cx="2699675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conditioned on retrieved passages to ensure answers reference source text with provenance links.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61475" y="4444008"/>
            <a:ext cx="3065783" cy="1835944"/>
          </a:xfrm>
          <a:prstGeom prst="roundRect">
            <a:avLst>
              <a:gd name="adj" fmla="val 404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529" y="4627066"/>
            <a:ext cx="269967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Citation Transparency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44529" y="5002312"/>
            <a:ext cx="2699675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Responses include exact citations and document excerpts to support auditability and compliance.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892552" y="4444008"/>
            <a:ext cx="3065783" cy="1835944"/>
          </a:xfrm>
          <a:prstGeom prst="roundRect">
            <a:avLst>
              <a:gd name="adj" fmla="val 4044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75606" y="4627066"/>
            <a:ext cx="269967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Fail-Safes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075606" y="5002312"/>
            <a:ext cx="2699675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Fallback logic routes unknown queries to human review or suggests document uploads to expand coverage.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710" y="581521"/>
            <a:ext cx="2381587" cy="23816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7181" y="1264543"/>
            <a:ext cx="6989290" cy="22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Multi-Role Talent Portal &amp; Announcement System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40930" y="1654765"/>
            <a:ext cx="75988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role-aware portal supports Admin, Manager, and Trainee accounts with SQLite-backed storage.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47181" y="1851918"/>
            <a:ext cx="6989290" cy="339527"/>
          </a:xfrm>
          <a:prstGeom prst="rect">
            <a:avLst/>
          </a:prstGeom>
          <a:noFill/>
          <a:ln/>
        </p:spPr>
        <p:txBody>
          <a:bodyPr wrap="square" lIns="0" tIns="35323" rIns="0" bIns="0" rtlCol="0" anchor="t">
            <a:noAutofit/>
          </a:bodyPr>
          <a:lstStyle/>
          <a:p>
            <a:pPr marL="132080" indent="-132080" algn="l">
              <a:lnSpc>
                <a:spcPct val="98000"/>
              </a:lnSpc>
              <a:buSzPct val="100000"/>
              <a:buChar char="•"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Admin: system setup, user management, analytics export</a:t>
            </a:r>
            <a:endParaRPr lang="en-US" sz="1200" dirty="0"/>
          </a:p>
          <a:p>
            <a:pPr marL="132080" indent="-132080" algn="l">
              <a:lnSpc>
                <a:spcPct val="98000"/>
              </a:lnSpc>
              <a:buSzPct val="100000"/>
              <a:buChar char="•"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Manager: assign exams, view KPIs, publish announcements</a:t>
            </a:r>
            <a:endParaRPr lang="en-US" sz="1200" dirty="0"/>
          </a:p>
          <a:p>
            <a:pPr marL="132080" indent="-132080" algn="l">
              <a:lnSpc>
                <a:spcPct val="98000"/>
              </a:lnSpc>
              <a:buSzPct val="100000"/>
              <a:buChar char="•"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Trainee: take exams, view results, receive announcements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40930" y="2535026"/>
            <a:ext cx="6989290" cy="221853"/>
          </a:xfrm>
          <a:prstGeom prst="roundRect">
            <a:avLst>
              <a:gd name="adj" fmla="val 16718"/>
            </a:avLst>
          </a:prstGeom>
          <a:solidFill>
            <a:srgbClr val="F7EDD4"/>
          </a:solidFill>
          <a:ln/>
        </p:spPr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2959732-B044-B408-C36E-05D25E469CC9}"/>
              </a:ext>
            </a:extLst>
          </p:cNvPr>
          <p:cNvGrpSpPr/>
          <p:nvPr/>
        </p:nvGrpSpPr>
        <p:grpSpPr>
          <a:xfrm>
            <a:off x="4547181" y="2551425"/>
            <a:ext cx="7422269" cy="117445"/>
            <a:chOff x="4635483" y="2092355"/>
            <a:chExt cx="7422269" cy="117445"/>
          </a:xfrm>
        </p:grpSpPr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35483" y="2121495"/>
              <a:ext cx="110328" cy="88305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4834113" y="2092355"/>
              <a:ext cx="7223639" cy="1035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800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Announcements can be broadcast or targeted by role, team, or cohort.</a:t>
              </a:r>
              <a:endParaRPr lang="en-US" sz="1200" dirty="0"/>
            </a:p>
          </p:txBody>
        </p:sp>
      </p:grpSp>
      <p:sp>
        <p:nvSpPr>
          <p:cNvPr id="9" name="Shape 5"/>
          <p:cNvSpPr/>
          <p:nvPr/>
        </p:nvSpPr>
        <p:spPr>
          <a:xfrm>
            <a:off x="661475" y="3077865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454240">
              <a:alpha val="50000"/>
            </a:srgbClr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249" y="2886287"/>
            <a:ext cx="1904952" cy="19050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4FD98448-2FBB-27E0-14EC-0A77F0990368}"/>
              </a:ext>
            </a:extLst>
          </p:cNvPr>
          <p:cNvGrpSpPr/>
          <p:nvPr/>
        </p:nvGrpSpPr>
        <p:grpSpPr>
          <a:xfrm>
            <a:off x="5479019" y="3530465"/>
            <a:ext cx="6490431" cy="365522"/>
            <a:chOff x="5655625" y="3976985"/>
            <a:chExt cx="6490431" cy="365522"/>
          </a:xfrm>
        </p:grpSpPr>
        <p:sp>
          <p:nvSpPr>
            <p:cNvPr id="11" name="Text 6"/>
            <p:cNvSpPr/>
            <p:nvPr/>
          </p:nvSpPr>
          <p:spPr>
            <a:xfrm>
              <a:off x="5655625" y="3976985"/>
              <a:ext cx="5880846" cy="2207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5C4E3D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AI Exam Creation &amp; Auto-Grading</a:t>
              </a:r>
              <a:endParaRPr lang="en-US" sz="160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5655625" y="4238923"/>
              <a:ext cx="6490431" cy="1035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8000"/>
                </a:lnSpc>
                <a:buNone/>
              </a:pPr>
              <a:r>
                <a:rPr lang="en-US" sz="110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The exam engine ingests PDFs, generates assessments, assigns them, </a:t>
              </a:r>
            </a:p>
            <a:p>
              <a:pPr marL="0" indent="0" algn="l">
                <a:lnSpc>
                  <a:spcPct val="98000"/>
                </a:lnSpc>
                <a:buNone/>
              </a:pPr>
              <a:r>
                <a:rPr lang="en-US" sz="110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and grades automatically where possible.</a:t>
              </a:r>
              <a:endParaRPr lang="en-US" sz="1100" dirty="0"/>
            </a:p>
          </p:txBody>
        </p:sp>
      </p:grpSp>
      <p:sp>
        <p:nvSpPr>
          <p:cNvPr id="13" name="Text 8"/>
          <p:cNvSpPr/>
          <p:nvPr/>
        </p:nvSpPr>
        <p:spPr>
          <a:xfrm>
            <a:off x="682012" y="4624004"/>
            <a:ext cx="176605" cy="110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650" dirty="0"/>
          </a:p>
        </p:txBody>
      </p:sp>
      <p:sp>
        <p:nvSpPr>
          <p:cNvPr id="14" name="Shape 9"/>
          <p:cNvSpPr/>
          <p:nvPr/>
        </p:nvSpPr>
        <p:spPr>
          <a:xfrm>
            <a:off x="682012" y="4761323"/>
            <a:ext cx="5413736" cy="1270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5" name="Text 10"/>
          <p:cNvSpPr/>
          <p:nvPr/>
        </p:nvSpPr>
        <p:spPr>
          <a:xfrm>
            <a:off x="682012" y="4830875"/>
            <a:ext cx="5413736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Ingest &amp; Extract: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82012" y="5035663"/>
            <a:ext cx="541373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Parse PDFs and embed content.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36922" y="4624004"/>
            <a:ext cx="176605" cy="110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650" dirty="0"/>
          </a:p>
        </p:txBody>
      </p:sp>
      <p:sp>
        <p:nvSpPr>
          <p:cNvPr id="18" name="Shape 13"/>
          <p:cNvSpPr/>
          <p:nvPr/>
        </p:nvSpPr>
        <p:spPr>
          <a:xfrm>
            <a:off x="6136922" y="4761323"/>
            <a:ext cx="5413835" cy="1270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9" name="Text 14"/>
          <p:cNvSpPr/>
          <p:nvPr/>
        </p:nvSpPr>
        <p:spPr>
          <a:xfrm>
            <a:off x="6136922" y="4830875"/>
            <a:ext cx="5413835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Generate Questions: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36922" y="5026378"/>
            <a:ext cx="54138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MCQs, short answers, and code prompts.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82012" y="5204533"/>
            <a:ext cx="176605" cy="110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682012" y="5341852"/>
            <a:ext cx="5413736" cy="1270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3" name="Text 18"/>
          <p:cNvSpPr/>
          <p:nvPr/>
        </p:nvSpPr>
        <p:spPr>
          <a:xfrm>
            <a:off x="682012" y="5411404"/>
            <a:ext cx="5413736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Assign &amp; Proctor: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82012" y="5625915"/>
            <a:ext cx="541373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Schedule exams with time limits and logging.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136922" y="5204533"/>
            <a:ext cx="176605" cy="110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650" dirty="0"/>
          </a:p>
        </p:txBody>
      </p:sp>
      <p:sp>
        <p:nvSpPr>
          <p:cNvPr id="26" name="Shape 21"/>
          <p:cNvSpPr/>
          <p:nvPr/>
        </p:nvSpPr>
        <p:spPr>
          <a:xfrm>
            <a:off x="6136922" y="5341852"/>
            <a:ext cx="5413835" cy="1270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7" name="Text 22"/>
          <p:cNvSpPr/>
          <p:nvPr/>
        </p:nvSpPr>
        <p:spPr>
          <a:xfrm>
            <a:off x="6136922" y="5411404"/>
            <a:ext cx="5413835" cy="13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Grade &amp; Review: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136922" y="5625915"/>
            <a:ext cx="54138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rule-based scoring and human review for edge cases.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549"/>
            <a:ext cx="10868745" cy="28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Executive Analytics: KPI Charts &amp; Performance Insights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40347"/>
            <a:ext cx="3804745" cy="26112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827885"/>
            <a:ext cx="5853462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    Dashboard visualizes trainee score trends (bars) with pass-rate overlay (line). Metrics support cohort filtering, drill-down to question-level item analysis, and export for enterprise reporting.       </a:t>
            </a:r>
            <a:endParaRPr lang="en-US" sz="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512" y="1013718"/>
            <a:ext cx="1904952" cy="1905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7505" y="2995017"/>
            <a:ext cx="283064" cy="28307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797505" y="3362920"/>
            <a:ext cx="4738966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Score Distribution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6797505" y="3607693"/>
            <a:ext cx="4738966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Histogram and percentile bands to identify at-risk learners and high performers.</a:t>
            </a:r>
            <a:endParaRPr lang="en-US" sz="8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7505" y="3888383"/>
            <a:ext cx="283064" cy="28307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797505" y="4256286"/>
            <a:ext cx="4738966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Engagement KPIs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6797505" y="4501059"/>
            <a:ext cx="4738966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Completion rate, time-on-task, and sequence adherence for predictive success modeling.</a:t>
            </a:r>
            <a:endParaRPr lang="en-US" sz="8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7505" y="4781748"/>
            <a:ext cx="283064" cy="28307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797505" y="5149652"/>
            <a:ext cx="4738966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Operational Metrics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6797505" y="5394424"/>
            <a:ext cx="4738966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 throughput, auto-grade rate, and announcement reach for SLA and capacity planning.</a:t>
            </a:r>
            <a:endParaRPr lang="en-US" sz="850" dirty="0"/>
          </a:p>
        </p:txBody>
      </p:sp>
      <p:sp>
        <p:nvSpPr>
          <p:cNvPr id="15" name="Shape 8"/>
          <p:cNvSpPr/>
          <p:nvPr/>
        </p:nvSpPr>
        <p:spPr>
          <a:xfrm>
            <a:off x="6797505" y="5760641"/>
            <a:ext cx="4738966" cy="468511"/>
          </a:xfrm>
          <a:prstGeom prst="roundRect">
            <a:avLst>
              <a:gd name="adj" fmla="val 10154"/>
            </a:avLst>
          </a:prstGeom>
          <a:solidFill>
            <a:srgbClr val="F7EDD4"/>
          </a:solidFill>
          <a:ln/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0711" y="5865614"/>
            <a:ext cx="141482" cy="11320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165399" y="5849937"/>
            <a:ext cx="4257866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Next steps: integrate A/B testing for exam variants, add anomaly detection on performance dips, and enable scheduled executive reports.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421</Words>
  <Application>Microsoft Office PowerPoint</Application>
  <PresentationFormat>Widescreen</PresentationFormat>
  <Paragraphs>46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DM Sans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Reshekumar V</cp:lastModifiedBy>
  <cp:revision>2</cp:revision>
  <dcterms:created xsi:type="dcterms:W3CDTF">2026-08-23T07:46:42Z</dcterms:created>
  <dcterms:modified xsi:type="dcterms:W3CDTF">2026-08-23T07:52:46Z</dcterms:modified>
</cp:coreProperties>
</file>