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true" autoCompressPictures="0" embedTrueTypeFonts="true">
  <p:sldMasterIdLst>
    <p:sldMasterId id="2147483648" r:id="rId1"/>
  </p:sldMasterIdLst>
  <p:sldIdLst>
    <p:sldId id="256" r:id="rId2"/>
  </p:sldIdLst>
  <p:notesMasterIdLst>
    <p:notesMasterId r:id="rId3"/>
  </p:notesMasterIdLst>
  <p:sldSz cx="12191695" cy="6858000"/>
  <p:notesSz cx="6858000" cy="12191695"/>
  <p:embeddedFontLst>
    <p:embeddedFont>
      <p:font typeface="DM Sans"/>
      <p:regular r:id="rId201314"/>
    </p:embeddedFont>
    <p:embeddedFont>
      <p:font typeface="DM Sans Bold"/>
      <p:regular r:id="rId201315"/>
    </p:embeddedFont>
    <p:embeddedFont>
      <p:font typeface="Libre Baskerville"/>
      <p:regular r:id="rId201316"/>
    </p:embeddedFont>
    <p:embeddedFont>
      <p:font typeface="Libre Baskerville Bold"/>
      <p:regular r:id="rId201317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Relationship Id="rId201314" Target="fonts/201314.fntdata" Type="http://schemas.openxmlformats.org/officeDocument/2006/relationships/font"/><Relationship Id="rId201315" Target="fonts/201315.fntdata" Type="http://schemas.openxmlformats.org/officeDocument/2006/relationships/font"/><Relationship Id="rId201316" Target="fonts/201316.fntdata" Type="http://schemas.openxmlformats.org/officeDocument/2006/relationships/font"/><Relationship Id="rId201317" Target="fonts/201317.fntdata" Type="http://schemas.openxmlformats.org/officeDocument/2006/relationships/font"/><Relationship Id="rId201318" Target="fonts/201318.fntdata" Type="http://schemas.openxmlformats.org/officeDocument/2006/relationships/font"/><Relationship Id="rId201319" Target="fonts/201319.fntdata" Type="http://schemas.openxmlformats.org/officeDocument/2006/relationships/font"/><Relationship Id="rId201320" Target="fonts/201320.fntdata" Type="http://schemas.openxmlformats.org/officeDocument/2006/relationships/font"/><Relationship Id="rId201321" Target="fonts/201321.fntdata" Type="http://schemas.openxmlformats.org/officeDocument/2006/relationships/font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2-1.jpeg"/><Relationship Id="rId2" Type="http://schemas.openxmlformats.org/officeDocument/2006/relationships/image" Target="../media/image-1002-2.png"/><Relationship Id="rId4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DFA"/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76875" y="65589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svg"/><Relationship Id="rId4" Type="http://schemas.openxmlformats.org/officeDocument/2006/relationships/image" Target="../media/image-1-2.png"/><Relationship Id="rId5" Type="http://schemas.openxmlformats.org/officeDocument/2006/relationships/image" Target="../media/image-1-3.svg"/><Relationship Id="rId6" Type="http://schemas.openxmlformats.org/officeDocument/2006/relationships/image" Target="../media/image-1-6.png"/><Relationship Id="rId7" Type="http://schemas.openxmlformats.org/officeDocument/2006/relationships/image" Target="../media/image-1-7.svg"/><Relationship Id="rId8" Type="http://schemas.openxmlformats.org/officeDocument/2006/relationships/image" Target="../media/image-1-6.png"/><Relationship Id="rId9" Type="http://schemas.openxmlformats.org/officeDocument/2006/relationships/image" Target="../media/image-1-7.svg"/><Relationship Id="rId10" Type="http://schemas.openxmlformats.org/officeDocument/2006/relationships/image" Target="../media/image-1-10.png"/><Relationship Id="rId11" Type="http://schemas.openxmlformats.org/officeDocument/2006/relationships/image" Target="../media/image-1-11.svg"/><Relationship Id="rId12" Type="http://schemas.openxmlformats.org/officeDocument/2006/relationships/slideLayout" Target="../slideLayouts/slideLayout2.xml"/><Relationship Id="rId13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4571886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233360" y="694234"/>
            <a:ext cx="6296860" cy="8268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600" dirty="0">
                <a:solidFill>
                  <a:srgbClr val="5C4E3D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The Problem: Friction Points in Talent Development</a:t>
            </a:r>
            <a:endParaRPr lang="en-US" sz="2600" dirty="0"/>
          </a:p>
        </p:txBody>
      </p:sp>
      <p:sp>
        <p:nvSpPr>
          <p:cNvPr id="4" name="Text 1"/>
          <p:cNvSpPr/>
          <p:nvPr/>
        </p:nvSpPr>
        <p:spPr>
          <a:xfrm>
            <a:off x="5233360" y="1660029"/>
            <a:ext cx="6296860" cy="35996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100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Modern corporate tech onboarding and employee skill development programs face five major challenges:</a:t>
            </a:r>
            <a:endParaRPr lang="en-US" sz="1000" dirty="0"/>
          </a:p>
        </p:txBody>
      </p:sp>
      <p:pic>
        <p:nvPicPr>
          <p:cNvPr id="5" name="Image 1" descr="preencoded.png">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233360" y="2124174"/>
            <a:ext cx="3102096" cy="1464766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5460863" y="2275483"/>
            <a:ext cx="2723288" cy="2066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Generic Learning Paths</a:t>
            </a:r>
            <a:endParaRPr lang="en-US" sz="1300" dirty="0"/>
          </a:p>
        </p:txBody>
      </p:sp>
      <p:sp>
        <p:nvSpPr>
          <p:cNvPr id="7" name="Text 3"/>
          <p:cNvSpPr/>
          <p:nvPr/>
        </p:nvSpPr>
        <p:spPr>
          <a:xfrm>
            <a:off x="5460863" y="2537718"/>
            <a:ext cx="2723288" cy="71993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100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Standard training programs treat every employee identically, failing to adapt to individual learning paces, skill gaps, or weak technical areas.</a:t>
            </a:r>
            <a:endParaRPr lang="en-US" sz="1000" dirty="0"/>
          </a:p>
        </p:txBody>
      </p:sp>
      <p:pic>
        <p:nvPicPr>
          <p:cNvPr id="8" name="Image 2" descr="preencoded.png">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8428025" y="2124174"/>
            <a:ext cx="3102195" cy="1464766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8655528" y="2275483"/>
            <a:ext cx="2723387" cy="2066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Superficial Evaluations</a:t>
            </a:r>
            <a:endParaRPr lang="en-US" sz="1300" dirty="0"/>
          </a:p>
        </p:txBody>
      </p:sp>
      <p:sp>
        <p:nvSpPr>
          <p:cNvPr id="10" name="Text 5"/>
          <p:cNvSpPr/>
          <p:nvPr/>
        </p:nvSpPr>
        <p:spPr>
          <a:xfrm>
            <a:off x="8655528" y="2537718"/>
            <a:ext cx="2723387" cy="89991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100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Multiple-choice quizzes test rote memory rather than real-world technical defense, architectural reasoning, and verbal communication skills required for stakeholder demos.</a:t>
            </a:r>
            <a:endParaRPr lang="en-US" sz="1000" dirty="0"/>
          </a:p>
        </p:txBody>
      </p:sp>
      <p:pic>
        <p:nvPicPr>
          <p:cNvPr id="11" name="Image 3" descr="preencoded.png">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5233360" y="3681512"/>
            <a:ext cx="3102096" cy="1284784"/>
          </a:xfrm>
          <a:prstGeom prst="rect">
            <a:avLst/>
          </a:prstGeom>
        </p:spPr>
      </p:pic>
      <p:sp>
        <p:nvSpPr>
          <p:cNvPr id="12" name="Text 6"/>
          <p:cNvSpPr/>
          <p:nvPr/>
        </p:nvSpPr>
        <p:spPr>
          <a:xfrm>
            <a:off x="5460863" y="3832820"/>
            <a:ext cx="2723288" cy="2066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Information Overload</a:t>
            </a:r>
            <a:endParaRPr lang="en-US" sz="1300" dirty="0"/>
          </a:p>
        </p:txBody>
      </p:sp>
      <p:sp>
        <p:nvSpPr>
          <p:cNvPr id="13" name="Text 7"/>
          <p:cNvSpPr/>
          <p:nvPr/>
        </p:nvSpPr>
        <p:spPr>
          <a:xfrm>
            <a:off x="5460863" y="4095055"/>
            <a:ext cx="2723288" cy="71993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100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Internal documentation, PDF study guides, and technical specs are fragmented and difficult for trainees to search or digest quickly.</a:t>
            </a:r>
            <a:endParaRPr lang="en-US" sz="1000" dirty="0"/>
          </a:p>
        </p:txBody>
      </p:sp>
      <p:pic>
        <p:nvPicPr>
          <p:cNvPr id="14" name="Image 4" descr="preencoded.png">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8428025" y="3681512"/>
            <a:ext cx="3102195" cy="1284784"/>
          </a:xfrm>
          <a:prstGeom prst="rect">
            <a:avLst/>
          </a:prstGeom>
        </p:spPr>
      </p:pic>
      <p:sp>
        <p:nvSpPr>
          <p:cNvPr id="15" name="Text 8"/>
          <p:cNvSpPr/>
          <p:nvPr/>
        </p:nvSpPr>
        <p:spPr>
          <a:xfrm>
            <a:off x="8655528" y="3832820"/>
            <a:ext cx="2723387" cy="2066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Management Blindspots</a:t>
            </a:r>
            <a:endParaRPr lang="en-US" sz="1300" dirty="0"/>
          </a:p>
        </p:txBody>
      </p:sp>
      <p:sp>
        <p:nvSpPr>
          <p:cNvPr id="16" name="Text 9"/>
          <p:cNvSpPr/>
          <p:nvPr/>
        </p:nvSpPr>
        <p:spPr>
          <a:xfrm>
            <a:off x="8655528" y="4095055"/>
            <a:ext cx="2723387" cy="5399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100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Managers and HR leads lack real-time data on trainee performance bottlenecks, struggle metrics, and assessment integrity.</a:t>
            </a:r>
            <a:endParaRPr lang="en-US" sz="1000" dirty="0"/>
          </a:p>
        </p:txBody>
      </p:sp>
      <p:pic>
        <p:nvPicPr>
          <p:cNvPr id="17" name="Image 5" descr="preencoded.png">    </p:cNvPr>
          <p:cNvPicPr>
            <a:picLocks noChangeAspect="1"/>
          </p:cNvPicPr>
          <p:nvPr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5233360" y="5058866"/>
            <a:ext cx="3102096" cy="1104801"/>
          </a:xfrm>
          <a:prstGeom prst="rect">
            <a:avLst/>
          </a:prstGeom>
        </p:spPr>
      </p:pic>
      <p:sp>
        <p:nvSpPr>
          <p:cNvPr id="18" name="Text 10"/>
          <p:cNvSpPr/>
          <p:nvPr/>
        </p:nvSpPr>
        <p:spPr>
          <a:xfrm>
            <a:off x="5460863" y="5210175"/>
            <a:ext cx="2723288" cy="2066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Remote Assessment Risks</a:t>
            </a:r>
            <a:endParaRPr lang="en-US" sz="1300" dirty="0"/>
          </a:p>
        </p:txBody>
      </p:sp>
      <p:sp>
        <p:nvSpPr>
          <p:cNvPr id="19" name="Text 11"/>
          <p:cNvSpPr/>
          <p:nvPr/>
        </p:nvSpPr>
        <p:spPr>
          <a:xfrm>
            <a:off x="5460863" y="5472410"/>
            <a:ext cx="2723288" cy="5399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100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Unmonitored evaluations make score reliability questionable in hybrid or remote corporate environments.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/>
  <cp:revision>1</cp:revision>
  <dcterms:created xsi:type="dcterms:W3CDTF">2026-08-26T13:41:03Z</dcterms:created>
  <dcterms:modified xsi:type="dcterms:W3CDTF">2026-08-26T13:41:03Z</dcterms:modified>
</cp:coreProperties>
</file>