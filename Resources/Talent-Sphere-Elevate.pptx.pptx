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DM Sans" charset="1" panose="00000000000000000000"/>
      <p:regular r:id="rId15"/>
    </p:embeddedFont>
    <p:embeddedFont>
      <p:font typeface="Libre Baskerville" charset="1" panose="02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6182" y="3311185"/>
            <a:ext cx="1670523" cy="431044"/>
            <a:chOff x="0" y="0"/>
            <a:chExt cx="2227364" cy="574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7326" cy="574675"/>
            </a:xfrm>
            <a:custGeom>
              <a:avLst/>
              <a:gdLst/>
              <a:ahLst/>
              <a:cxnLst/>
              <a:rect r="r" b="b" t="t" l="l"/>
              <a:pathLst>
                <a:path h="574675" w="2227326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2100199" y="0"/>
                  </a:lnTo>
                  <a:cubicBezTo>
                    <a:pt x="2170430" y="0"/>
                    <a:pt x="2227326" y="56896"/>
                    <a:pt x="2227326" y="127127"/>
                  </a:cubicBezTo>
                  <a:lnTo>
                    <a:pt x="2227326" y="447548"/>
                  </a:lnTo>
                  <a:cubicBezTo>
                    <a:pt x="2227326" y="517779"/>
                    <a:pt x="2170430" y="574675"/>
                    <a:pt x="2100199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26422" y="3415284"/>
            <a:ext cx="2245138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MILESTONE 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663722" y="3306423"/>
            <a:ext cx="2793082" cy="440579"/>
            <a:chOff x="0" y="0"/>
            <a:chExt cx="3724110" cy="5874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24148" cy="587375"/>
            </a:xfrm>
            <a:custGeom>
              <a:avLst/>
              <a:gdLst/>
              <a:ahLst/>
              <a:cxnLst/>
              <a:rect r="r" b="b" t="t" l="l"/>
              <a:pathLst>
                <a:path h="587375" w="3724148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3594227" y="0"/>
                  </a:lnTo>
                  <a:cubicBezTo>
                    <a:pt x="3665982" y="0"/>
                    <a:pt x="3724148" y="58166"/>
                    <a:pt x="3724148" y="129921"/>
                  </a:cubicBezTo>
                  <a:lnTo>
                    <a:pt x="3724148" y="457454"/>
                  </a:lnTo>
                  <a:cubicBezTo>
                    <a:pt x="3724148" y="529209"/>
                    <a:pt x="3665982" y="587375"/>
                    <a:pt x="3594227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534" r="1" b="-73545"/>
              </a:stretch>
            </a:blipFill>
            <a:ln w="9532" cap="sq">
              <a:solidFill>
                <a:srgbClr val="B88E23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838725" y="3415284"/>
            <a:ext cx="3358163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B88E23"/>
                </a:solidFill>
                <a:latin typeface="DM Sans"/>
                <a:ea typeface="DM Sans"/>
                <a:cs typeface="DM Sans"/>
                <a:sym typeface="DM Sans"/>
              </a:rPr>
              <a:t>SECURE ON-PREM RAG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6182" y="3817630"/>
            <a:ext cx="9452677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Talent Sphere Elevate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6182" y="5082207"/>
            <a:ext cx="9452677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high-end, secure, offline document intelligence and Retrieval-Augmented Generation dashboard. Upload private documents — training guides, company policy PDFs — and query them in natural language, all within a fully local environment.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36574"/>
            <a:ext cx="16315868" cy="3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 &amp; Lifecycle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292857"/>
            <a:ext cx="16315868" cy="63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From Upload to Answer in Four Stages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112502"/>
            <a:ext cx="17230954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Every operation — text extraction, vector embedding, and LLM generation — runs locally on the host machine. No data ever leaves the network perimeter.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73566" y="2567654"/>
            <a:ext cx="6354709" cy="6354718"/>
            <a:chOff x="0" y="0"/>
            <a:chExt cx="8472945" cy="8472957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472932" cy="8472932"/>
            </a:xfrm>
            <a:custGeom>
              <a:avLst/>
              <a:gdLst/>
              <a:ahLst/>
              <a:cxnLst/>
              <a:rect r="r" b="b" t="t" l="l"/>
              <a:pathLst>
                <a:path h="8472932" w="8472932">
                  <a:moveTo>
                    <a:pt x="0" y="0"/>
                  </a:moveTo>
                  <a:lnTo>
                    <a:pt x="8472932" y="0"/>
                  </a:lnTo>
                  <a:lnTo>
                    <a:pt x="8472932" y="8472932"/>
                  </a:lnTo>
                  <a:lnTo>
                    <a:pt x="0" y="847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90795" y="3503914"/>
            <a:ext cx="2047561" cy="65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Document Ingestion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0795" y="4266305"/>
            <a:ext cx="2047561" cy="63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5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PDF upload, SHA-256 dedup, PyPDF parsing.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74457" y="3555311"/>
            <a:ext cx="2047561" cy="33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Chunking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74457" y="3996480"/>
            <a:ext cx="2047561" cy="85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5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1000-char chunks with 200-char overlap for continuity.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0976" y="6587471"/>
            <a:ext cx="2047561" cy="65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Vector Indexing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0976" y="7349871"/>
            <a:ext cx="2047561" cy="636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5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BAAI bge-large 1024-dim embeddings stored in ChromaDB.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74457" y="6478257"/>
            <a:ext cx="2047561" cy="651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5"/>
              </a:lnSpc>
            </a:pPr>
            <a:r>
              <a:rPr lang="en-US" sz="19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RAG &amp; Generation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4457" y="7240648"/>
            <a:ext cx="2047561" cy="85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3"/>
              </a:lnSpc>
            </a:pPr>
            <a:r>
              <a:rPr lang="en-US" sz="157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Query embed, top-K cosine retrieval, Qwen via Ollama HTTP.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9050188"/>
            <a:ext cx="17230954" cy="298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Each stage hands off structured data to the next, forming a deterministic, auditable pipeline from raw PDF to cited answer.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978122"/>
            <a:ext cx="2010547" cy="431044"/>
            <a:chOff x="0" y="0"/>
            <a:chExt cx="2680729" cy="57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0716" cy="574675"/>
            </a:xfrm>
            <a:custGeom>
              <a:avLst/>
              <a:gdLst/>
              <a:ahLst/>
              <a:cxnLst/>
              <a:rect r="r" b="b" t="t" l="l"/>
              <a:pathLst>
                <a:path h="574675" w="2680716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2553589" y="0"/>
                  </a:lnTo>
                  <a:cubicBezTo>
                    <a:pt x="2623820" y="0"/>
                    <a:pt x="2680716" y="56896"/>
                    <a:pt x="2680716" y="127127"/>
                  </a:cubicBezTo>
                  <a:lnTo>
                    <a:pt x="2680716" y="447548"/>
                  </a:lnTo>
                  <a:cubicBezTo>
                    <a:pt x="2680716" y="517779"/>
                    <a:pt x="2623820" y="574675"/>
                    <a:pt x="2553589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3231" y="1082211"/>
            <a:ext cx="2585161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TECHNOLOGIES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1484557"/>
            <a:ext cx="16315868" cy="924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Engineering the Local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2749134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Every layer was selected to guarantee zero external dependencies while maintaining production-grade performance.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991" y="3608032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56876" y="3588982"/>
            <a:ext cx="691665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Streamlit 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6876" y="4135812"/>
            <a:ext cx="6916655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Builds the interactive dashboard UI with rapid prototyping and live reload support.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28156" y="3608032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332" r="0" b="-73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392042" y="3588982"/>
            <a:ext cx="691680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ChromaDB Vector Store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92042" y="4135812"/>
            <a:ext cx="6916807" cy="100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Serverless local database at ./chroma_db for indexing dense embeddings and metadata.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991" y="5706513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56876" y="5687463"/>
            <a:ext cx="691665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BAAI/bge-large-en-v1.5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6876" y="6234284"/>
            <a:ext cx="6916655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Sentence-Transformers model producing 1024-dimensional embeddings for semantic retrieval.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328156" y="5706513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5331" r="0" b="-533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92042" y="5687463"/>
            <a:ext cx="691680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Ollama + Qwen LLM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92042" y="6234284"/>
            <a:ext cx="6916807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Local API on port 11434 hosting Qwen for context-aware, cited answer generation.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92991" y="779546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9332" r="0" b="-933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56876" y="7776410"/>
            <a:ext cx="691665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PyPDF Parser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56876" y="8323231"/>
            <a:ext cx="6916655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Handles digital PDF text extraction with cleaning and structural preservation.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328156" y="7795460"/>
            <a:ext cx="709260" cy="709270"/>
          </a:xfrm>
          <a:custGeom>
            <a:avLst/>
            <a:gdLst/>
            <a:ahLst/>
            <a:cxnLst/>
            <a:rect r="r" b="b" t="t" l="l"/>
            <a:pathLst>
              <a:path h="709270" w="70926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667" t="0" r="-667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0392042" y="7776410"/>
            <a:ext cx="6916807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Pandas Data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92042" y="8323231"/>
            <a:ext cx="6916807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Manages plotting, visual calculations, and tabular data structures.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991" y="3321758"/>
            <a:ext cx="2956627" cy="431044"/>
            <a:chOff x="0" y="0"/>
            <a:chExt cx="3942169" cy="574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2207" cy="574675"/>
            </a:xfrm>
            <a:custGeom>
              <a:avLst/>
              <a:gdLst/>
              <a:ahLst/>
              <a:cxnLst/>
              <a:rect r="r" b="b" t="t" l="l"/>
              <a:pathLst>
                <a:path h="574675" w="394220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3815080" y="0"/>
                  </a:lnTo>
                  <a:cubicBezTo>
                    <a:pt x="3885311" y="0"/>
                    <a:pt x="3942207" y="56896"/>
                    <a:pt x="3942207" y="127127"/>
                  </a:cubicBezTo>
                  <a:lnTo>
                    <a:pt x="3942207" y="447548"/>
                  </a:lnTo>
                  <a:cubicBezTo>
                    <a:pt x="3942207" y="517779"/>
                    <a:pt x="3885311" y="574675"/>
                    <a:pt x="3815080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3231" y="3425857"/>
            <a:ext cx="3531232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DASHBOARD OUTCOMES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3828202"/>
            <a:ext cx="9452677" cy="181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Cockpit for Document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5979443"/>
            <a:ext cx="9452677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main dashboard delivers hands-on control over every stage of the RAG pipeline — from theming to retrieval tuning to visual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47496"/>
            <a:ext cx="16315868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Dashboard Capabilities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328737"/>
            <a:ext cx="16315868" cy="807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Built for Control and Transparency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2734770"/>
            <a:ext cx="4241235" cy="3119342"/>
            <a:chOff x="0" y="0"/>
            <a:chExt cx="5654980" cy="41591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55056" cy="4159250"/>
            </a:xfrm>
            <a:custGeom>
              <a:avLst/>
              <a:gdLst/>
              <a:ahLst/>
              <a:cxnLst/>
              <a:rect r="r" b="b" t="t" l="l"/>
              <a:pathLst>
                <a:path h="4159250" w="5655056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5511546" y="0"/>
                  </a:lnTo>
                  <a:cubicBezTo>
                    <a:pt x="5590794" y="0"/>
                    <a:pt x="5655056" y="64262"/>
                    <a:pt x="5655056" y="143510"/>
                  </a:cubicBezTo>
                  <a:lnTo>
                    <a:pt x="5655056" y="4015740"/>
                  </a:lnTo>
                  <a:cubicBezTo>
                    <a:pt x="5655056" y="4094988"/>
                    <a:pt x="5590794" y="4159250"/>
                    <a:pt x="5511546" y="4159250"/>
                  </a:cubicBezTo>
                  <a:lnTo>
                    <a:pt x="143510" y="4159250"/>
                  </a:lnTo>
                  <a:cubicBezTo>
                    <a:pt x="64262" y="4159250"/>
                    <a:pt x="0" y="4094988"/>
                    <a:pt x="0" y="4015740"/>
                  </a:cubicBezTo>
                  <a:close/>
                </a:path>
              </a:pathLst>
            </a:custGeom>
            <a:solidFill>
              <a:srgbClr val="F7EDD4"/>
            </a:solidFill>
            <a:ln w="9532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57805" y="3004356"/>
            <a:ext cx="3702072" cy="79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Dynamic Theme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7805" y="3984308"/>
            <a:ext cx="3702072" cy="160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Toggles between midnight dark glassmorphism and a clean Slate Light Mode for extended reading sessions.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449738" y="2734770"/>
            <a:ext cx="4241387" cy="3119342"/>
            <a:chOff x="0" y="0"/>
            <a:chExt cx="5655183" cy="4159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55310" cy="4159250"/>
            </a:xfrm>
            <a:custGeom>
              <a:avLst/>
              <a:gdLst/>
              <a:ahLst/>
              <a:cxnLst/>
              <a:rect r="r" b="b" t="t" l="l"/>
              <a:pathLst>
                <a:path h="4159250" w="5655310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5511800" y="0"/>
                  </a:lnTo>
                  <a:cubicBezTo>
                    <a:pt x="5591048" y="0"/>
                    <a:pt x="5655310" y="64262"/>
                    <a:pt x="5655310" y="143510"/>
                  </a:cubicBezTo>
                  <a:lnTo>
                    <a:pt x="5655310" y="4015740"/>
                  </a:lnTo>
                  <a:cubicBezTo>
                    <a:pt x="5655310" y="4094988"/>
                    <a:pt x="5591048" y="4159250"/>
                    <a:pt x="5511800" y="4159250"/>
                  </a:cubicBezTo>
                  <a:lnTo>
                    <a:pt x="143510" y="4159250"/>
                  </a:lnTo>
                  <a:cubicBezTo>
                    <a:pt x="64262" y="4159250"/>
                    <a:pt x="0" y="4094988"/>
                    <a:pt x="0" y="4015740"/>
                  </a:cubicBezTo>
                  <a:close/>
                </a:path>
              </a:pathLst>
            </a:custGeom>
            <a:solidFill>
              <a:srgbClr val="F7EDD4"/>
            </a:solidFill>
            <a:ln w="9532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719324" y="3004356"/>
            <a:ext cx="3702225" cy="79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Document Catalog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19324" y="3984308"/>
            <a:ext cx="3702225" cy="160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Browse indexed documents, expand text chunks inline, or safely delete files from the local index.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8219" y="6074407"/>
            <a:ext cx="4241235" cy="3119342"/>
            <a:chOff x="0" y="0"/>
            <a:chExt cx="5654980" cy="41591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5056" cy="4159250"/>
            </a:xfrm>
            <a:custGeom>
              <a:avLst/>
              <a:gdLst/>
              <a:ahLst/>
              <a:cxnLst/>
              <a:rect r="r" b="b" t="t" l="l"/>
              <a:pathLst>
                <a:path h="4159250" w="5655056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5511546" y="0"/>
                  </a:lnTo>
                  <a:cubicBezTo>
                    <a:pt x="5590794" y="0"/>
                    <a:pt x="5655056" y="64262"/>
                    <a:pt x="5655056" y="143510"/>
                  </a:cubicBezTo>
                  <a:lnTo>
                    <a:pt x="5655056" y="4015740"/>
                  </a:lnTo>
                  <a:cubicBezTo>
                    <a:pt x="5655056" y="4094988"/>
                    <a:pt x="5590794" y="4159250"/>
                    <a:pt x="5511546" y="4159250"/>
                  </a:cubicBezTo>
                  <a:lnTo>
                    <a:pt x="143510" y="4159250"/>
                  </a:lnTo>
                  <a:cubicBezTo>
                    <a:pt x="64262" y="4159250"/>
                    <a:pt x="0" y="4094988"/>
                    <a:pt x="0" y="4015740"/>
                  </a:cubicBezTo>
                  <a:close/>
                </a:path>
              </a:pathLst>
            </a:custGeom>
            <a:solidFill>
              <a:srgbClr val="F7EDD4"/>
            </a:solidFill>
            <a:ln w="9532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805" y="6343993"/>
            <a:ext cx="3702072" cy="797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Search Control Cockpit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7805" y="7323934"/>
            <a:ext cx="3702072" cy="160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Adjust Top-K parameters, similarity thresholds, file multi-selects, and model lists directly on the main page.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449738" y="6074407"/>
            <a:ext cx="4241387" cy="3119342"/>
            <a:chOff x="0" y="0"/>
            <a:chExt cx="5655183" cy="4159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55310" cy="4159250"/>
            </a:xfrm>
            <a:custGeom>
              <a:avLst/>
              <a:gdLst/>
              <a:ahLst/>
              <a:cxnLst/>
              <a:rect r="r" b="b" t="t" l="l"/>
              <a:pathLst>
                <a:path h="4159250" w="5655310">
                  <a:moveTo>
                    <a:pt x="0" y="143510"/>
                  </a:moveTo>
                  <a:cubicBezTo>
                    <a:pt x="0" y="64262"/>
                    <a:pt x="64262" y="0"/>
                    <a:pt x="143510" y="0"/>
                  </a:cubicBezTo>
                  <a:lnTo>
                    <a:pt x="5511800" y="0"/>
                  </a:lnTo>
                  <a:cubicBezTo>
                    <a:pt x="5591048" y="0"/>
                    <a:pt x="5655310" y="64262"/>
                    <a:pt x="5655310" y="143510"/>
                  </a:cubicBezTo>
                  <a:lnTo>
                    <a:pt x="5655310" y="4015740"/>
                  </a:lnTo>
                  <a:cubicBezTo>
                    <a:pt x="5655310" y="4094988"/>
                    <a:pt x="5591048" y="4159250"/>
                    <a:pt x="5511800" y="4159250"/>
                  </a:cubicBezTo>
                  <a:lnTo>
                    <a:pt x="143510" y="4159250"/>
                  </a:lnTo>
                  <a:cubicBezTo>
                    <a:pt x="64262" y="4159250"/>
                    <a:pt x="0" y="4094988"/>
                    <a:pt x="0" y="4015740"/>
                  </a:cubicBezTo>
                  <a:close/>
                </a:path>
              </a:pathLst>
            </a:custGeom>
            <a:solidFill>
              <a:srgbClr val="F7EDD4"/>
            </a:solidFill>
            <a:ln w="9532" cap="sq">
              <a:solidFill>
                <a:srgbClr val="DDD3B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719324" y="6343993"/>
            <a:ext cx="3702225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Visual Verification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19324" y="6925066"/>
            <a:ext cx="3702225" cy="160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 regex highlighter for search terms and a horizontal relevance spectrum meter displaying similarity scores.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0134971" y="2480967"/>
            <a:ext cx="7367054" cy="6966585"/>
            <a:chOff x="0" y="0"/>
            <a:chExt cx="9822739" cy="92887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22688" cy="9288780"/>
            </a:xfrm>
            <a:custGeom>
              <a:avLst/>
              <a:gdLst/>
              <a:ahLst/>
              <a:cxnLst/>
              <a:rect r="r" b="b" t="t" l="l"/>
              <a:pathLst>
                <a:path h="9288780" w="9822688">
                  <a:moveTo>
                    <a:pt x="0" y="245110"/>
                  </a:moveTo>
                  <a:cubicBezTo>
                    <a:pt x="0" y="109728"/>
                    <a:pt x="109728" y="0"/>
                    <a:pt x="245110" y="0"/>
                  </a:cubicBezTo>
                  <a:lnTo>
                    <a:pt x="9577578" y="0"/>
                  </a:lnTo>
                  <a:cubicBezTo>
                    <a:pt x="9712960" y="0"/>
                    <a:pt x="9822688" y="109728"/>
                    <a:pt x="9822688" y="245110"/>
                  </a:cubicBezTo>
                  <a:lnTo>
                    <a:pt x="9822688" y="9043670"/>
                  </a:lnTo>
                  <a:cubicBezTo>
                    <a:pt x="9822688" y="9179051"/>
                    <a:pt x="9712960" y="9288780"/>
                    <a:pt x="9577578" y="9288780"/>
                  </a:cubicBezTo>
                  <a:lnTo>
                    <a:pt x="245110" y="9288780"/>
                  </a:lnTo>
                  <a:cubicBezTo>
                    <a:pt x="109728" y="9288780"/>
                    <a:pt x="0" y="9179052"/>
                    <a:pt x="0" y="9043670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390261" y="2710786"/>
            <a:ext cx="6856486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Security Guarantee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90261" y="3291859"/>
            <a:ext cx="6856486" cy="8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All operations — text extraction, vector embedding, and LLM generation — occur locally on the host machine.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390261" y="4438098"/>
            <a:ext cx="6856486" cy="28594"/>
            <a:chOff x="0" y="0"/>
            <a:chExt cx="9141981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1968" cy="38100"/>
            </a:xfrm>
            <a:custGeom>
              <a:avLst/>
              <a:gdLst/>
              <a:ahLst/>
              <a:cxnLst/>
              <a:rect r="r" b="b" t="t" l="l"/>
              <a:pathLst>
                <a:path h="38100" w="914196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122918" y="0"/>
                  </a:lnTo>
                  <a:cubicBezTo>
                    <a:pt x="9133460" y="0"/>
                    <a:pt x="9141968" y="8509"/>
                    <a:pt x="9141968" y="19050"/>
                  </a:cubicBezTo>
                  <a:cubicBezTo>
                    <a:pt x="9141968" y="29591"/>
                    <a:pt x="9133460" y="38100"/>
                    <a:pt x="912291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390261" y="4789008"/>
            <a:ext cx="6856486" cy="3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Privacy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90261" y="5370081"/>
            <a:ext cx="6856486" cy="823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data is sent to external cloud APIs, ensuring absolute confidentiality for sensitive enterprise documents.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0792"/>
            <a:ext cx="16315868" cy="35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Milestone 1 Recap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180548"/>
            <a:ext cx="16315868" cy="71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sz="4353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Ships in This Release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343249" y="2161784"/>
            <a:ext cx="7615342" cy="6519005"/>
            <a:chOff x="0" y="0"/>
            <a:chExt cx="10153790" cy="869200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153777" cy="8692007"/>
            </a:xfrm>
            <a:custGeom>
              <a:avLst/>
              <a:gdLst/>
              <a:ahLst/>
              <a:cxnLst/>
              <a:rect r="r" b="b" t="t" l="l"/>
              <a:pathLst>
                <a:path h="8692007" w="10153777">
                  <a:moveTo>
                    <a:pt x="0" y="0"/>
                  </a:moveTo>
                  <a:lnTo>
                    <a:pt x="10153777" y="0"/>
                  </a:lnTo>
                  <a:lnTo>
                    <a:pt x="10153777" y="8692007"/>
                  </a:lnTo>
                  <a:lnTo>
                    <a:pt x="0" y="8692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936380" y="4106494"/>
            <a:ext cx="2987145" cy="37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Fully Local Pipeline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9148" y="3701044"/>
            <a:ext cx="2558253" cy="74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Cited RAG Answers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3076" y="6755359"/>
            <a:ext cx="2218887" cy="743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Tunable Retrieval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850154"/>
            <a:ext cx="16315868" cy="66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5"/>
              </a:lnSpc>
            </a:pPr>
            <a:r>
              <a:rPr lang="en-US" sz="172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Milestone 1 establishes the secure foundation: a complete, offline RAG pipeline with an interactive dashboard — ready for internal evaluation by technical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DAHPGM8g75Q</dc:identifier>
  <dcterms:modified xsi:type="dcterms:W3CDTF">2011-08-01T06:04:30Z</dcterms:modified>
  <cp:revision>1</cp:revision>
  <dc:title>Talent-Sphere-Elevate.pptx</dc:title>
</cp:coreProperties>
</file>