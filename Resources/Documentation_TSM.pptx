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4" r:id="rId6"/>
    <p:sldId id="265" r:id="rId7"/>
    <p:sldId id="268" r:id="rId8"/>
    <p:sldId id="269" r:id="rId9"/>
    <p:sldId id="271" r:id="rId10"/>
    <p:sldId id="272" r:id="rId11"/>
  </p:sldIdLst>
  <p:sldSz cx="18288000" cy="10287000"/>
  <p:notesSz cx="6858000" cy="9144000"/>
  <p:embeddedFontLst>
    <p:embeddedFont>
      <p:font typeface="DM Sans" pitchFamily="2" charset="0"/>
      <p:regular r:id="rId13"/>
    </p:embeddedFont>
    <p:embeddedFont>
      <p:font typeface="DM Sans Italics" panose="020B0604020202020204" charset="0"/>
      <p:regular r:id="rId14"/>
    </p:embeddedFont>
    <p:embeddedFont>
      <p:font typeface="Libre Baskerville" panose="02000000000000000000" pitchFamily="2" charset="0"/>
      <p:regular r:id="rId15"/>
    </p:embeddedFont>
    <p:embeddedFont>
      <p:font typeface="Libre Baskerville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33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jpe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7829" cy="10287000"/>
            <a:chOff x="0" y="0"/>
            <a:chExt cx="9143771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3746" cy="13716000"/>
            </a:xfrm>
            <a:custGeom>
              <a:avLst/>
              <a:gdLst/>
              <a:ahLst/>
              <a:cxnLst/>
              <a:rect l="l" t="t" r="r" b="b"/>
              <a:pathLst>
                <a:path w="9143746" h="13716000">
                  <a:moveTo>
                    <a:pt x="0" y="0"/>
                  </a:moveTo>
                  <a:lnTo>
                    <a:pt x="9143746" y="0"/>
                  </a:lnTo>
                  <a:lnTo>
                    <a:pt x="91437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024" y="1752586"/>
            <a:ext cx="9445285" cy="173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26"/>
              </a:lnSpc>
            </a:pPr>
            <a:r>
              <a:rPr lang="en-US" sz="5550" dirty="0" err="1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SkillForge</a:t>
            </a:r>
            <a:r>
              <a:rPr lang="en-US" sz="5550" dirty="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Empowering Tomorrow's Workforce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038" y="5112391"/>
            <a:ext cx="9445285" cy="1900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 i="1">
                <a:solidFill>
                  <a:srgbClr val="45424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Accelerate workforce capability and career growth through intelligent performance tracking, automated skill assessments, structured 6-day study sprints, and instant semantic search across all internal training documentation.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7296" y="8637984"/>
            <a:ext cx="8908037" cy="332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3"/>
              </a:lnSpc>
            </a:pPr>
            <a:r>
              <a:rPr lang="en-US" sz="1725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INFINITY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35831"/>
            <a:ext cx="16303114" cy="31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Platform Architecture &amp;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291828"/>
            <a:ext cx="16303114" cy="639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From Document Ingestion to Career Growth in Four Stages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10" y="2110826"/>
            <a:ext cx="17217495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 end-to-end, privacy-aware AI ecosystem powering enterprise training, semantic document search, automated assessments, and talent analytics.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68898" y="2565644"/>
            <a:ext cx="6349746" cy="6349756"/>
            <a:chOff x="0" y="0"/>
            <a:chExt cx="8466328" cy="8466341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8466328" cy="8466328"/>
            </a:xfrm>
            <a:custGeom>
              <a:avLst/>
              <a:gdLst/>
              <a:ahLst/>
              <a:cxnLst/>
              <a:rect l="l" t="t" r="r" b="b"/>
              <a:pathLst>
                <a:path w="8466328" h="8466328">
                  <a:moveTo>
                    <a:pt x="0" y="0"/>
                  </a:moveTo>
                  <a:lnTo>
                    <a:pt x="8466328" y="0"/>
                  </a:lnTo>
                  <a:lnTo>
                    <a:pt x="8466328" y="8466328"/>
                  </a:lnTo>
                  <a:lnTo>
                    <a:pt x="0" y="84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882898" y="3282915"/>
            <a:ext cx="1519761" cy="60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1" dirty="0">
                <a:solidFill>
                  <a:schemeClr val="bg1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Document Ingestion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85652" y="4044725"/>
            <a:ext cx="2045970" cy="1093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Policy &amp; training PDF upload, SHA-256 deduplication, layout preservation, and OCR extraction.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35731" y="3277200"/>
            <a:ext cx="1908134" cy="60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1" dirty="0">
                <a:solidFill>
                  <a:schemeClr val="bg1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Semantic Vector Engine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66903" y="4039019"/>
            <a:ext cx="2045970" cy="1083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BAAI </a:t>
            </a:r>
            <a:r>
              <a:rPr lang="en-US" sz="1575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bge</a:t>
            </a:r>
            <a:r>
              <a:rPr lang="en-US" sz="1575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-large 1024-dim embeddings indexed in </a:t>
            </a:r>
            <a:r>
              <a:rPr lang="en-US" sz="1575" dirty="0" err="1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ChromaDB</a:t>
            </a:r>
            <a:r>
              <a:rPr lang="en-US" sz="1575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for local RAG retrieval.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0059" y="6203575"/>
            <a:ext cx="1545793" cy="97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AI Exam &amp; Sprint Generator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85833" y="7286368"/>
            <a:ext cx="2045970" cy="1072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Automated exam synthesis, 6-day Sprint study plan creation, and instant score evaluation.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16011" y="6094447"/>
            <a:ext cx="1605534" cy="971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3"/>
              </a:lnSpc>
            </a:pPr>
            <a:r>
              <a:rPr lang="en-US" sz="1950" b="1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Talent Analytics &amp; Voice 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66903" y="7177230"/>
            <a:ext cx="2045970" cy="129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sz="15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Executive KPI tracking, performance dashboards, and real-time Sphere Voice AI interactions.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10" y="9043092"/>
            <a:ext cx="17217495" cy="29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Every stage operates within a secure environment, transforming raw corporate knowledge into measurable employee competency and career advancement.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1388564"/>
            <a:ext cx="1808216" cy="387696"/>
            <a:chOff x="0" y="0"/>
            <a:chExt cx="2410955" cy="5169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0968" cy="516890"/>
            </a:xfrm>
            <a:custGeom>
              <a:avLst/>
              <a:gdLst/>
              <a:ahLst/>
              <a:cxnLst/>
              <a:rect l="l" t="t" r="r" b="b"/>
              <a:pathLst>
                <a:path w="2410968" h="51689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296668" y="0"/>
                  </a:lnTo>
                  <a:cubicBezTo>
                    <a:pt x="2359787" y="0"/>
                    <a:pt x="2410968" y="51181"/>
                    <a:pt x="2410968" y="114300"/>
                  </a:cubicBezTo>
                  <a:lnTo>
                    <a:pt x="2410968" y="402590"/>
                  </a:lnTo>
                  <a:cubicBezTo>
                    <a:pt x="2410968" y="465709"/>
                    <a:pt x="2359787" y="516890"/>
                    <a:pt x="2296668" y="516890"/>
                  </a:cubicBezTo>
                  <a:lnTo>
                    <a:pt x="114300" y="516890"/>
                  </a:lnTo>
                  <a:cubicBezTo>
                    <a:pt x="51181" y="516890"/>
                    <a:pt x="0" y="465709"/>
                    <a:pt x="0" y="40259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5200" y="1465059"/>
            <a:ext cx="2416607" cy="234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sz="15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TECHNOLOGIES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1858566"/>
            <a:ext cx="16303114" cy="806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77"/>
              </a:lnSpc>
            </a:pPr>
            <a:r>
              <a:rPr lang="en-US" sz="49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Engineering the Enterprise Stack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10" y="2962275"/>
            <a:ext cx="17217495" cy="43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high-performance, modular stack combining local privacy-aware AI with enterprise talent analytics and interactive voice intelligence.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7011" y="3656114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Flask MVC &amp; Glassmorphism UI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7011" y="4144718"/>
            <a:ext cx="7083295" cy="8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Modern Flask backend with Jinja2 templates, Chart.js analytics, and custom Glassmorphism UI design system.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12029" y="3656114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SQLite Relational Database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2029" y="4144718"/>
            <a:ext cx="7083295" cy="121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Multi-table relational database storing user credentials, facial descriptors, exam templates, and 6-day study sprints.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7011" y="5815165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BAAI/bge-large-en-v1.5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17011" y="6303759"/>
            <a:ext cx="7083295" cy="8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High-density Sentence-Transformers model generating 1024-dimensional embeddings for semantic retrieval.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12029" y="5815165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ChromaDB Vector 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12029" y="6303759"/>
            <a:ext cx="7083295" cy="8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Embedded vector database for indexing dense document embeddings and metadata chunks.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17011" y="7586367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Groq LLM Engine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17011" y="8074971"/>
            <a:ext cx="7083295" cy="8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 engine powering local context-aware RAG, automated AI exam synthesis, and 6-day study plan generation.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12029" y="7586367"/>
            <a:ext cx="7083295" cy="398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4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Sphere Voice AI &amp; Tool Engine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12029" y="8074971"/>
            <a:ext cx="7083295" cy="82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lang="en-US" sz="19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 Web Speech API assistant with TTS audio readout and dynamic backend tool calling for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47" y="1303582"/>
            <a:ext cx="1568015" cy="354063"/>
            <a:chOff x="0" y="0"/>
            <a:chExt cx="2090687" cy="4720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0674" cy="472059"/>
            </a:xfrm>
            <a:custGeom>
              <a:avLst/>
              <a:gdLst/>
              <a:ahLst/>
              <a:cxnLst/>
              <a:rect l="l" t="t" r="r" b="b"/>
              <a:pathLst>
                <a:path w="2090674" h="472059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1986280" y="0"/>
                  </a:lnTo>
                  <a:cubicBezTo>
                    <a:pt x="2043938" y="0"/>
                    <a:pt x="2090674" y="46736"/>
                    <a:pt x="2090674" y="104394"/>
                  </a:cubicBezTo>
                  <a:lnTo>
                    <a:pt x="2090674" y="367665"/>
                  </a:lnTo>
                  <a:cubicBezTo>
                    <a:pt x="2090674" y="425323"/>
                    <a:pt x="2043938" y="472059"/>
                    <a:pt x="1986280" y="472059"/>
                  </a:cubicBezTo>
                  <a:lnTo>
                    <a:pt x="104394" y="472059"/>
                  </a:lnTo>
                  <a:cubicBezTo>
                    <a:pt x="46736" y="472059"/>
                    <a:pt x="0" y="425323"/>
                    <a:pt x="0" y="36766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293" b="-36299"/>
              </a:stretch>
            </a:blipFill>
            <a:ln w="9525" cap="sq">
              <a:solidFill>
                <a:srgbClr val="B88E23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28236" y="1385887"/>
            <a:ext cx="2200818" cy="19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425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ARCHITECTURE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659342" y="1303582"/>
            <a:ext cx="1166184" cy="354063"/>
            <a:chOff x="0" y="0"/>
            <a:chExt cx="1554912" cy="4720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54861" cy="472059"/>
            </a:xfrm>
            <a:custGeom>
              <a:avLst/>
              <a:gdLst/>
              <a:ahLst/>
              <a:cxnLst/>
              <a:rect l="l" t="t" r="r" b="b"/>
              <a:pathLst>
                <a:path w="1554861" h="472059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1450467" y="0"/>
                  </a:lnTo>
                  <a:cubicBezTo>
                    <a:pt x="1508125" y="0"/>
                    <a:pt x="1554861" y="46736"/>
                    <a:pt x="1554861" y="104394"/>
                  </a:cubicBezTo>
                  <a:lnTo>
                    <a:pt x="1554861" y="367665"/>
                  </a:lnTo>
                  <a:cubicBezTo>
                    <a:pt x="1554861" y="425323"/>
                    <a:pt x="1508125" y="472059"/>
                    <a:pt x="1450467" y="472059"/>
                  </a:cubicBezTo>
                  <a:lnTo>
                    <a:pt x="104394" y="472059"/>
                  </a:lnTo>
                  <a:cubicBezTo>
                    <a:pt x="46736" y="472059"/>
                    <a:pt x="0" y="425323"/>
                    <a:pt x="0" y="367665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178" r="-3" b="-14184"/>
              </a:stretch>
            </a:blipFill>
            <a:ln w="9525" cap="sq">
              <a:solidFill>
                <a:srgbClr val="B88E23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2800131" y="1385887"/>
            <a:ext cx="1798987" cy="19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425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RETRIEVAL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10" y="1715843"/>
            <a:ext cx="16303114" cy="57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5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Chunking, Embeddings &amp; Retrieval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7594" y="3195790"/>
            <a:ext cx="8375390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Chunking Strategy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7594" y="3712521"/>
            <a:ext cx="8375390" cy="68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1000-character chunks with 200-character overlap, plus source pointers and SHA-256.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7808" y="5258248"/>
            <a:ext cx="8035176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Embeddings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7808" y="5774979"/>
            <a:ext cx="8035176" cy="68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BAAI bge-large-en-v1.5 creates 1024-d, L2-normalized vectors with versioned metadata.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28022" y="7320705"/>
            <a:ext cx="7694962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Vector Store &amp; Retrieval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28022" y="7837437"/>
            <a:ext cx="7694962" cy="68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Local ChromaDB stores vectors and metadata. Top-K cosine search returns ranked chunks with provenance.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77961" y="2564454"/>
            <a:ext cx="7190003" cy="6414049"/>
            <a:chOff x="0" y="0"/>
            <a:chExt cx="9586671" cy="85520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86595" cy="8551926"/>
            </a:xfrm>
            <a:custGeom>
              <a:avLst/>
              <a:gdLst/>
              <a:ahLst/>
              <a:cxnLst/>
              <a:rect l="l" t="t" r="r" b="b"/>
              <a:pathLst>
                <a:path w="9586595" h="8551926">
                  <a:moveTo>
                    <a:pt x="0" y="217678"/>
                  </a:moveTo>
                  <a:cubicBezTo>
                    <a:pt x="0" y="97536"/>
                    <a:pt x="97536" y="0"/>
                    <a:pt x="217678" y="0"/>
                  </a:cubicBezTo>
                  <a:lnTo>
                    <a:pt x="9368917" y="0"/>
                  </a:lnTo>
                  <a:cubicBezTo>
                    <a:pt x="9489186" y="0"/>
                    <a:pt x="9586595" y="97536"/>
                    <a:pt x="9586595" y="217678"/>
                  </a:cubicBezTo>
                  <a:lnTo>
                    <a:pt x="9586595" y="8334248"/>
                  </a:lnTo>
                  <a:cubicBezTo>
                    <a:pt x="9586595" y="8454517"/>
                    <a:pt x="9489060" y="8551926"/>
                    <a:pt x="9368917" y="8551926"/>
                  </a:cubicBezTo>
                  <a:lnTo>
                    <a:pt x="217678" y="8551926"/>
                  </a:lnTo>
                  <a:cubicBezTo>
                    <a:pt x="97536" y="8552053"/>
                    <a:pt x="0" y="8454517"/>
                    <a:pt x="0" y="833437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427762" y="2832011"/>
            <a:ext cx="4890411" cy="4890526"/>
            <a:chOff x="0" y="0"/>
            <a:chExt cx="6520548" cy="6520701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6520561" cy="6520688"/>
            </a:xfrm>
            <a:custGeom>
              <a:avLst/>
              <a:gdLst/>
              <a:ahLst/>
              <a:cxnLst/>
              <a:rect l="l" t="t" r="r" b="b"/>
              <a:pathLst>
                <a:path w="6520561" h="6520688">
                  <a:moveTo>
                    <a:pt x="0" y="0"/>
                  </a:moveTo>
                  <a:lnTo>
                    <a:pt x="6520561" y="0"/>
                  </a:lnTo>
                  <a:lnTo>
                    <a:pt x="6520561" y="6520688"/>
                  </a:lnTo>
                  <a:lnTo>
                    <a:pt x="0" y="6520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086" cy="10286743"/>
            <a:chOff x="0" y="0"/>
            <a:chExt cx="24382781" cy="13715657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2730" cy="13715619"/>
            </a:xfrm>
            <a:custGeom>
              <a:avLst/>
              <a:gdLst/>
              <a:ahLst/>
              <a:cxnLst/>
              <a:rect l="l" t="t" r="r" b="b"/>
              <a:pathLst>
                <a:path w="24382730" h="13715619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086" cy="10286743"/>
            <a:chOff x="0" y="0"/>
            <a:chExt cx="24382781" cy="137156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2730" cy="13715619"/>
            </a:xfrm>
            <a:custGeom>
              <a:avLst/>
              <a:gdLst/>
              <a:ahLst/>
              <a:cxnLst/>
              <a:rect l="l" t="t" r="r" b="b"/>
              <a:pathLst>
                <a:path w="24382730" h="13715619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954016" y="872261"/>
            <a:ext cx="3572294" cy="3572380"/>
            <a:chOff x="0" y="0"/>
            <a:chExt cx="4763059" cy="476317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4763008" cy="4763135"/>
            </a:xfrm>
            <a:custGeom>
              <a:avLst/>
              <a:gdLst/>
              <a:ahLst/>
              <a:cxnLst/>
              <a:rect l="l" t="t" r="r" b="b"/>
              <a:pathLst>
                <a:path w="4763008" h="4763135">
                  <a:moveTo>
                    <a:pt x="0" y="0"/>
                  </a:moveTo>
                  <a:lnTo>
                    <a:pt x="4763008" y="0"/>
                  </a:lnTo>
                  <a:lnTo>
                    <a:pt x="4763008" y="4763135"/>
                  </a:lnTo>
                  <a:lnTo>
                    <a:pt x="0" y="4763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820605" y="1896770"/>
            <a:ext cx="10483672" cy="33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398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Multi-Role Talent Portal &amp; Announcement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1223" y="2491607"/>
            <a:ext cx="11398025" cy="1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role-aware portal supports Admin, Manager, and Trainee accounts with SQLite-backed storage.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20605" y="2813133"/>
            <a:ext cx="10483672" cy="473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484" lvl="1" indent="-162742" algn="l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Admin: system setup, user management, analytics export</a:t>
            </a:r>
          </a:p>
          <a:p>
            <a:pPr marL="325484" lvl="1" indent="-162742" algn="l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Manager: assign exams, view KPIs, publish announcements</a:t>
            </a:r>
          </a:p>
          <a:p>
            <a:pPr marL="325484" lvl="1" indent="-162742" algn="l">
              <a:lnSpc>
                <a:spcPts val="2115"/>
              </a:lnSpc>
              <a:buFont typeface="Arial"/>
              <a:buChar char="•"/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Trainee: take exams, view results, receive announcements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11223" y="3802447"/>
            <a:ext cx="10483672" cy="332775"/>
            <a:chOff x="0" y="0"/>
            <a:chExt cx="13978230" cy="443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78255" cy="443738"/>
            </a:xfrm>
            <a:custGeom>
              <a:avLst/>
              <a:gdLst/>
              <a:ahLst/>
              <a:cxnLst/>
              <a:rect l="l" t="t" r="r" b="b"/>
              <a:pathLst>
                <a:path w="13978255" h="443738">
                  <a:moveTo>
                    <a:pt x="0" y="74168"/>
                  </a:moveTo>
                  <a:cubicBezTo>
                    <a:pt x="0" y="33147"/>
                    <a:pt x="33147" y="0"/>
                    <a:pt x="74168" y="0"/>
                  </a:cubicBezTo>
                  <a:lnTo>
                    <a:pt x="13904088" y="0"/>
                  </a:lnTo>
                  <a:cubicBezTo>
                    <a:pt x="13945108" y="0"/>
                    <a:pt x="13978255" y="33147"/>
                    <a:pt x="13978255" y="74168"/>
                  </a:cubicBezTo>
                  <a:lnTo>
                    <a:pt x="13978255" y="369570"/>
                  </a:lnTo>
                  <a:cubicBezTo>
                    <a:pt x="13978255" y="410591"/>
                    <a:pt x="13945108" y="443738"/>
                    <a:pt x="13904088" y="443738"/>
                  </a:cubicBezTo>
                  <a:lnTo>
                    <a:pt x="74168" y="443738"/>
                  </a:lnTo>
                  <a:cubicBezTo>
                    <a:pt x="33147" y="443738"/>
                    <a:pt x="0" y="410464"/>
                    <a:pt x="0" y="36957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6820605" y="3870750"/>
            <a:ext cx="165487" cy="132455"/>
            <a:chOff x="0" y="0"/>
            <a:chExt cx="220650" cy="176606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220599" cy="176657"/>
            </a:xfrm>
            <a:custGeom>
              <a:avLst/>
              <a:gdLst/>
              <a:ahLst/>
              <a:cxnLst/>
              <a:rect l="l" t="t" r="r" b="b"/>
              <a:pathLst>
                <a:path w="220599" h="176657">
                  <a:moveTo>
                    <a:pt x="0" y="0"/>
                  </a:moveTo>
                  <a:lnTo>
                    <a:pt x="220599" y="0"/>
                  </a:lnTo>
                  <a:lnTo>
                    <a:pt x="220599" y="176657"/>
                  </a:lnTo>
                  <a:lnTo>
                    <a:pt x="0" y="176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50" r="-1479" b="2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7118537" y="3827040"/>
            <a:ext cx="10835183" cy="1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Announcements can be broadcast or targeted by role, team, or cohort.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191" y="4616682"/>
            <a:ext cx="16302714" cy="19050"/>
            <a:chOff x="0" y="0"/>
            <a:chExt cx="21736952" cy="25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6938" cy="25400"/>
            </a:xfrm>
            <a:custGeom>
              <a:avLst/>
              <a:gdLst/>
              <a:ahLst/>
              <a:cxnLst/>
              <a:rect l="l" t="t" r="r" b="b"/>
              <a:pathLst>
                <a:path w="21736938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4238" y="0"/>
                  </a:lnTo>
                  <a:cubicBezTo>
                    <a:pt x="21731224" y="0"/>
                    <a:pt x="21736938" y="5715"/>
                    <a:pt x="21736938" y="12700"/>
                  </a:cubicBezTo>
                  <a:cubicBezTo>
                    <a:pt x="21736938" y="19685"/>
                    <a:pt x="21731224" y="25400"/>
                    <a:pt x="21724238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54240">
                <a:alpha val="24706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3142793" y="4329322"/>
            <a:ext cx="2857357" cy="2857424"/>
            <a:chOff x="0" y="0"/>
            <a:chExt cx="3809810" cy="3809898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809746" cy="3809873"/>
            </a:xfrm>
            <a:custGeom>
              <a:avLst/>
              <a:gdLst/>
              <a:ahLst/>
              <a:cxnLst/>
              <a:rect l="l" t="t" r="r" b="b"/>
              <a:pathLst>
                <a:path w="3809746" h="3809873">
                  <a:moveTo>
                    <a:pt x="0" y="0"/>
                  </a:moveTo>
                  <a:lnTo>
                    <a:pt x="3809746" y="0"/>
                  </a:lnTo>
                  <a:lnTo>
                    <a:pt x="3809746" y="3809873"/>
                  </a:lnTo>
                  <a:lnTo>
                    <a:pt x="0" y="380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2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8218322" y="5295567"/>
            <a:ext cx="8821045" cy="33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398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AI Exam Creation &amp; Auto-Grading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18322" y="5697988"/>
            <a:ext cx="9735398" cy="145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exam engine ingests PDFs, generates assessments, assigns them, </a:t>
            </a:r>
          </a:p>
          <a:p>
            <a:pPr algn="l">
              <a:lnSpc>
                <a:spcPts val="1938"/>
              </a:lnSpc>
            </a:pPr>
            <a:r>
              <a:rPr lang="en-US" sz="164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and grades automatically where possible.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2995" y="7098259"/>
            <a:ext cx="264900" cy="165487"/>
            <a:chOff x="0" y="0"/>
            <a:chExt cx="353200" cy="2206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3200" cy="220656"/>
            </a:xfrm>
            <a:custGeom>
              <a:avLst/>
              <a:gdLst/>
              <a:ahLst/>
              <a:cxnLst/>
              <a:rect l="l" t="t" r="r" b="b"/>
              <a:pathLst>
                <a:path w="353200" h="220656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r="-30153" b="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05150" y="7098259"/>
            <a:ext cx="264900" cy="165487"/>
            <a:chOff x="0" y="0"/>
            <a:chExt cx="353200" cy="2206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3200" cy="220656"/>
            </a:xfrm>
            <a:custGeom>
              <a:avLst/>
              <a:gdLst/>
              <a:ahLst/>
              <a:cxnLst/>
              <a:rect l="l" t="t" r="r" b="b"/>
              <a:pathLst>
                <a:path w="353200" h="220656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r="-30153" b="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1041530" y="7339794"/>
            <a:ext cx="16302714" cy="19050"/>
          </a:xfrm>
          <a:custGeom>
            <a:avLst/>
            <a:gdLst/>
            <a:ahLst/>
            <a:cxnLst/>
            <a:rect l="l" t="t" r="r" b="b"/>
            <a:pathLst>
              <a:path w="16302714" h="19050">
                <a:moveTo>
                  <a:pt x="0" y="0"/>
                </a:moveTo>
                <a:lnTo>
                  <a:pt x="16302714" y="0"/>
                </a:lnTo>
                <a:lnTo>
                  <a:pt x="1630271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22995" y="7540152"/>
            <a:ext cx="8120396" cy="21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Ingest &amp; Extract: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2995" y="7856849"/>
            <a:ext cx="8120396" cy="1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Parse PDFs and embed content.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05150" y="7540152"/>
            <a:ext cx="8120548" cy="21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Generate Questions: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05150" y="7842923"/>
            <a:ext cx="8120548" cy="1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Create MCQs, short answers, and code prompts.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13346" y="8307486"/>
            <a:ext cx="264900" cy="165487"/>
            <a:chOff x="0" y="0"/>
            <a:chExt cx="353200" cy="2206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53200" cy="220656"/>
            </a:xfrm>
            <a:custGeom>
              <a:avLst/>
              <a:gdLst/>
              <a:ahLst/>
              <a:cxnLst/>
              <a:rect l="l" t="t" r="r" b="b"/>
              <a:pathLst>
                <a:path w="353200" h="220656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r="-30153" b="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95511" y="8307486"/>
            <a:ext cx="264900" cy="165487"/>
            <a:chOff x="0" y="0"/>
            <a:chExt cx="353200" cy="2206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53200" cy="220656"/>
            </a:xfrm>
            <a:custGeom>
              <a:avLst/>
              <a:gdLst/>
              <a:ahLst/>
              <a:cxnLst/>
              <a:rect l="l" t="t" r="r" b="b"/>
              <a:pathLst>
                <a:path w="353200" h="220656">
                  <a:moveTo>
                    <a:pt x="0" y="0"/>
                  </a:moveTo>
                  <a:lnTo>
                    <a:pt x="353200" y="0"/>
                  </a:lnTo>
                  <a:lnTo>
                    <a:pt x="353200" y="220656"/>
                  </a:lnTo>
                  <a:lnTo>
                    <a:pt x="0" y="2206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0153" r="-30153" b="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53200" cy="22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68"/>
                </a:lnSpc>
              </a:pPr>
              <a:r>
                <a:rPr lang="en-US" sz="973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04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022995" y="8520103"/>
            <a:ext cx="16302714" cy="19050"/>
          </a:xfrm>
          <a:custGeom>
            <a:avLst/>
            <a:gdLst/>
            <a:ahLst/>
            <a:cxnLst/>
            <a:rect l="l" t="t" r="r" b="b"/>
            <a:pathLst>
              <a:path w="16302714" h="19050">
                <a:moveTo>
                  <a:pt x="0" y="0"/>
                </a:moveTo>
                <a:lnTo>
                  <a:pt x="16302713" y="0"/>
                </a:lnTo>
                <a:lnTo>
                  <a:pt x="16302713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41530" y="8730472"/>
            <a:ext cx="8120396" cy="21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Assign &amp; Proctor: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1530" y="9061752"/>
            <a:ext cx="8120396" cy="1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Schedule exams with time limits and logging.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223686" y="8730472"/>
            <a:ext cx="8120548" cy="21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209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Grade &amp; Review: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23686" y="9061752"/>
            <a:ext cx="8120548" cy="155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5"/>
              </a:lnSpc>
            </a:pPr>
            <a:r>
              <a:rPr lang="en-US" sz="1798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Use rule-based scoring and human review for edge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086" cy="10286743"/>
            <a:chOff x="0" y="0"/>
            <a:chExt cx="24382781" cy="13715657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2730" cy="13715619"/>
            </a:xfrm>
            <a:custGeom>
              <a:avLst/>
              <a:gdLst/>
              <a:ahLst/>
              <a:cxnLst/>
              <a:rect l="l" t="t" r="r" b="b"/>
              <a:pathLst>
                <a:path w="24382730" h="13715619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38" y="-29"/>
            <a:ext cx="18287086" cy="10286743"/>
            <a:chOff x="0" y="0"/>
            <a:chExt cx="24382781" cy="1371565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2730" cy="13715619"/>
            </a:xfrm>
            <a:custGeom>
              <a:avLst/>
              <a:gdLst/>
              <a:ahLst/>
              <a:cxnLst/>
              <a:rect l="l" t="t" r="r" b="b"/>
              <a:pathLst>
                <a:path w="24382730" h="13715619">
                  <a:moveTo>
                    <a:pt x="0" y="0"/>
                  </a:moveTo>
                  <a:lnTo>
                    <a:pt x="24382730" y="0"/>
                  </a:lnTo>
                  <a:lnTo>
                    <a:pt x="24382730" y="13715619"/>
                  </a:lnTo>
                  <a:lnTo>
                    <a:pt x="0" y="13715619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191" y="819274"/>
            <a:ext cx="16302714" cy="43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62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Executive Analytics: KPI Charts &amp; Performance Insights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191" y="3210439"/>
            <a:ext cx="5706970" cy="3916756"/>
            <a:chOff x="0" y="0"/>
            <a:chExt cx="7609294" cy="522234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7609332" cy="5222367"/>
            </a:xfrm>
            <a:custGeom>
              <a:avLst/>
              <a:gdLst/>
              <a:ahLst/>
              <a:cxnLst/>
              <a:rect l="l" t="t" r="r" b="b"/>
              <a:pathLst>
                <a:path w="7609332" h="5222367">
                  <a:moveTo>
                    <a:pt x="0" y="0"/>
                  </a:moveTo>
                  <a:lnTo>
                    <a:pt x="7609332" y="0"/>
                  </a:lnTo>
                  <a:lnTo>
                    <a:pt x="7609332" y="5222367"/>
                  </a:lnTo>
                  <a:lnTo>
                    <a:pt x="0" y="5222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6" b="-2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92190" y="7222598"/>
            <a:ext cx="883760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4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Dashboard visualizes trainee score trends (bars) with pass-rate overlay (line). Metrics support cohort filtering, drill-down to question-level item analysis, and export for enterprise reporting.      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321454" y="1520542"/>
            <a:ext cx="2857357" cy="2857424"/>
            <a:chOff x="0" y="0"/>
            <a:chExt cx="3809810" cy="380989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3809746" cy="3809873"/>
            </a:xfrm>
            <a:custGeom>
              <a:avLst/>
              <a:gdLst/>
              <a:ahLst/>
              <a:cxnLst/>
              <a:rect l="l" t="t" r="r" b="b"/>
              <a:pathLst>
                <a:path w="3809746" h="3809873">
                  <a:moveTo>
                    <a:pt x="0" y="0"/>
                  </a:moveTo>
                  <a:lnTo>
                    <a:pt x="3809746" y="0"/>
                  </a:lnTo>
                  <a:lnTo>
                    <a:pt x="3809746" y="3809873"/>
                  </a:lnTo>
                  <a:lnTo>
                    <a:pt x="0" y="3809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195998" y="5034725"/>
            <a:ext cx="7108269" cy="27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Score Distribution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95998" y="5392350"/>
            <a:ext cx="7108269" cy="236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Histogram and percentile bands to identify at-risk learners and high performers.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95998" y="6374740"/>
            <a:ext cx="7108269" cy="27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Engagement KPIs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95998" y="6732365"/>
            <a:ext cx="7108269" cy="236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Completion rate, time-on-task, and sequence adherence for predictive success modeling.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95998" y="7714764"/>
            <a:ext cx="7108269" cy="27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"/>
              </a:lnSpc>
            </a:pPr>
            <a:r>
              <a:rPr lang="en-US" sz="1648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5998" y="8072380"/>
            <a:ext cx="7108269" cy="45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Exam throughput, auto-grade rate, and announcement reach for SLA and capacity planning.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195998" y="8640747"/>
            <a:ext cx="7108269" cy="702745"/>
            <a:chOff x="0" y="0"/>
            <a:chExt cx="9477692" cy="93699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77629" cy="937006"/>
            </a:xfrm>
            <a:custGeom>
              <a:avLst/>
              <a:gdLst/>
              <a:ahLst/>
              <a:cxnLst/>
              <a:rect l="l" t="t" r="r" b="b"/>
              <a:pathLst>
                <a:path w="9477629" h="937006">
                  <a:moveTo>
                    <a:pt x="0" y="95123"/>
                  </a:moveTo>
                  <a:cubicBezTo>
                    <a:pt x="0" y="42545"/>
                    <a:pt x="42545" y="0"/>
                    <a:pt x="95123" y="0"/>
                  </a:cubicBezTo>
                  <a:lnTo>
                    <a:pt x="9382506" y="0"/>
                  </a:lnTo>
                  <a:cubicBezTo>
                    <a:pt x="9435085" y="0"/>
                    <a:pt x="9477629" y="42545"/>
                    <a:pt x="9477629" y="95123"/>
                  </a:cubicBezTo>
                  <a:lnTo>
                    <a:pt x="9477629" y="841883"/>
                  </a:lnTo>
                  <a:cubicBezTo>
                    <a:pt x="9477629" y="894461"/>
                    <a:pt x="9435085" y="937006"/>
                    <a:pt x="9382506" y="937006"/>
                  </a:cubicBezTo>
                  <a:lnTo>
                    <a:pt x="95123" y="937006"/>
                  </a:lnTo>
                  <a:cubicBezTo>
                    <a:pt x="42545" y="937006"/>
                    <a:pt x="0" y="894461"/>
                    <a:pt x="0" y="841883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365810" y="8798204"/>
            <a:ext cx="212217" cy="169812"/>
            <a:chOff x="0" y="0"/>
            <a:chExt cx="282956" cy="226416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282956" cy="226441"/>
            </a:xfrm>
            <a:custGeom>
              <a:avLst/>
              <a:gdLst/>
              <a:ahLst/>
              <a:cxnLst/>
              <a:rect l="l" t="t" r="r" b="b"/>
              <a:pathLst>
                <a:path w="282956" h="226441">
                  <a:moveTo>
                    <a:pt x="0" y="0"/>
                  </a:moveTo>
                  <a:lnTo>
                    <a:pt x="282956" y="0"/>
                  </a:lnTo>
                  <a:lnTo>
                    <a:pt x="282956" y="226441"/>
                  </a:lnTo>
                  <a:lnTo>
                    <a:pt x="0" y="226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22" r="-1122" b="1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747829" y="8755637"/>
            <a:ext cx="6386636" cy="45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27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Next steps: integrate A/B testing for exam variants, add anomaly detection on performance dips, and enable scheduled executive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2201913"/>
            <a:ext cx="16303114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Voice-Driven Tool Execution — Actions You Can Say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10" y="3506238"/>
            <a:ext cx="1143572" cy="1429493"/>
            <a:chOff x="0" y="0"/>
            <a:chExt cx="1524762" cy="190599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524762" cy="1906016"/>
            </a:xfrm>
            <a:custGeom>
              <a:avLst/>
              <a:gdLst/>
              <a:ahLst/>
              <a:cxnLst/>
              <a:rect l="l" t="t" r="r" b="b"/>
              <a:pathLst>
                <a:path w="1524762" h="1906016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4" r="-83" b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490130" y="3487188"/>
            <a:ext cx="370022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Fetch Trainee Metrics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90130" y="4476455"/>
            <a:ext cx="3700224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“Hey Sphere, show Sam’s weekly mastery score.” Returns per-lesson metrics, recent activity, and flags for intervention.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44704" y="3506238"/>
            <a:ext cx="1143572" cy="1429493"/>
            <a:chOff x="0" y="0"/>
            <a:chExt cx="1524762" cy="1905991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524762" cy="1906016"/>
            </a:xfrm>
            <a:custGeom>
              <a:avLst/>
              <a:gdLst/>
              <a:ahLst/>
              <a:cxnLst/>
              <a:rect l="l" t="t" r="r" b="b"/>
              <a:pathLst>
                <a:path w="1524762" h="1906016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4" r="-83" b="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042615" y="3487188"/>
            <a:ext cx="370022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Trigger Exam Creation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2615" y="4476455"/>
            <a:ext cx="3700224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“Create a Day-5 gateway exam for Module 3.” Generates question set, rubric, and schedules proctoring rules.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97188" y="3506238"/>
            <a:ext cx="1143572" cy="1429493"/>
            <a:chOff x="0" y="0"/>
            <a:chExt cx="1524762" cy="1905991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524762" cy="1906016"/>
            </a:xfrm>
            <a:custGeom>
              <a:avLst/>
              <a:gdLst/>
              <a:ahLst/>
              <a:cxnLst/>
              <a:rect l="l" t="t" r="r" b="b"/>
              <a:pathLst>
                <a:path w="1524762" h="1906016">
                  <a:moveTo>
                    <a:pt x="0" y="0"/>
                  </a:moveTo>
                  <a:lnTo>
                    <a:pt x="1524762" y="0"/>
                  </a:lnTo>
                  <a:lnTo>
                    <a:pt x="1524762" y="1906016"/>
                  </a:lnTo>
                  <a:lnTo>
                    <a:pt x="0" y="1906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" r="-83" b="1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595109" y="3487188"/>
            <a:ext cx="3700224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Dispatch Announcements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95109" y="4476455"/>
            <a:ext cx="3700224" cy="2353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“Announce sprint kickoff to cohort B.” Sends multi-channel notice (in-app, email, voice summary) with delivery trace.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10" y="7063530"/>
            <a:ext cx="16303114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Actions are modeled as idempotent commands with audit logs and RBAC checks. Voice confirmations and undo flows reduce accidental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3810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812597"/>
            <a:ext cx="16303114" cy="47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8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6-Day AI Study Sprint Orchestrator (with Multilingual Voice Support)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6D9666-0A0B-D8CA-6343-34707BC67429}"/>
              </a:ext>
            </a:extLst>
          </p:cNvPr>
          <p:cNvGrpSpPr/>
          <p:nvPr/>
        </p:nvGrpSpPr>
        <p:grpSpPr>
          <a:xfrm>
            <a:off x="1143000" y="2493958"/>
            <a:ext cx="7768211" cy="3929631"/>
            <a:chOff x="2526592" y="4254675"/>
            <a:chExt cx="5698808" cy="1838010"/>
          </a:xfrm>
        </p:grpSpPr>
        <p:grpSp>
          <p:nvGrpSpPr>
            <p:cNvPr id="7" name="Group 7"/>
            <p:cNvGrpSpPr/>
            <p:nvPr/>
          </p:nvGrpSpPr>
          <p:grpSpPr>
            <a:xfrm>
              <a:off x="2526592" y="4293983"/>
              <a:ext cx="5698808" cy="1507903"/>
              <a:chOff x="1" y="-1"/>
              <a:chExt cx="7598410" cy="2010537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1" y="-1"/>
                <a:ext cx="7598410" cy="2010537"/>
              </a:xfrm>
              <a:custGeom>
                <a:avLst/>
                <a:gdLst/>
                <a:ahLst/>
                <a:cxnLst/>
                <a:rect l="l" t="t" r="r" b="b"/>
                <a:pathLst>
                  <a:path w="7598410" h="2010537">
                    <a:moveTo>
                      <a:pt x="0" y="0"/>
                    </a:moveTo>
                    <a:lnTo>
                      <a:pt x="7598410" y="0"/>
                    </a:lnTo>
                    <a:lnTo>
                      <a:pt x="7598410" y="2010537"/>
                    </a:lnTo>
                    <a:lnTo>
                      <a:pt x="0" y="201053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t="-158" b="-159"/>
                </a:stretch>
              </a:blipFill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2966247" y="4371802"/>
              <a:ext cx="861403" cy="71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3"/>
                </a:lnSpc>
              </a:pPr>
              <a:r>
                <a:rPr lang="en-US" sz="1400" dirty="0">
                  <a:solidFill>
                    <a:srgbClr val="5C4E3D"/>
                  </a:solidFill>
                  <a:latin typeface="Libre Baskerville Bold" panose="020B0604020202020204" charset="0"/>
                  <a:ea typeface="Libre Baskerville"/>
                  <a:cs typeface="Libre Baskerville"/>
                  <a:sym typeface="Libre Baskerville"/>
                </a:rPr>
                <a:t>Day 1 Setup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66247" y="4772027"/>
              <a:ext cx="861403" cy="40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54240"/>
                  </a:solidFill>
                  <a:latin typeface="Libre Baskerville Bold" panose="020B0604020202020204" charset="0"/>
                  <a:ea typeface="DM Sans"/>
                  <a:cs typeface="DM Sans"/>
                  <a:sym typeface="DM Sans"/>
                </a:rPr>
                <a:t>Configure sprint, establish baseline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53351" y="5091872"/>
              <a:ext cx="861403" cy="3023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C4E3D"/>
                  </a:solidFill>
                  <a:latin typeface="Libre Baskerville Bold" panose="020B0604020202020204" charset="0"/>
                  <a:ea typeface="Libre Baskerville"/>
                  <a:cs typeface="Libre Baskerville"/>
                  <a:sym typeface="Libre Baskerville"/>
                </a:rPr>
                <a:t>Day 2 Micro-lessons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53351" y="5689607"/>
              <a:ext cx="861403" cy="40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54240"/>
                  </a:solidFill>
                  <a:latin typeface="Libre Baskerville Bold" panose="020B0604020202020204" charset="0"/>
                  <a:ea typeface="DM Sans"/>
                  <a:cs typeface="DM Sans"/>
                  <a:sym typeface="DM Sans"/>
                </a:rPr>
                <a:t>Short focused lessons and materials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45294" y="4254675"/>
              <a:ext cx="861403" cy="20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C4E3D"/>
                  </a:solidFill>
                  <a:latin typeface="Libre Baskerville Bold" panose="020B0604020202020204" charset="0"/>
                  <a:ea typeface="Libre Baskerville"/>
                  <a:cs typeface="Libre Baskerville"/>
                  <a:sym typeface="Libre Baskerville"/>
                </a:rPr>
                <a:t>Day 3 Practice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69066" y="4772026"/>
              <a:ext cx="861403" cy="40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54240"/>
                  </a:solidFill>
                  <a:latin typeface="Libre Baskerville Bold" panose="020B0604020202020204" charset="0"/>
                  <a:ea typeface="DM Sans"/>
                  <a:cs typeface="DM Sans"/>
                  <a:sym typeface="DM Sans"/>
                </a:rPr>
                <a:t>Apply skills with feedback loops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56170" y="5167886"/>
              <a:ext cx="861403" cy="20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C4E3D"/>
                  </a:solidFill>
                  <a:latin typeface="Libre Baskerville Bold" panose="020B0604020202020204" charset="0"/>
                  <a:ea typeface="Libre Baskerville"/>
                  <a:cs typeface="Libre Baskerville"/>
                  <a:sym typeface="Libre Baskerville"/>
                </a:rPr>
                <a:t>Day 4 Deep Review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31851" y="5654227"/>
              <a:ext cx="861403" cy="40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54240"/>
                  </a:solidFill>
                  <a:latin typeface="Libre Baskerville Bold" panose="020B0604020202020204" charset="0"/>
                  <a:ea typeface="DM Sans"/>
                  <a:cs typeface="DM Sans"/>
                  <a:sym typeface="DM Sans"/>
                </a:rPr>
                <a:t>Consolidate concepts and weak spots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15840" y="4293983"/>
              <a:ext cx="861403" cy="201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C4E3D"/>
                  </a:solidFill>
                  <a:latin typeface="Libre Baskerville Bold" panose="020B0604020202020204" charset="0"/>
                  <a:ea typeface="Libre Baskerville"/>
                  <a:cs typeface="Libre Baskerville"/>
                  <a:sym typeface="Libre Baskerville"/>
                </a:rPr>
                <a:t>Day 5 Gateway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15840" y="4745626"/>
              <a:ext cx="861403" cy="403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dirty="0">
                  <a:solidFill>
                    <a:srgbClr val="454240"/>
                  </a:solidFill>
                  <a:latin typeface="Libre Baskerville Bold" panose="020B0604020202020204" charset="0"/>
                  <a:ea typeface="DM Sans"/>
                  <a:cs typeface="DM Sans"/>
                  <a:sym typeface="DM Sans"/>
                </a:rPr>
                <a:t>Timed exam to assess mastery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7458" y="7588149"/>
            <a:ext cx="8767543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600" dirty="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Each sprint is auto-generated by the AI planner: curated daily tasks, prioritized reference materials, suggested time budgets, Day‑5 gateway exam creation, and a Day‑7 Voice Socratic interview for oral mastery checks.      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11886" y="2178548"/>
            <a:ext cx="7092972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Multilingual Chat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11886" y="2577998"/>
            <a:ext cx="7092972" cy="48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4-language support with smart selection popups. Voice UI adapts phrasing and TTS voice per locale.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11886" y="3884409"/>
            <a:ext cx="7092972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Adaptive Scheduling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11886" y="4283869"/>
            <a:ext cx="7092972" cy="48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Personalized daily task timing based on learner engagement signals and preferred study windows.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11886" y="5590280"/>
            <a:ext cx="7092972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Assessment &amp; Gates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11886" y="5989739"/>
            <a:ext cx="7092972" cy="48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Automated Day‑5 gating exam plus pass/fail criteria that feed the next sprint’s difficulty tuning.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11886" y="7296150"/>
            <a:ext cx="7092972" cy="29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7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Voice Socratic Interviews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11886" y="7695600"/>
            <a:ext cx="7092972" cy="48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Oral assessments that prompt reasoning, record responses, and provide targeted coach feedback.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211886" y="8311601"/>
            <a:ext cx="7092972" cy="1013069"/>
            <a:chOff x="0" y="0"/>
            <a:chExt cx="9457296" cy="13507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57309" cy="1350772"/>
            </a:xfrm>
            <a:custGeom>
              <a:avLst/>
              <a:gdLst/>
              <a:ahLst/>
              <a:cxnLst/>
              <a:rect l="l" t="t" r="r" b="b"/>
              <a:pathLst>
                <a:path w="9457309" h="1350772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9355709" y="0"/>
                  </a:lnTo>
                  <a:cubicBezTo>
                    <a:pt x="9411843" y="0"/>
                    <a:pt x="9457309" y="45466"/>
                    <a:pt x="9457309" y="101600"/>
                  </a:cubicBezTo>
                  <a:lnTo>
                    <a:pt x="9457309" y="1249172"/>
                  </a:lnTo>
                  <a:cubicBezTo>
                    <a:pt x="9457309" y="1305306"/>
                    <a:pt x="9411843" y="1350772"/>
                    <a:pt x="9355709" y="1350772"/>
                  </a:cubicBezTo>
                  <a:lnTo>
                    <a:pt x="101600" y="1350772"/>
                  </a:lnTo>
                  <a:cubicBezTo>
                    <a:pt x="45466" y="1350772"/>
                    <a:pt x="0" y="1305306"/>
                    <a:pt x="0" y="1249172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0393156" y="8495109"/>
            <a:ext cx="226657" cy="181270"/>
            <a:chOff x="0" y="0"/>
            <a:chExt cx="302209" cy="241694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302260" cy="241681"/>
            </a:xfrm>
            <a:custGeom>
              <a:avLst/>
              <a:gdLst/>
              <a:ahLst/>
              <a:cxnLst/>
              <a:rect l="l" t="t" r="r" b="b"/>
              <a:pathLst>
                <a:path w="302260" h="241681">
                  <a:moveTo>
                    <a:pt x="0" y="0"/>
                  </a:moveTo>
                  <a:lnTo>
                    <a:pt x="302260" y="0"/>
                  </a:lnTo>
                  <a:lnTo>
                    <a:pt x="302260" y="241681"/>
                  </a:lnTo>
                  <a:lnTo>
                    <a:pt x="0" y="241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101" r="16" b="-2101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0801083" y="8451647"/>
            <a:ext cx="6322504" cy="723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4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Implementation notes: prioritize low-latency STT for live interviews, use speaker diarization for multi-learner sessions, and retain consented audio for quality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66940"/>
            <a:ext cx="16303114" cy="479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8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Components &amp; Engineering Highlights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917374" y="1671752"/>
            <a:ext cx="3940626" cy="3940731"/>
            <a:chOff x="0" y="0"/>
            <a:chExt cx="5254168" cy="525430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5254117" cy="5254244"/>
            </a:xfrm>
            <a:custGeom>
              <a:avLst/>
              <a:gdLst/>
              <a:ahLst/>
              <a:cxnLst/>
              <a:rect l="l" t="t" r="r" b="b"/>
              <a:pathLst>
                <a:path w="5254117" h="5254244">
                  <a:moveTo>
                    <a:pt x="0" y="0"/>
                  </a:moveTo>
                  <a:lnTo>
                    <a:pt x="5254117" y="0"/>
                  </a:lnTo>
                  <a:lnTo>
                    <a:pt x="5254117" y="5254244"/>
                  </a:lnTo>
                  <a:lnTo>
                    <a:pt x="0" y="5254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2" b="-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657512" y="1954854"/>
            <a:ext cx="7444045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Email Notification Service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57512" y="2362495"/>
            <a:ext cx="7444045" cy="252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Templated SMTP notifications with retry, backoff, and audit logging.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57512" y="3131934"/>
            <a:ext cx="7444045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DB-Aware Chatbot Intelligence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57512" y="3539576"/>
            <a:ext cx="7444045" cy="49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Provides controlled read access to trainee records and score tables for live lookups and summaries.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7512" y="4552207"/>
            <a:ext cx="7444045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FastAPI + Uvicorn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57512" y="4959848"/>
            <a:ext cx="7444045" cy="49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Moved to FastAPI on Uvicorn, with CPU-heavy search isolated to keep requests responsive.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10" y="5974404"/>
            <a:ext cx="16303114" cy="19050"/>
            <a:chOff x="0" y="0"/>
            <a:chExt cx="21737485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37447" cy="25400"/>
            </a:xfrm>
            <a:custGeom>
              <a:avLst/>
              <a:gdLst/>
              <a:ahLst/>
              <a:cxnLst/>
              <a:rect l="l" t="t" r="r" b="b"/>
              <a:pathLst>
                <a:path w="21737447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21724747" y="0"/>
                  </a:lnTo>
                  <a:cubicBezTo>
                    <a:pt x="21731732" y="0"/>
                    <a:pt x="21737447" y="5715"/>
                    <a:pt x="21737447" y="12700"/>
                  </a:cubicBezTo>
                  <a:cubicBezTo>
                    <a:pt x="21737447" y="19685"/>
                    <a:pt x="21731732" y="25400"/>
                    <a:pt x="21724747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54240">
                <a:alpha val="24706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917374" y="6308827"/>
            <a:ext cx="3345447" cy="3345532"/>
            <a:chOff x="0" y="0"/>
            <a:chExt cx="4460596" cy="446071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4460621" cy="4460748"/>
            </a:xfrm>
            <a:custGeom>
              <a:avLst/>
              <a:gdLst/>
              <a:ahLst/>
              <a:cxnLst/>
              <a:rect l="l" t="t" r="r" b="b"/>
              <a:pathLst>
                <a:path w="4460621" h="4460748">
                  <a:moveTo>
                    <a:pt x="0" y="0"/>
                  </a:moveTo>
                  <a:lnTo>
                    <a:pt x="4460621" y="0"/>
                  </a:lnTo>
                  <a:lnTo>
                    <a:pt x="4460621" y="4460748"/>
                  </a:lnTo>
                  <a:lnTo>
                    <a:pt x="0" y="4460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713024" y="7024983"/>
            <a:ext cx="532047" cy="664959"/>
            <a:chOff x="0" y="0"/>
            <a:chExt cx="709397" cy="88661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709422" cy="886587"/>
            </a:xfrm>
            <a:custGeom>
              <a:avLst/>
              <a:gdLst/>
              <a:ahLst/>
              <a:cxnLst/>
              <a:rect l="l" t="t" r="r" b="b"/>
              <a:pathLst>
                <a:path w="709422" h="886587">
                  <a:moveTo>
                    <a:pt x="0" y="0"/>
                  </a:moveTo>
                  <a:lnTo>
                    <a:pt x="709422" y="0"/>
                  </a:lnTo>
                  <a:lnTo>
                    <a:pt x="709422" y="886587"/>
                  </a:lnTo>
                  <a:lnTo>
                    <a:pt x="0" y="886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" r="3" b="-10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0394785" y="7015458"/>
            <a:ext cx="3039142" cy="58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SQLite WAL Lock Resilience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94785" y="7711088"/>
            <a:ext cx="3039142" cy="739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WAL mode and connection retry logic reduced Windows file-lock freezes.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583650" y="7024983"/>
            <a:ext cx="532047" cy="664959"/>
            <a:chOff x="0" y="0"/>
            <a:chExt cx="709397" cy="886612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709422" cy="886587"/>
            </a:xfrm>
            <a:custGeom>
              <a:avLst/>
              <a:gdLst/>
              <a:ahLst/>
              <a:cxnLst/>
              <a:rect l="l" t="t" r="r" b="b"/>
              <a:pathLst>
                <a:path w="709422" h="886587">
                  <a:moveTo>
                    <a:pt x="0" y="0"/>
                  </a:moveTo>
                  <a:lnTo>
                    <a:pt x="709422" y="0"/>
                  </a:lnTo>
                  <a:lnTo>
                    <a:pt x="709422" y="886587"/>
                  </a:lnTo>
                  <a:lnTo>
                    <a:pt x="0" y="886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" r="3" b="-10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4265412" y="7015458"/>
            <a:ext cx="3039294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Operational Controls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65412" y="7423099"/>
            <a:ext cx="3039294" cy="739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1"/>
              </a:lnSpc>
            </a:pPr>
            <a:r>
              <a:rPr lang="en-US" sz="14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Health checks, circuit breakers, and graceful shutdowns improved runtime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23" cy="10287000"/>
            <a:chOff x="0" y="0"/>
            <a:chExt cx="24383363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3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68426"/>
            <a:ext cx="16303114" cy="57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5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UX, Branding, Release &amp; Next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1879254"/>
            <a:ext cx="16303114" cy="68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Finalized UI/UX with glassmorphism cards, accessible light/dark themes, and brand assets for "Talent Management Platform for Employee Performance and Career Growth." Design tokens and component library published.  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29484" y="2764927"/>
            <a:ext cx="28575" cy="5228777"/>
            <a:chOff x="0" y="0"/>
            <a:chExt cx="38100" cy="69717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00" cy="6971665"/>
            </a:xfrm>
            <a:custGeom>
              <a:avLst/>
              <a:gdLst/>
              <a:ahLst/>
              <a:cxnLst/>
              <a:rect l="l" t="t" r="r" b="b"/>
              <a:pathLst>
                <a:path w="38100" h="697166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952615"/>
                  </a:lnTo>
                  <a:cubicBezTo>
                    <a:pt x="38100" y="6963156"/>
                    <a:pt x="29591" y="6971665"/>
                    <a:pt x="19050" y="6971665"/>
                  </a:cubicBezTo>
                  <a:cubicBezTo>
                    <a:pt x="8509" y="6971665"/>
                    <a:pt x="0" y="6963156"/>
                    <a:pt x="0" y="6952615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236763" y="3005738"/>
            <a:ext cx="680428" cy="28575"/>
            <a:chOff x="0" y="0"/>
            <a:chExt cx="907237" cy="38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7288" cy="38100"/>
            </a:xfrm>
            <a:custGeom>
              <a:avLst/>
              <a:gdLst/>
              <a:ahLst/>
              <a:cxnLst/>
              <a:rect l="l" t="t" r="r" b="b"/>
              <a:pathLst>
                <a:path w="90728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883853" y="2760164"/>
            <a:ext cx="519846" cy="519855"/>
            <a:chOff x="0" y="0"/>
            <a:chExt cx="693128" cy="6931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973588" y="2807418"/>
            <a:ext cx="340214" cy="425206"/>
            <a:chOff x="0" y="0"/>
            <a:chExt cx="453619" cy="5669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3616" cy="566936"/>
            </a:xfrm>
            <a:custGeom>
              <a:avLst/>
              <a:gdLst/>
              <a:ahLst/>
              <a:cxnLst/>
              <a:rect l="l" t="t" r="r" b="b"/>
              <a:pathLst>
                <a:path w="453616" h="56693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r="-110357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2210" y="2833240"/>
            <a:ext cx="7017515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Release checklist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10" y="3337827"/>
            <a:ext cx="7017515" cy="1464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QA signoff on notifications and chatbot responses</a:t>
            </a:r>
          </a:p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Load test p95 latency targets met for ASGI service</a:t>
            </a:r>
          </a:p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DB WAL monitoring in place with alerting</a:t>
            </a:r>
          </a:p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Brand assets and theme tokens merged into main repo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70352" y="4275830"/>
            <a:ext cx="680428" cy="28575"/>
            <a:chOff x="0" y="0"/>
            <a:chExt cx="907237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07288" cy="38100"/>
            </a:xfrm>
            <a:custGeom>
              <a:avLst/>
              <a:gdLst/>
              <a:ahLst/>
              <a:cxnLst/>
              <a:rect l="l" t="t" r="r" b="b"/>
              <a:pathLst>
                <a:path w="90728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883853" y="4030266"/>
            <a:ext cx="519846" cy="519855"/>
            <a:chOff x="0" y="0"/>
            <a:chExt cx="693128" cy="6931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8973588" y="4077519"/>
            <a:ext cx="340214" cy="425206"/>
            <a:chOff x="0" y="0"/>
            <a:chExt cx="453619" cy="56694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3616" cy="566936"/>
            </a:xfrm>
            <a:custGeom>
              <a:avLst/>
              <a:gdLst/>
              <a:ahLst/>
              <a:cxnLst/>
              <a:rect l="l" t="t" r="r" b="b"/>
              <a:pathLst>
                <a:path w="453616" h="56693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r="-11035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77808" y="4103341"/>
            <a:ext cx="7017515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 &amp; Mitigation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77808" y="4607928"/>
            <a:ext cx="7017515" cy="205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SMTP throttling → Mitigation: queued dispatch with rate limiter</a:t>
            </a:r>
          </a:p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DB read hotspots from chatbot → Mitigation: read replicas &amp; caching for summaries</a:t>
            </a:r>
          </a:p>
          <a:p>
            <a:pPr marL="312182" lvl="1" indent="-156091" algn="l">
              <a:lnSpc>
                <a:spcPts val="2484"/>
              </a:lnSpc>
              <a:buFont typeface="Arial"/>
              <a:buChar char="•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Risk: Vector search CPU spikes → Mitigation: dedicated workers via ThreadPoolExecutor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236763" y="5770664"/>
            <a:ext cx="680428" cy="28575"/>
            <a:chOff x="0" y="0"/>
            <a:chExt cx="907237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07288" cy="38100"/>
            </a:xfrm>
            <a:custGeom>
              <a:avLst/>
              <a:gdLst/>
              <a:ahLst/>
              <a:cxnLst/>
              <a:rect l="l" t="t" r="r" b="b"/>
              <a:pathLst>
                <a:path w="907288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8238" y="0"/>
                  </a:lnTo>
                  <a:cubicBezTo>
                    <a:pt x="898779" y="0"/>
                    <a:pt x="907288" y="8509"/>
                    <a:pt x="907288" y="19050"/>
                  </a:cubicBezTo>
                  <a:cubicBezTo>
                    <a:pt x="907288" y="29591"/>
                    <a:pt x="898779" y="38100"/>
                    <a:pt x="8882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8883853" y="5525100"/>
            <a:ext cx="519846" cy="519855"/>
            <a:chOff x="0" y="0"/>
            <a:chExt cx="693128" cy="69314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3166" cy="693166"/>
            </a:xfrm>
            <a:custGeom>
              <a:avLst/>
              <a:gdLst/>
              <a:ahLst/>
              <a:cxnLst/>
              <a:rect l="l" t="t" r="r" b="b"/>
              <a:pathLst>
                <a:path w="693166" h="693166">
                  <a:moveTo>
                    <a:pt x="0" y="129413"/>
                  </a:moveTo>
                  <a:cubicBezTo>
                    <a:pt x="0" y="57912"/>
                    <a:pt x="57912" y="0"/>
                    <a:pt x="129413" y="0"/>
                  </a:cubicBezTo>
                  <a:lnTo>
                    <a:pt x="563753" y="0"/>
                  </a:lnTo>
                  <a:cubicBezTo>
                    <a:pt x="635254" y="0"/>
                    <a:pt x="693166" y="57912"/>
                    <a:pt x="693166" y="129413"/>
                  </a:cubicBezTo>
                  <a:lnTo>
                    <a:pt x="693166" y="563753"/>
                  </a:lnTo>
                  <a:cubicBezTo>
                    <a:pt x="693166" y="635254"/>
                    <a:pt x="635254" y="693166"/>
                    <a:pt x="563753" y="693166"/>
                  </a:cubicBezTo>
                  <a:lnTo>
                    <a:pt x="129413" y="693166"/>
                  </a:lnTo>
                  <a:cubicBezTo>
                    <a:pt x="57912" y="693166"/>
                    <a:pt x="0" y="635254"/>
                    <a:pt x="0" y="563753"/>
                  </a:cubicBezTo>
                  <a:close/>
                </a:path>
              </a:pathLst>
            </a:custGeom>
            <a:solidFill>
              <a:srgbClr val="F7EDD4"/>
            </a:solidFill>
            <a:ln w="9525" cap="sq">
              <a:solidFill>
                <a:srgbClr val="DDD3BA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8973588" y="5572344"/>
            <a:ext cx="340214" cy="425206"/>
            <a:chOff x="0" y="0"/>
            <a:chExt cx="453619" cy="56694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3616" cy="566936"/>
            </a:xfrm>
            <a:custGeom>
              <a:avLst/>
              <a:gdLst/>
              <a:ahLst/>
              <a:cxnLst/>
              <a:rect l="l" t="t" r="r" b="b"/>
              <a:pathLst>
                <a:path w="453616" h="566936">
                  <a:moveTo>
                    <a:pt x="0" y="0"/>
                  </a:moveTo>
                  <a:lnTo>
                    <a:pt x="453616" y="0"/>
                  </a:lnTo>
                  <a:lnTo>
                    <a:pt x="453616" y="566936"/>
                  </a:lnTo>
                  <a:lnTo>
                    <a:pt x="0" y="56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56" r="-11035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53619" cy="5669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2625">
                  <a:solidFill>
                    <a:srgbClr val="45424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2210" y="5598166"/>
            <a:ext cx="7017515" cy="36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14"/>
              </a:lnSpc>
            </a:pPr>
            <a:r>
              <a:rPr lang="en-US" sz="21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Recommended Next Steps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2210" y="6042269"/>
            <a:ext cx="7017515" cy="1788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2182" lvl="1" indent="-156091" algn="l">
              <a:lnSpc>
                <a:spcPts val="2484"/>
              </a:lnSpc>
              <a:buAutoNum type="arabicPeriod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Run staged rollout to 10% of accounts and monitor delivery &amp; latency</a:t>
            </a:r>
          </a:p>
          <a:p>
            <a:pPr marL="312182" lvl="1" indent="-156091" algn="l">
              <a:lnSpc>
                <a:spcPts val="2484"/>
              </a:lnSpc>
              <a:buAutoNum type="arabicPeriod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Enable read-replica for high-volume analytics queries</a:t>
            </a:r>
          </a:p>
          <a:p>
            <a:pPr marL="312182" lvl="1" indent="-156091" algn="l">
              <a:lnSpc>
                <a:spcPts val="2484"/>
              </a:lnSpc>
              <a:buAutoNum type="arabicPeriod"/>
            </a:pPr>
            <a:r>
              <a:rPr lang="en-US" sz="17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Hand off branding assets and component docs to product and marketing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1187</Words>
  <Application>Microsoft Office PowerPoint</Application>
  <PresentationFormat>Custom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DM Sans Italics</vt:lpstr>
      <vt:lpstr>Arial</vt:lpstr>
      <vt:lpstr>DM Sans</vt:lpstr>
      <vt:lpstr>Libre Baskerville Bold</vt:lpstr>
      <vt:lpstr>Calibri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Final.pptx</dc:title>
  <dc:creator>Reshekumar V</dc:creator>
  <cp:lastModifiedBy>Reshekumar V</cp:lastModifiedBy>
  <cp:revision>4</cp:revision>
  <cp:lastPrinted>2026-09-05T04:49:41Z</cp:lastPrinted>
  <dcterms:created xsi:type="dcterms:W3CDTF">2006-08-16T00:00:00Z</dcterms:created>
  <dcterms:modified xsi:type="dcterms:W3CDTF">2026-09-08T09:20:39Z</dcterms:modified>
  <dc:identifier>DAHTGIdb-Ao</dc:identifier>
</cp:coreProperties>
</file>