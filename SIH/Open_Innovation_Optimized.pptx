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854" y="7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arxiv.org/abs/2005.11401" TargetMode="External"/><Relationship Id="rId5" Type="http://schemas.openxmlformats.org/officeDocument/2006/relationships/hyperlink" Target="doi.org/10.1037/0033-2909.132.3.354" TargetMode="External"/><Relationship Id="rId6" Type="http://schemas.openxmlformats.org/officeDocument/2006/relationships/hyperlink" Target="ollama.com" TargetMode="External"/><Relationship Id="rId7" Type="http://schemas.openxmlformats.org/officeDocument/2006/relationships/hyperlink" Target="huggingface.co" TargetMode="External"/><Relationship Id="rId8" Type="http://schemas.openxmlformats.org/officeDocument/2006/relationships/hyperlink" Target="https://github.com/VRK1106/Talent-Management-Platform-for-Employee-Performance-and-Career-Growth" TargetMode="External"/><Relationship Id="rId9" Type="http://schemas.openxmlformats.org/officeDocument/2006/relationships/hyperlink" Target="https://drive.google.com/file/d/1sGXeVnHDuI3BnXdlIk2xZIc98gemELGi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9580" y="240756"/>
            <a:ext cx="8534400" cy="1752600"/>
          </a:xfrm>
        </p:spPr>
        <p:txBody>
          <a:bodyPr/>
          <a:lstStyle/>
          <a:p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TALENT MANAGEMENT &amp; AI-POWERED SMART EDUCATION PLATFORM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7606006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/>
              <a:t>SIH26207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 Innovation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AM07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IQ Holders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3889" y="0"/>
            <a:ext cx="8379502" cy="1143000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TALENT MANAGEMENT &amp; AI-POWERED SMART EDUCATION PLATFORM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IQ Holders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85A8243C-BADD-5E0A-032E-C9BA087E99E3}"/>
              </a:ext>
            </a:extLst>
          </p:cNvPr>
          <p:cNvSpPr/>
          <p:nvPr/>
        </p:nvSpPr>
        <p:spPr>
          <a:xfrm>
            <a:off x="320040" y="13716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BEFE8"/>
          </a:solidFill>
          <a:ln w="12700">
            <a:solidFill>
              <a:srgbClr val="E0692F"/>
            </a:solidFill>
            <a:prstDash val="dash"/>
          </a:ln>
        </p:spPr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0023775A-7B7A-AED6-8D21-90A11D314901}"/>
              </a:ext>
            </a:extLst>
          </p:cNvPr>
          <p:cNvSpPr txBox="1"/>
          <p:nvPr/>
        </p:nvSpPr>
        <p:spPr>
          <a:xfrm>
            <a:off x="50292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at Hand</a:t>
            </a:r>
            <a:endParaRPr lang="en-US" sz="15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3F0DDFB-2953-2694-BDCD-47AC3805E9F8}"/>
              </a:ext>
            </a:extLst>
          </p:cNvPr>
          <p:cNvSpPr txBox="1"/>
          <p:nvPr/>
        </p:nvSpPr>
        <p:spPr>
          <a:xfrm>
            <a:off x="478243" y="1737360"/>
            <a:ext cx="3246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design and grading are manual and time-consuming for educators.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study material gives no personalization to individual students.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for institutions to measure whether study plans actually move grades or skill outcomes.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 ed-tech tools raise data-privacy concerns for institutions handling student records.</a:t>
            </a:r>
            <a:endParaRPr lang="en-US" sz="14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A1AD9D3-E403-A13A-63F8-ABAD94FD23E0}"/>
              </a:ext>
            </a:extLst>
          </p:cNvPr>
          <p:cNvSpPr/>
          <p:nvPr/>
        </p:nvSpPr>
        <p:spPr>
          <a:xfrm>
            <a:off x="4160520" y="13716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9F4EE"/>
          </a:solidFill>
          <a:ln w="12700">
            <a:solidFill>
              <a:srgbClr val="1F8A5F"/>
            </a:solidFill>
            <a:prstDash val="dash"/>
          </a:ln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6EBBBA9-136A-D0B2-7725-FF12FD7E9C52}"/>
              </a:ext>
            </a:extLst>
          </p:cNvPr>
          <p:cNvSpPr txBox="1"/>
          <p:nvPr/>
        </p:nvSpPr>
        <p:spPr>
          <a:xfrm>
            <a:off x="434340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97E1621-DF36-F69A-66B6-CB9CB4369293}"/>
              </a:ext>
            </a:extLst>
          </p:cNvPr>
          <p:cNvSpPr txBox="1"/>
          <p:nvPr/>
        </p:nvSpPr>
        <p:spPr>
          <a:xfrm>
            <a:off x="4343400" y="1938528"/>
            <a:ext cx="3246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RAG platform: local LLM (Ollama) + BAAI bge-large embeddings in ChromaDB generate cited, source-linked answers from uploaded PDFs/DOCX — running entirely on the institution's server.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FSRS-based spaced-repetition schedules, mock tests, and flashcards that adapt per student, per item.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Voice AI Assistant (Web Speech API) for 24/7 tutoring, navigation, and spoken audio-overview summaries of uploaded material.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webcam proctoring with face-presence detection for exams; executive dashboard tracks live progress.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burst (Groq API) only for non-sensitive, high-load queries – always admin-toggled, never for student records.</a:t>
            </a:r>
            <a:endParaRPr lang="en-US" sz="13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2AB33249-A9D8-C389-8683-E0BE8E34E917}"/>
              </a:ext>
            </a:extLst>
          </p:cNvPr>
          <p:cNvSpPr/>
          <p:nvPr/>
        </p:nvSpPr>
        <p:spPr>
          <a:xfrm>
            <a:off x="8001000" y="13716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EF2F9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9F3E7034-DAC5-9A59-973E-283A0FD2C130}"/>
              </a:ext>
            </a:extLst>
          </p:cNvPr>
          <p:cNvSpPr txBox="1"/>
          <p:nvPr/>
        </p:nvSpPr>
        <p:spPr>
          <a:xfrm>
            <a:off x="818388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Different</a:t>
            </a:r>
            <a:endParaRPr lang="en-US" sz="15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7BC9F55D-3DAD-45B3-4043-4F0AD9E0B6E9}"/>
              </a:ext>
            </a:extLst>
          </p:cNvPr>
          <p:cNvSpPr txBox="1"/>
          <p:nvPr/>
        </p:nvSpPr>
        <p:spPr>
          <a:xfrm>
            <a:off x="8183880" y="193852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 / LMS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adaptive AI grading or personalized plans
</a:t>
            </a:r>
            <a:r>
              <a:rPr lang="en-US" sz="13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Auto-generates a personalized 6-day sprint per student</a:t>
            </a:r>
            <a:endParaRPr lang="en-US" sz="13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FA32A0E2-61CC-4B42-77B2-C671A2DDACE1}"/>
              </a:ext>
            </a:extLst>
          </p:cNvPr>
          <p:cNvSpPr txBox="1"/>
          <p:nvPr/>
        </p:nvSpPr>
        <p:spPr>
          <a:xfrm>
            <a:off x="8157026" y="3157351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ed-tech apps (BYJU'S-style)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Recurring fees; runs on third-party cloud
</a:t>
            </a:r>
            <a:r>
              <a:rPr lang="en-US" sz="13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Zero recurring API cost; data stays on-premise</a:t>
            </a:r>
            <a:endParaRPr lang="en-US" sz="1300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58EC4B75-A847-89BF-3C11-284B339DC3C2}"/>
              </a:ext>
            </a:extLst>
          </p:cNvPr>
          <p:cNvSpPr txBox="1"/>
          <p:nvPr/>
        </p:nvSpPr>
        <p:spPr>
          <a:xfrm>
            <a:off x="8157026" y="4341441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/ AI Notebook Tools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5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proctoring or institutional dashboard
</a:t>
            </a:r>
            <a:r>
              <a:rPr lang="en-US" sz="115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Adds FSRS scheduling, proctoring, executive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IQ Holders</a:t>
            </a:r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17442" name="Group 17441">
            <a:extLst>
              <a:ext uri="{FF2B5EF4-FFF2-40B4-BE49-F238E27FC236}">
                <a16:creationId xmlns:a16="http://schemas.microsoft.com/office/drawing/2014/main" id="{0D5FA250-6A60-7720-EAF9-10B33B83E23A}"/>
              </a:ext>
            </a:extLst>
          </p:cNvPr>
          <p:cNvGrpSpPr/>
          <p:nvPr/>
        </p:nvGrpSpPr>
        <p:grpSpPr>
          <a:xfrm>
            <a:off x="609600" y="1396892"/>
            <a:ext cx="11430000" cy="4687890"/>
            <a:chOff x="380999" y="1550812"/>
            <a:chExt cx="11430000" cy="4687890"/>
          </a:xfrm>
        </p:grpSpPr>
        <p:sp>
          <p:nvSpPr>
            <p:cNvPr id="26" name="Shape 15">
              <a:extLst>
                <a:ext uri="{FF2B5EF4-FFF2-40B4-BE49-F238E27FC236}">
                  <a16:creationId xmlns:a16="http://schemas.microsoft.com/office/drawing/2014/main" id="{F8B7AD55-EA66-C3DC-F25B-0A86C827BBE4}"/>
                </a:ext>
              </a:extLst>
            </p:cNvPr>
            <p:cNvSpPr/>
            <p:nvPr/>
          </p:nvSpPr>
          <p:spPr>
            <a:xfrm>
              <a:off x="6004559" y="1550812"/>
              <a:ext cx="1737360" cy="594360"/>
            </a:xfrm>
            <a:prstGeom prst="roundRect">
              <a:avLst>
                <a:gd name="adj" fmla="val 12308"/>
              </a:avLst>
            </a:prstGeom>
            <a:solidFill>
              <a:srgbClr val="FBEFE8"/>
            </a:solidFill>
            <a:ln w="12700">
              <a:solidFill>
                <a:srgbClr val="E0692F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7440" name="Group 17439">
              <a:extLst>
                <a:ext uri="{FF2B5EF4-FFF2-40B4-BE49-F238E27FC236}">
                  <a16:creationId xmlns:a16="http://schemas.microsoft.com/office/drawing/2014/main" id="{3516F23A-073B-960F-33F7-EDC8BB236BC7}"/>
                </a:ext>
              </a:extLst>
            </p:cNvPr>
            <p:cNvGrpSpPr/>
            <p:nvPr/>
          </p:nvGrpSpPr>
          <p:grpSpPr>
            <a:xfrm>
              <a:off x="380999" y="1575262"/>
              <a:ext cx="11430000" cy="4663440"/>
              <a:chOff x="365760" y="1143000"/>
              <a:chExt cx="11430000" cy="4663440"/>
            </a:xfrm>
          </p:grpSpPr>
          <p:sp>
            <p:nvSpPr>
              <p:cNvPr id="28" name="Text 16">
                <a:extLst>
                  <a:ext uri="{FF2B5EF4-FFF2-40B4-BE49-F238E27FC236}">
                    <a16:creationId xmlns:a16="http://schemas.microsoft.com/office/drawing/2014/main" id="{24C8D153-D022-4F75-3A21-825A14DBBDA0}"/>
                  </a:ext>
                </a:extLst>
              </p:cNvPr>
              <p:cNvSpPr txBox="1"/>
              <p:nvPr/>
            </p:nvSpPr>
            <p:spPr>
              <a:xfrm>
                <a:off x="5989320" y="1143000"/>
                <a:ext cx="1737360" cy="59436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E0692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User Query</a:t>
                </a:r>
                <a:endParaRPr lang="en-US" sz="1100" dirty="0"/>
              </a:p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E0692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(Web UI)</a:t>
                </a:r>
                <a:endParaRPr lang="en-US" sz="1100" dirty="0"/>
              </a:p>
            </p:txBody>
          </p:sp>
          <p:grpSp>
            <p:nvGrpSpPr>
              <p:cNvPr id="17439" name="Group 17438">
                <a:extLst>
                  <a:ext uri="{FF2B5EF4-FFF2-40B4-BE49-F238E27FC236}">
                    <a16:creationId xmlns:a16="http://schemas.microsoft.com/office/drawing/2014/main" id="{0B92C608-C7CD-630C-F54E-FC400BD8D194}"/>
                  </a:ext>
                </a:extLst>
              </p:cNvPr>
              <p:cNvGrpSpPr/>
              <p:nvPr/>
            </p:nvGrpSpPr>
            <p:grpSpPr>
              <a:xfrm>
                <a:off x="365760" y="1417320"/>
                <a:ext cx="11430000" cy="4389120"/>
                <a:chOff x="365760" y="1417320"/>
                <a:chExt cx="11430000" cy="4389120"/>
              </a:xfrm>
            </p:grpSpPr>
            <p:sp>
              <p:nvSpPr>
                <p:cNvPr id="5" name="Shape 7">
                  <a:extLst>
                    <a:ext uri="{FF2B5EF4-FFF2-40B4-BE49-F238E27FC236}">
                      <a16:creationId xmlns:a16="http://schemas.microsoft.com/office/drawing/2014/main" id="{5EB9112E-F4FC-7BB2-E74E-BA2918493F60}"/>
                    </a:ext>
                  </a:extLst>
                </p:cNvPr>
                <p:cNvSpPr/>
                <p:nvPr/>
              </p:nvSpPr>
              <p:spPr>
                <a:xfrm>
                  <a:off x="365760" y="1554480"/>
                  <a:ext cx="160020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EEF2F9"/>
                </a:solidFill>
                <a:ln w="12700">
                  <a:solidFill>
                    <a:srgbClr val="1B2A4A"/>
                  </a:solidFill>
                  <a:prstDash val="solid"/>
                </a:ln>
              </p:spPr>
            </p:sp>
            <p:sp>
              <p:nvSpPr>
                <p:cNvPr id="9" name="Text 8">
                  <a:extLst>
                    <a:ext uri="{FF2B5EF4-FFF2-40B4-BE49-F238E27FC236}">
                      <a16:creationId xmlns:a16="http://schemas.microsoft.com/office/drawing/2014/main" id="{B6EDE794-FE53-1987-0BA7-E4761B5B2A14}"/>
                    </a:ext>
                  </a:extLst>
                </p:cNvPr>
                <p:cNvSpPr txBox="1"/>
                <p:nvPr/>
              </p:nvSpPr>
              <p:spPr>
                <a:xfrm>
                  <a:off x="365760" y="1554480"/>
                  <a:ext cx="160020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00" tIns="50800" rIns="50800" bIns="508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Document Upload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(PDF, DOCX)</a:t>
                  </a:r>
                  <a:endParaRPr lang="en-US" sz="1100" dirty="0"/>
                </a:p>
              </p:txBody>
            </p:sp>
            <p:sp>
              <p:nvSpPr>
                <p:cNvPr id="14" name="Shape 9">
                  <a:extLst>
                    <a:ext uri="{FF2B5EF4-FFF2-40B4-BE49-F238E27FC236}">
                      <a16:creationId xmlns:a16="http://schemas.microsoft.com/office/drawing/2014/main" id="{F2C24FE0-622C-E9C6-21DC-AB91B950F445}"/>
                    </a:ext>
                  </a:extLst>
                </p:cNvPr>
                <p:cNvSpPr/>
                <p:nvPr/>
              </p:nvSpPr>
              <p:spPr>
                <a:xfrm>
                  <a:off x="2148840" y="1554480"/>
                  <a:ext cx="160020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EEF2F9"/>
                </a:solidFill>
                <a:ln w="12700">
                  <a:solidFill>
                    <a:srgbClr val="1B2A4A"/>
                  </a:solidFill>
                  <a:prstDash val="solid"/>
                </a:ln>
              </p:spPr>
            </p:sp>
            <p:sp>
              <p:nvSpPr>
                <p:cNvPr id="16" name="Text 10">
                  <a:extLst>
                    <a:ext uri="{FF2B5EF4-FFF2-40B4-BE49-F238E27FC236}">
                      <a16:creationId xmlns:a16="http://schemas.microsoft.com/office/drawing/2014/main" id="{2CF10550-9C0D-A2A3-F75B-17A65E4BE4DE}"/>
                    </a:ext>
                  </a:extLst>
                </p:cNvPr>
                <p:cNvSpPr txBox="1"/>
                <p:nvPr/>
              </p:nvSpPr>
              <p:spPr>
                <a:xfrm>
                  <a:off x="2148840" y="1554480"/>
                  <a:ext cx="160020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00" tIns="50800" rIns="50800" bIns="508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Text Extraction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(OCR, PyMuPDF)</a:t>
                  </a:r>
                  <a:endParaRPr lang="en-US" sz="1100" dirty="0"/>
                </a:p>
              </p:txBody>
            </p:sp>
            <p:sp>
              <p:nvSpPr>
                <p:cNvPr id="18" name="Shape 11">
                  <a:extLst>
                    <a:ext uri="{FF2B5EF4-FFF2-40B4-BE49-F238E27FC236}">
                      <a16:creationId xmlns:a16="http://schemas.microsoft.com/office/drawing/2014/main" id="{C27C4FB6-E1D7-2C09-B0FD-3C82AA484DD8}"/>
                    </a:ext>
                  </a:extLst>
                </p:cNvPr>
                <p:cNvSpPr/>
                <p:nvPr/>
              </p:nvSpPr>
              <p:spPr>
                <a:xfrm>
                  <a:off x="3931920" y="1554480"/>
                  <a:ext cx="160020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EEF2F9"/>
                </a:solidFill>
                <a:ln w="12700">
                  <a:solidFill>
                    <a:srgbClr val="1B2A4A"/>
                  </a:solidFill>
                  <a:prstDash val="solid"/>
                </a:ln>
              </p:spPr>
            </p:sp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1C673ABF-EA17-E7D2-33BF-253DD4975C1B}"/>
                    </a:ext>
                  </a:extLst>
                </p:cNvPr>
                <p:cNvSpPr txBox="1"/>
                <p:nvPr/>
              </p:nvSpPr>
              <p:spPr>
                <a:xfrm>
                  <a:off x="3931920" y="1554480"/>
                  <a:ext cx="160020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00" tIns="50800" rIns="50800" bIns="508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Vector Database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(ChromaDB + bge-large)</a:t>
                  </a:r>
                  <a:endParaRPr lang="en-US" sz="1100" dirty="0"/>
                </a:p>
              </p:txBody>
            </p:sp>
            <p:sp>
              <p:nvSpPr>
                <p:cNvPr id="22" name="Shape 13">
                  <a:extLst>
                    <a:ext uri="{FF2B5EF4-FFF2-40B4-BE49-F238E27FC236}">
                      <a16:creationId xmlns:a16="http://schemas.microsoft.com/office/drawing/2014/main" id="{C5FEFC99-4BF6-9A42-F0D6-E943A0DB1F7A}"/>
                    </a:ext>
                  </a:extLst>
                </p:cNvPr>
                <p:cNvSpPr/>
                <p:nvPr/>
              </p:nvSpPr>
              <p:spPr>
                <a:xfrm>
                  <a:off x="1984248" y="1847088"/>
                  <a:ext cx="201168" cy="237744"/>
                </a:xfrm>
                <a:prstGeom prst="rightArrow">
                  <a:avLst/>
                </a:prstGeom>
                <a:solidFill>
                  <a:srgbClr val="1B2A4A"/>
                </a:solidFill>
                <a:ln/>
              </p:spPr>
            </p:sp>
            <p:sp>
              <p:nvSpPr>
                <p:cNvPr id="24" name="Shape 14">
                  <a:extLst>
                    <a:ext uri="{FF2B5EF4-FFF2-40B4-BE49-F238E27FC236}">
                      <a16:creationId xmlns:a16="http://schemas.microsoft.com/office/drawing/2014/main" id="{E2F28D5C-B01A-E750-BEA7-5139F21F9E8F}"/>
                    </a:ext>
                  </a:extLst>
                </p:cNvPr>
                <p:cNvSpPr/>
                <p:nvPr/>
              </p:nvSpPr>
              <p:spPr>
                <a:xfrm>
                  <a:off x="3767328" y="1847088"/>
                  <a:ext cx="201168" cy="237744"/>
                </a:xfrm>
                <a:prstGeom prst="rightArrow">
                  <a:avLst/>
                </a:prstGeom>
                <a:solidFill>
                  <a:srgbClr val="1B2A4A"/>
                </a:solidFill>
                <a:ln/>
              </p:spPr>
            </p:sp>
            <p:sp>
              <p:nvSpPr>
                <p:cNvPr id="30" name="Shape 17">
                  <a:extLst>
                    <a:ext uri="{FF2B5EF4-FFF2-40B4-BE49-F238E27FC236}">
                      <a16:creationId xmlns:a16="http://schemas.microsoft.com/office/drawing/2014/main" id="{3E99D623-0E43-9B48-57E5-B15924D1AA0E}"/>
                    </a:ext>
                  </a:extLst>
                </p:cNvPr>
                <p:cNvSpPr/>
                <p:nvPr/>
              </p:nvSpPr>
              <p:spPr>
                <a:xfrm>
                  <a:off x="5989320" y="1874520"/>
                  <a:ext cx="1737360" cy="594360"/>
                </a:xfrm>
                <a:prstGeom prst="roundRect">
                  <a:avLst>
                    <a:gd name="adj" fmla="val 12308"/>
                  </a:avLst>
                </a:prstGeom>
                <a:solidFill>
                  <a:srgbClr val="FBEFE8"/>
                </a:solidFill>
                <a:ln w="12700">
                  <a:solidFill>
                    <a:srgbClr val="E0692F"/>
                  </a:solidFill>
                  <a:prstDash val="solid"/>
                </a:ln>
              </p:spPr>
            </p:sp>
            <p:sp>
              <p:nvSpPr>
                <p:cNvPr id="32" name="Text 18">
                  <a:extLst>
                    <a:ext uri="{FF2B5EF4-FFF2-40B4-BE49-F238E27FC236}">
                      <a16:creationId xmlns:a16="http://schemas.microsoft.com/office/drawing/2014/main" id="{DBD9C76C-B170-19DF-048C-25B466F96FF2}"/>
                    </a:ext>
                  </a:extLst>
                </p:cNvPr>
                <p:cNvSpPr txBox="1"/>
                <p:nvPr/>
              </p:nvSpPr>
              <p:spPr>
                <a:xfrm>
                  <a:off x="5989320" y="1874520"/>
                  <a:ext cx="1737360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E0692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Voice Query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E0692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(Web Speech API)</a:t>
                  </a:r>
                  <a:endParaRPr lang="en-US" sz="1100" dirty="0"/>
                </a:p>
              </p:txBody>
            </p:sp>
            <p:sp>
              <p:nvSpPr>
                <p:cNvPr id="34" name="Shape 19">
                  <a:extLst>
                    <a:ext uri="{FF2B5EF4-FFF2-40B4-BE49-F238E27FC236}">
                      <a16:creationId xmlns:a16="http://schemas.microsoft.com/office/drawing/2014/main" id="{54241D41-1537-0CA3-E00C-1E89A6A06FBA}"/>
                    </a:ext>
                  </a:extLst>
                </p:cNvPr>
                <p:cNvSpPr/>
                <p:nvPr/>
              </p:nvSpPr>
              <p:spPr>
                <a:xfrm>
                  <a:off x="8046720" y="1508760"/>
                  <a:ext cx="1737360" cy="594360"/>
                </a:xfrm>
                <a:prstGeom prst="roundRect">
                  <a:avLst>
                    <a:gd name="adj" fmla="val 12308"/>
                  </a:avLst>
                </a:prstGeom>
                <a:solidFill>
                  <a:srgbClr val="EEF2F9"/>
                </a:solidFill>
                <a:ln w="12700">
                  <a:solidFill>
                    <a:srgbClr val="1B2A4A"/>
                  </a:solidFill>
                  <a:prstDash val="solid"/>
                </a:ln>
              </p:spPr>
            </p:sp>
            <p:sp>
              <p:nvSpPr>
                <p:cNvPr id="36" name="Text 20">
                  <a:extLst>
                    <a:ext uri="{FF2B5EF4-FFF2-40B4-BE49-F238E27FC236}">
                      <a16:creationId xmlns:a16="http://schemas.microsoft.com/office/drawing/2014/main" id="{7A2EC1A2-4E97-023B-E348-BC7CCEEA01C6}"/>
                    </a:ext>
                  </a:extLst>
                </p:cNvPr>
                <p:cNvSpPr txBox="1"/>
                <p:nvPr/>
              </p:nvSpPr>
              <p:spPr>
                <a:xfrm>
                  <a:off x="8046720" y="1508760"/>
                  <a:ext cx="1737360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Semantic Search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(Vector Query + Citations)</a:t>
                  </a:r>
                  <a:endParaRPr lang="en-US" sz="1100" dirty="0"/>
                </a:p>
              </p:txBody>
            </p:sp>
            <p:sp>
              <p:nvSpPr>
                <p:cNvPr id="38" name="Shape 21">
                  <a:extLst>
                    <a:ext uri="{FF2B5EF4-FFF2-40B4-BE49-F238E27FC236}">
                      <a16:creationId xmlns:a16="http://schemas.microsoft.com/office/drawing/2014/main" id="{6A501D95-F2D8-FE6A-A0B5-715A9CFC3A8A}"/>
                    </a:ext>
                  </a:extLst>
                </p:cNvPr>
                <p:cNvSpPr/>
                <p:nvPr/>
              </p:nvSpPr>
              <p:spPr>
                <a:xfrm>
                  <a:off x="3429000" y="2880360"/>
                  <a:ext cx="3200400" cy="868680"/>
                </a:xfrm>
                <a:prstGeom prst="roundRect">
                  <a:avLst>
                    <a:gd name="adj" fmla="val 10526"/>
                  </a:avLst>
                </a:prstGeom>
                <a:solidFill>
                  <a:srgbClr val="1B2A4A"/>
                </a:solidFill>
                <a:ln/>
              </p:spPr>
            </p:sp>
            <p:sp>
              <p:nvSpPr>
                <p:cNvPr id="40" name="Text 22">
                  <a:extLst>
                    <a:ext uri="{FF2B5EF4-FFF2-40B4-BE49-F238E27FC236}">
                      <a16:creationId xmlns:a16="http://schemas.microsoft.com/office/drawing/2014/main" id="{439A64CD-A644-E8F9-6A80-4AB53B64EAD7}"/>
                    </a:ext>
                  </a:extLst>
                </p:cNvPr>
                <p:cNvSpPr txBox="1"/>
                <p:nvPr/>
              </p:nvSpPr>
              <p:spPr>
                <a:xfrm>
                  <a:off x="3429000" y="2880360"/>
                  <a:ext cx="3200400" cy="868680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00" tIns="50800" rIns="50800" bIns="50800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LOCAL LLM ENGINE</a:t>
                  </a:r>
                  <a:endParaRPr lang="en-US" sz="1300" dirty="0"/>
                </a:p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Ollama – Llama 3 / Qwen (on-prem)</a:t>
                  </a:r>
                  <a:endParaRPr lang="en-US" sz="1300" dirty="0"/>
                </a:p>
              </p:txBody>
            </p:sp>
            <p:sp>
              <p:nvSpPr>
                <p:cNvPr id="42" name="Shape 23">
                  <a:extLst>
                    <a:ext uri="{FF2B5EF4-FFF2-40B4-BE49-F238E27FC236}">
                      <a16:creationId xmlns:a16="http://schemas.microsoft.com/office/drawing/2014/main" id="{9B7F5506-2C0E-ECDC-506A-0E5D2670AE52}"/>
                    </a:ext>
                  </a:extLst>
                </p:cNvPr>
                <p:cNvSpPr/>
                <p:nvPr/>
              </p:nvSpPr>
              <p:spPr>
                <a:xfrm>
                  <a:off x="6903720" y="2926080"/>
                  <a:ext cx="1920240" cy="777240"/>
                </a:xfrm>
                <a:prstGeom prst="roundRect">
                  <a:avLst>
                    <a:gd name="adj" fmla="val 9412"/>
                  </a:avLst>
                </a:prstGeom>
                <a:solidFill>
                  <a:srgbClr val="FDF3E7"/>
                </a:solidFill>
                <a:ln w="12700">
                  <a:solidFill>
                    <a:srgbClr val="E0692F"/>
                  </a:solidFill>
                  <a:prstDash val="dash"/>
                </a:ln>
              </p:spPr>
            </p:sp>
            <p:sp>
              <p:nvSpPr>
                <p:cNvPr id="44" name="Text 24">
                  <a:extLst>
                    <a:ext uri="{FF2B5EF4-FFF2-40B4-BE49-F238E27FC236}">
                      <a16:creationId xmlns:a16="http://schemas.microsoft.com/office/drawing/2014/main" id="{F3CDC2C6-4A75-35D1-5159-93AE997D53D0}"/>
                    </a:ext>
                  </a:extLst>
                </p:cNvPr>
                <p:cNvSpPr txBox="1"/>
                <p:nvPr/>
              </p:nvSpPr>
              <p:spPr>
                <a:xfrm>
                  <a:off x="6903720" y="2926080"/>
                  <a:ext cx="1920240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00" tIns="38100" rIns="38100" bIns="38100" rtlCol="0" anchor="ctr"/>
                <a:lstStyle/>
                <a:p>
                  <a:pPr marL="0" indent="0" algn="ctr">
                    <a:buNone/>
                  </a:pPr>
                  <a:r>
                    <a:rPr lang="en-US" sz="950" i="1" dirty="0">
                      <a:solidFill>
                        <a:srgbClr val="E0692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Optional cloud burst: Groq API</a:t>
                  </a:r>
                  <a:endParaRPr lang="en-US" sz="950" dirty="0"/>
                </a:p>
                <a:p>
                  <a:pPr marL="0" indent="0" algn="ctr">
                    <a:buNone/>
                  </a:pPr>
                  <a:r>
                    <a:rPr lang="en-US" sz="950" i="1" dirty="0">
                      <a:solidFill>
                        <a:srgbClr val="E0692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(admin-toggled, non-sensitive queries only)</a:t>
                  </a:r>
                  <a:endParaRPr lang="en-US" sz="950" dirty="0"/>
                </a:p>
              </p:txBody>
            </p:sp>
            <p:sp>
              <p:nvSpPr>
                <p:cNvPr id="46" name="Shape 25">
                  <a:extLst>
                    <a:ext uri="{FF2B5EF4-FFF2-40B4-BE49-F238E27FC236}">
                      <a16:creationId xmlns:a16="http://schemas.microsoft.com/office/drawing/2014/main" id="{2730DA39-1FE9-6E00-2D0B-E6D375C1A6AC}"/>
                    </a:ext>
                  </a:extLst>
                </p:cNvPr>
                <p:cNvSpPr/>
                <p:nvPr/>
              </p:nvSpPr>
              <p:spPr>
                <a:xfrm>
                  <a:off x="822960" y="4343400"/>
                  <a:ext cx="160020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1F8A5F"/>
                </a:solidFill>
                <a:ln/>
              </p:spPr>
            </p:sp>
            <p:sp>
              <p:nvSpPr>
                <p:cNvPr id="48" name="Text 26">
                  <a:extLst>
                    <a:ext uri="{FF2B5EF4-FFF2-40B4-BE49-F238E27FC236}">
                      <a16:creationId xmlns:a16="http://schemas.microsoft.com/office/drawing/2014/main" id="{A00D0E83-CC6D-7819-8491-A04C6297798D}"/>
                    </a:ext>
                  </a:extLst>
                </p:cNvPr>
                <p:cNvSpPr txBox="1"/>
                <p:nvPr/>
              </p:nvSpPr>
              <p:spPr>
                <a:xfrm>
                  <a:off x="822960" y="4343400"/>
                  <a:ext cx="160020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00" tIns="38100" rIns="38100" bIns="381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Adaptive Review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(FSRS Engine)</a:t>
                  </a:r>
                  <a:endParaRPr lang="en-US" sz="1100" dirty="0"/>
                </a:p>
              </p:txBody>
            </p:sp>
            <p:sp>
              <p:nvSpPr>
                <p:cNvPr id="50" name="Shape 27">
                  <a:extLst>
                    <a:ext uri="{FF2B5EF4-FFF2-40B4-BE49-F238E27FC236}">
                      <a16:creationId xmlns:a16="http://schemas.microsoft.com/office/drawing/2014/main" id="{5976C3D5-DDDD-3B4D-210C-024DB4C72E59}"/>
                    </a:ext>
                  </a:extLst>
                </p:cNvPr>
                <p:cNvSpPr/>
                <p:nvPr/>
              </p:nvSpPr>
              <p:spPr>
                <a:xfrm>
                  <a:off x="2606040" y="4343400"/>
                  <a:ext cx="160020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1F8A5F"/>
                </a:solidFill>
                <a:ln/>
              </p:spPr>
            </p:sp>
            <p:sp>
              <p:nvSpPr>
                <p:cNvPr id="52" name="Text 28">
                  <a:extLst>
                    <a:ext uri="{FF2B5EF4-FFF2-40B4-BE49-F238E27FC236}">
                      <a16:creationId xmlns:a16="http://schemas.microsoft.com/office/drawing/2014/main" id="{30D3F4DC-6E34-F39F-FC17-FE1C8EA780C4}"/>
                    </a:ext>
                  </a:extLst>
                </p:cNvPr>
                <p:cNvSpPr txBox="1"/>
                <p:nvPr/>
              </p:nvSpPr>
              <p:spPr>
                <a:xfrm>
                  <a:off x="2606040" y="4343400"/>
                  <a:ext cx="160020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00" tIns="38100" rIns="38100" bIns="381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Exams &amp;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Assessments</a:t>
                  </a:r>
                  <a:endParaRPr lang="en-US" sz="1100" dirty="0"/>
                </a:p>
              </p:txBody>
            </p:sp>
            <p:sp>
              <p:nvSpPr>
                <p:cNvPr id="54" name="Shape 29">
                  <a:extLst>
                    <a:ext uri="{FF2B5EF4-FFF2-40B4-BE49-F238E27FC236}">
                      <a16:creationId xmlns:a16="http://schemas.microsoft.com/office/drawing/2014/main" id="{ADE04093-FE46-6463-F301-12C78173683B}"/>
                    </a:ext>
                  </a:extLst>
                </p:cNvPr>
                <p:cNvSpPr/>
                <p:nvPr/>
              </p:nvSpPr>
              <p:spPr>
                <a:xfrm>
                  <a:off x="4389120" y="4343400"/>
                  <a:ext cx="160020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1F8A5F"/>
                </a:solidFill>
                <a:ln/>
              </p:spPr>
            </p:sp>
            <p:sp>
              <p:nvSpPr>
                <p:cNvPr id="56" name="Text 30">
                  <a:extLst>
                    <a:ext uri="{FF2B5EF4-FFF2-40B4-BE49-F238E27FC236}">
                      <a16:creationId xmlns:a16="http://schemas.microsoft.com/office/drawing/2014/main" id="{358D4C19-378A-43F9-5AA6-8C2DF249598E}"/>
                    </a:ext>
                  </a:extLst>
                </p:cNvPr>
                <p:cNvSpPr txBox="1"/>
                <p:nvPr/>
              </p:nvSpPr>
              <p:spPr>
                <a:xfrm>
                  <a:off x="4389120" y="4343400"/>
                  <a:ext cx="160020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00" tIns="38100" rIns="38100" bIns="381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Voice &amp; Audio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(TTS, Tutor, Overviews)</a:t>
                  </a:r>
                  <a:endParaRPr lang="en-US" sz="1100" dirty="0"/>
                </a:p>
              </p:txBody>
            </p:sp>
            <p:sp>
              <p:nvSpPr>
                <p:cNvPr id="58" name="Shape 31">
                  <a:extLst>
                    <a:ext uri="{FF2B5EF4-FFF2-40B4-BE49-F238E27FC236}">
                      <a16:creationId xmlns:a16="http://schemas.microsoft.com/office/drawing/2014/main" id="{1F3BE582-78F1-F80A-218D-9F724B2A8F5B}"/>
                    </a:ext>
                  </a:extLst>
                </p:cNvPr>
                <p:cNvSpPr/>
                <p:nvPr/>
              </p:nvSpPr>
              <p:spPr>
                <a:xfrm>
                  <a:off x="6492240" y="4343400"/>
                  <a:ext cx="173736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EEF2F9"/>
                </a:solidFill>
                <a:ln w="12700">
                  <a:solidFill>
                    <a:srgbClr val="1B2A4A"/>
                  </a:solidFill>
                  <a:prstDash val="solid"/>
                </a:ln>
              </p:spPr>
            </p:sp>
            <p:sp>
              <p:nvSpPr>
                <p:cNvPr id="60" name="Text 32">
                  <a:extLst>
                    <a:ext uri="{FF2B5EF4-FFF2-40B4-BE49-F238E27FC236}">
                      <a16:creationId xmlns:a16="http://schemas.microsoft.com/office/drawing/2014/main" id="{554FB859-AD4B-3423-385E-60EC6748C7EA}"/>
                    </a:ext>
                  </a:extLst>
                </p:cNvPr>
                <p:cNvSpPr txBox="1"/>
                <p:nvPr/>
              </p:nvSpPr>
              <p:spPr>
                <a:xfrm>
                  <a:off x="6492240" y="4343400"/>
                  <a:ext cx="173736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00" tIns="38100" rIns="38100" bIns="381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Analytics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Engine</a:t>
                  </a:r>
                  <a:endParaRPr lang="en-US" sz="1100" dirty="0"/>
                </a:p>
              </p:txBody>
            </p:sp>
            <p:sp>
              <p:nvSpPr>
                <p:cNvPr id="62" name="Shape 33">
                  <a:extLst>
                    <a:ext uri="{FF2B5EF4-FFF2-40B4-BE49-F238E27FC236}">
                      <a16:creationId xmlns:a16="http://schemas.microsoft.com/office/drawing/2014/main" id="{47FF6A86-D459-83B0-47CF-9501AD425478}"/>
                    </a:ext>
                  </a:extLst>
                </p:cNvPr>
                <p:cNvSpPr/>
                <p:nvPr/>
              </p:nvSpPr>
              <p:spPr>
                <a:xfrm>
                  <a:off x="8549640" y="4343400"/>
                  <a:ext cx="292608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1B2A4A"/>
                </a:solidFill>
                <a:ln/>
              </p:spPr>
            </p:sp>
            <p:sp>
              <p:nvSpPr>
                <p:cNvPr id="17408" name="Text 34">
                  <a:extLst>
                    <a:ext uri="{FF2B5EF4-FFF2-40B4-BE49-F238E27FC236}">
                      <a16:creationId xmlns:a16="http://schemas.microsoft.com/office/drawing/2014/main" id="{27F5475D-0F01-B278-43E6-D01D6D834748}"/>
                    </a:ext>
                  </a:extLst>
                </p:cNvPr>
                <p:cNvSpPr txBox="1"/>
                <p:nvPr/>
              </p:nvSpPr>
              <p:spPr>
                <a:xfrm>
                  <a:off x="8549640" y="4343400"/>
                  <a:ext cx="292608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00" tIns="38100" rIns="38100" bIns="38100" rtlCol="0" anchor="ctr"/>
                <a:lstStyle/>
                <a:p>
                  <a:pPr marL="0" indent="0" algn="ctr">
                    <a:buNone/>
                  </a:pPr>
                  <a:r>
                    <a:rPr lang="en-US" sz="115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EXECUTIVE DASHBOARD</a:t>
                  </a:r>
                  <a:endParaRPr lang="en-US" sz="1150" dirty="0"/>
                </a:p>
                <a:p>
                  <a:pPr marL="0" indent="0" algn="ctr">
                    <a:buNone/>
                  </a:pPr>
                  <a:r>
                    <a:rPr lang="en-US" sz="115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KPIs: Progress · Usage · Performance</a:t>
                  </a:r>
                  <a:endParaRPr lang="en-US" sz="1150" dirty="0"/>
                </a:p>
              </p:txBody>
            </p:sp>
            <p:sp>
              <p:nvSpPr>
                <p:cNvPr id="17412" name="Shape 35">
                  <a:extLst>
                    <a:ext uri="{FF2B5EF4-FFF2-40B4-BE49-F238E27FC236}">
                      <a16:creationId xmlns:a16="http://schemas.microsoft.com/office/drawing/2014/main" id="{6816A7C2-24BD-AB20-AAAA-171B2096128B}"/>
                    </a:ext>
                  </a:extLst>
                </p:cNvPr>
                <p:cNvSpPr/>
                <p:nvPr/>
              </p:nvSpPr>
              <p:spPr>
                <a:xfrm flipV="1">
                  <a:off x="5532120" y="1463040"/>
                  <a:ext cx="457200" cy="50292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14" name="Shape 36">
                  <a:extLst>
                    <a:ext uri="{FF2B5EF4-FFF2-40B4-BE49-F238E27FC236}">
                      <a16:creationId xmlns:a16="http://schemas.microsoft.com/office/drawing/2014/main" id="{897E03B1-0228-9354-3FCD-460E46AF5DCF}"/>
                    </a:ext>
                  </a:extLst>
                </p:cNvPr>
                <p:cNvSpPr/>
                <p:nvPr/>
              </p:nvSpPr>
              <p:spPr>
                <a:xfrm>
                  <a:off x="5532120" y="1965959"/>
                  <a:ext cx="493776" cy="230505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16" name="Shape 37">
                  <a:extLst>
                    <a:ext uri="{FF2B5EF4-FFF2-40B4-BE49-F238E27FC236}">
                      <a16:creationId xmlns:a16="http://schemas.microsoft.com/office/drawing/2014/main" id="{1391713B-4D53-24BD-31FF-95653CBEB205}"/>
                    </a:ext>
                  </a:extLst>
                </p:cNvPr>
                <p:cNvSpPr/>
                <p:nvPr/>
              </p:nvSpPr>
              <p:spPr>
                <a:xfrm>
                  <a:off x="7726680" y="1417320"/>
                  <a:ext cx="320040" cy="36576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18" name="Shape 38">
                  <a:extLst>
                    <a:ext uri="{FF2B5EF4-FFF2-40B4-BE49-F238E27FC236}">
                      <a16:creationId xmlns:a16="http://schemas.microsoft.com/office/drawing/2014/main" id="{2F687E62-F667-35D9-98D3-544B0F5C592F}"/>
                    </a:ext>
                  </a:extLst>
                </p:cNvPr>
                <p:cNvSpPr/>
                <p:nvPr/>
              </p:nvSpPr>
              <p:spPr>
                <a:xfrm flipV="1">
                  <a:off x="7726680" y="1805940"/>
                  <a:ext cx="320040" cy="36576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20" name="Shape 39">
                  <a:extLst>
                    <a:ext uri="{FF2B5EF4-FFF2-40B4-BE49-F238E27FC236}">
                      <a16:creationId xmlns:a16="http://schemas.microsoft.com/office/drawing/2014/main" id="{4531348B-6A2B-3DFF-4574-D1798B548902}"/>
                    </a:ext>
                  </a:extLst>
                </p:cNvPr>
                <p:cNvSpPr/>
                <p:nvPr/>
              </p:nvSpPr>
              <p:spPr>
                <a:xfrm flipH="1">
                  <a:off x="6587657" y="2109027"/>
                  <a:ext cx="2361822" cy="77724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22" name="Shape 40">
                  <a:extLst>
                    <a:ext uri="{FF2B5EF4-FFF2-40B4-BE49-F238E27FC236}">
                      <a16:creationId xmlns:a16="http://schemas.microsoft.com/office/drawing/2014/main" id="{61540AD2-5432-C2EC-DB52-ACB6D84197E7}"/>
                    </a:ext>
                  </a:extLst>
                </p:cNvPr>
                <p:cNvSpPr/>
                <p:nvPr/>
              </p:nvSpPr>
              <p:spPr>
                <a:xfrm flipH="1">
                  <a:off x="1641423" y="3749039"/>
                  <a:ext cx="3387777" cy="594361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24" name="Shape 41">
                  <a:extLst>
                    <a:ext uri="{FF2B5EF4-FFF2-40B4-BE49-F238E27FC236}">
                      <a16:creationId xmlns:a16="http://schemas.microsoft.com/office/drawing/2014/main" id="{ED34CF3B-198A-443A-6DE2-EFC3528DACD5}"/>
                    </a:ext>
                  </a:extLst>
                </p:cNvPr>
                <p:cNvSpPr/>
                <p:nvPr/>
              </p:nvSpPr>
              <p:spPr>
                <a:xfrm flipH="1">
                  <a:off x="3363791" y="3749039"/>
                  <a:ext cx="1660911" cy="617061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26" name="Shape 42">
                  <a:extLst>
                    <a:ext uri="{FF2B5EF4-FFF2-40B4-BE49-F238E27FC236}">
                      <a16:creationId xmlns:a16="http://schemas.microsoft.com/office/drawing/2014/main" id="{23C825C3-51BA-F151-9E63-16ED047CF300}"/>
                    </a:ext>
                  </a:extLst>
                </p:cNvPr>
                <p:cNvSpPr/>
                <p:nvPr/>
              </p:nvSpPr>
              <p:spPr>
                <a:xfrm>
                  <a:off x="5029200" y="3749040"/>
                  <a:ext cx="155448" cy="59436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28" name="Shape 43">
                  <a:extLst>
                    <a:ext uri="{FF2B5EF4-FFF2-40B4-BE49-F238E27FC236}">
                      <a16:creationId xmlns:a16="http://schemas.microsoft.com/office/drawing/2014/main" id="{5B8E91BA-3880-F269-9D1B-FF814933DE97}"/>
                    </a:ext>
                  </a:extLst>
                </p:cNvPr>
                <p:cNvSpPr/>
                <p:nvPr/>
              </p:nvSpPr>
              <p:spPr>
                <a:xfrm>
                  <a:off x="5029200" y="3749040"/>
                  <a:ext cx="2331720" cy="59436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30" name="Shape 44">
                  <a:extLst>
                    <a:ext uri="{FF2B5EF4-FFF2-40B4-BE49-F238E27FC236}">
                      <a16:creationId xmlns:a16="http://schemas.microsoft.com/office/drawing/2014/main" id="{294CC8FF-AC18-F9AC-22AA-9FD95BB5683C}"/>
                    </a:ext>
                  </a:extLst>
                </p:cNvPr>
                <p:cNvSpPr/>
                <p:nvPr/>
              </p:nvSpPr>
              <p:spPr>
                <a:xfrm flipH="1">
                  <a:off x="7852199" y="2103120"/>
                  <a:ext cx="1106743" cy="77724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32" name="Shape 45">
                  <a:extLst>
                    <a:ext uri="{FF2B5EF4-FFF2-40B4-BE49-F238E27FC236}">
                      <a16:creationId xmlns:a16="http://schemas.microsoft.com/office/drawing/2014/main" id="{3DD35304-3FA2-1F1E-B842-1A3CDFCE2DCA}"/>
                    </a:ext>
                  </a:extLst>
                </p:cNvPr>
                <p:cNvSpPr/>
                <p:nvPr/>
              </p:nvSpPr>
              <p:spPr>
                <a:xfrm>
                  <a:off x="5033698" y="3750630"/>
                  <a:ext cx="4978982" cy="592769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34" name="Text 46">
                  <a:extLst>
                    <a:ext uri="{FF2B5EF4-FFF2-40B4-BE49-F238E27FC236}">
                      <a16:creationId xmlns:a16="http://schemas.microsoft.com/office/drawing/2014/main" id="{4D79059A-FC3D-16B4-58BD-DAFC109861EB}"/>
                    </a:ext>
                  </a:extLst>
                </p:cNvPr>
                <p:cNvSpPr txBox="1"/>
                <p:nvPr/>
              </p:nvSpPr>
              <p:spPr>
                <a:xfrm>
                  <a:off x="365760" y="5349240"/>
                  <a:ext cx="11430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endParaRPr lang="en-US" sz="1050" dirty="0"/>
                </a:p>
              </p:txBody>
            </p:sp>
            <p:sp>
              <p:nvSpPr>
                <p:cNvPr id="17436" name="Shape 14">
                  <a:extLst>
                    <a:ext uri="{FF2B5EF4-FFF2-40B4-BE49-F238E27FC236}">
                      <a16:creationId xmlns:a16="http://schemas.microsoft.com/office/drawing/2014/main" id="{61390390-B6F0-5A5D-28AB-19667CE0364A}"/>
                    </a:ext>
                  </a:extLst>
                </p:cNvPr>
                <p:cNvSpPr/>
                <p:nvPr/>
              </p:nvSpPr>
              <p:spPr>
                <a:xfrm>
                  <a:off x="8229600" y="4653976"/>
                  <a:ext cx="320040" cy="308721"/>
                </a:xfrm>
                <a:prstGeom prst="rightArrow">
                  <a:avLst/>
                </a:prstGeom>
                <a:solidFill>
                  <a:srgbClr val="1B2A4A"/>
                </a:solidFill>
                <a:ln/>
              </p:spPr>
            </p:sp>
            <p:sp>
              <p:nvSpPr>
                <p:cNvPr id="17438" name="Shape 14">
                  <a:extLst>
                    <a:ext uri="{FF2B5EF4-FFF2-40B4-BE49-F238E27FC236}">
                      <a16:creationId xmlns:a16="http://schemas.microsoft.com/office/drawing/2014/main" id="{37F4E616-18E3-A980-B118-B8F28B102393}"/>
                    </a:ext>
                  </a:extLst>
                </p:cNvPr>
                <p:cNvSpPr/>
                <p:nvPr/>
              </p:nvSpPr>
              <p:spPr>
                <a:xfrm flipH="1">
                  <a:off x="6629400" y="3214276"/>
                  <a:ext cx="252038" cy="237744"/>
                </a:xfrm>
                <a:prstGeom prst="rightArrow">
                  <a:avLst/>
                </a:prstGeom>
                <a:solidFill>
                  <a:srgbClr val="1B2A4A"/>
                </a:solidFill>
                <a:ln/>
              </p:spPr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IQ Holders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4B01A980-1E1B-2830-4C46-5F5808011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026814"/>
              </p:ext>
            </p:extLst>
          </p:nvPr>
        </p:nvGraphicFramePr>
        <p:xfrm>
          <a:off x="365760" y="1325880"/>
          <a:ext cx="11430000" cy="252222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Manual / Current Approach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IQ Holders Platform (target)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Time to build a 1-week study plan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3–4 hrs per teacher, manual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&lt; 2 minutes, automated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Grading / feedback turnaround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1–3 days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Near real-time, auto-graded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Recurring cost per student / year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₹800–₹1,500 (typical paid ed-tech tools)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₹0 recurring (local inference)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Where student data lives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Often third-party cloud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On-institution server (offline-first)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One-time setup cost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–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₹80,000–₹1.2L per campus (mid-range GPU server)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7">
            <a:extLst>
              <a:ext uri="{FF2B5EF4-FFF2-40B4-BE49-F238E27FC236}">
                <a16:creationId xmlns:a16="http://schemas.microsoft.com/office/drawing/2014/main" id="{0E0E7E71-091F-1414-DC18-9283D98648E8}"/>
              </a:ext>
            </a:extLst>
          </p:cNvPr>
          <p:cNvSpPr txBox="1"/>
          <p:nvPr/>
        </p:nvSpPr>
        <p:spPr>
          <a:xfrm>
            <a:off x="365760" y="3835823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projected for a mid-size college; validate against a pilot before finalizing pricing.</a:t>
            </a:r>
            <a:endParaRPr lang="en-US" sz="16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2E95ECE-58C4-2B9A-EEB9-E5135DB1B62D}"/>
              </a:ext>
            </a:extLst>
          </p:cNvPr>
          <p:cNvSpPr/>
          <p:nvPr/>
        </p:nvSpPr>
        <p:spPr>
          <a:xfrm>
            <a:off x="365760" y="411480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FDF3E7"/>
          </a:solidFill>
          <a:ln w="12700">
            <a:solidFill>
              <a:srgbClr val="E0692F"/>
            </a:solidFill>
            <a:prstDash val="dash"/>
          </a:ln>
        </p:spPr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F0A8982-5BCC-60CF-AAC0-13D0CFBB3353}"/>
              </a:ext>
            </a:extLst>
          </p:cNvPr>
          <p:cNvSpPr txBox="1"/>
          <p:nvPr/>
        </p:nvSpPr>
        <p:spPr>
          <a:xfrm>
            <a:off x="548640" y="42245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</a:t>
            </a:r>
            <a:endParaRPr lang="en-US" sz="20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57A7CC7-4CB1-2EC6-A492-3FE9DD12B9E1}"/>
              </a:ext>
            </a:extLst>
          </p:cNvPr>
          <p:cNvSpPr txBox="1"/>
          <p:nvPr/>
        </p:nvSpPr>
        <p:spPr>
          <a:xfrm>
            <a:off x="548640" y="461772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hardware requirements for running local LLMs at scale.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complex / scanned PDF layouts reliably.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offline engine's answer quality close to cloud models.</a:t>
            </a:r>
            <a:endParaRPr lang="en-US" sz="1600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3876E86C-FB5E-BC73-08DD-E1E1368B1FF3}"/>
              </a:ext>
            </a:extLst>
          </p:cNvPr>
          <p:cNvSpPr/>
          <p:nvPr/>
        </p:nvSpPr>
        <p:spPr>
          <a:xfrm>
            <a:off x="6126480" y="411480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9F4EE"/>
          </a:solidFill>
          <a:ln w="12700">
            <a:solidFill>
              <a:srgbClr val="1F8A5F"/>
            </a:solidFill>
            <a:prstDash val="dash"/>
          </a:ln>
        </p:spPr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E6B94E37-07C9-E486-B573-384BF87500EC}"/>
              </a:ext>
            </a:extLst>
          </p:cNvPr>
          <p:cNvSpPr txBox="1"/>
          <p:nvPr/>
        </p:nvSpPr>
        <p:spPr>
          <a:xfrm>
            <a:off x="6309360" y="42245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Overcome</a:t>
            </a:r>
            <a:endParaRPr lang="en-US" sz="20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44AFC055-B0BC-B0AF-FA41-D843C4486CB4}"/>
              </a:ext>
            </a:extLst>
          </p:cNvPr>
          <p:cNvSpPr txBox="1"/>
          <p:nvPr/>
        </p:nvSpPr>
        <p:spPr>
          <a:xfrm>
            <a:off x="6309360" y="461772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document parsers (PyMuPDF) and use background task queues (Celery) to prevent UI lag.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admin-toggled Groq API burst for non-sensitive load spikes only.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open-weight models (Qwen/Llama) sized to run on affordable campus hardware.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IQ Holders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899FC46E-1486-842B-A528-B81EC857187A}"/>
              </a:ext>
            </a:extLst>
          </p:cNvPr>
          <p:cNvSpPr/>
          <p:nvPr/>
        </p:nvSpPr>
        <p:spPr>
          <a:xfrm>
            <a:off x="365760" y="1554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E9F4EE"/>
          </a:solidFill>
          <a:ln w="12700">
            <a:solidFill>
              <a:srgbClr val="1F8A5F"/>
            </a:solidFill>
            <a:prstDash val="dash"/>
          </a:ln>
        </p:spPr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4C3A932C-8E90-986B-D3A2-BD0B02834531}"/>
              </a:ext>
            </a:extLst>
          </p:cNvPr>
          <p:cNvSpPr txBox="1"/>
          <p:nvPr/>
        </p:nvSpPr>
        <p:spPr>
          <a:xfrm>
            <a:off x="548640" y="16642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Impact</a:t>
            </a:r>
            <a:endParaRPr lang="en-US" sz="14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901B5B0-DABD-A5D0-754A-0B969D39E505}"/>
              </a:ext>
            </a:extLst>
          </p:cNvPr>
          <p:cNvSpPr txBox="1"/>
          <p:nvPr/>
        </p:nvSpPr>
        <p:spPr>
          <a:xfrm>
            <a:off x="548640" y="2029968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educators significant time on grading and lesson planning.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students personalized, adaptive AI tutoring with FSRS-based retention scheduling.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access to tailored education, including voice-assisted learning.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offline-capable architecture keeps sensitive student data on campus.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recurring LMS licensing and third-party curriculum fees.</a:t>
            </a:r>
            <a:endParaRPr lang="en-US" sz="14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5BAD7B87-4199-9BEB-CD0E-59C498CA7DA6}"/>
              </a:ext>
            </a:extLst>
          </p:cNvPr>
          <p:cNvSpPr/>
          <p:nvPr/>
        </p:nvSpPr>
        <p:spPr>
          <a:xfrm>
            <a:off x="6126480" y="1554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BEBEA"/>
          </a:solidFill>
          <a:ln w="12700">
            <a:solidFill>
              <a:srgbClr val="B23A3A"/>
            </a:solidFill>
            <a:prstDash val="dash"/>
          </a:ln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94979C0-94A6-31D0-17AC-2A482C7D8CE1}"/>
              </a:ext>
            </a:extLst>
          </p:cNvPr>
          <p:cNvSpPr txBox="1"/>
          <p:nvPr/>
        </p:nvSpPr>
        <p:spPr>
          <a:xfrm>
            <a:off x="6309360" y="16642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Impact &amp; Risks</a:t>
            </a:r>
            <a:endParaRPr lang="en-US" sz="14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A61081F-916C-65B3-8ED2-2C87C9C8F67E}"/>
              </a:ext>
            </a:extLst>
          </p:cNvPr>
          <p:cNvSpPr txBox="1"/>
          <p:nvPr/>
        </p:nvSpPr>
        <p:spPr>
          <a:xfrm>
            <a:off x="6309360" y="2029968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divide: needs a device and basic digital literacy to benefit fully.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hardware cost is a real adoption barrier for under-funded institutions → managed-hosting tier planned for budget-constrained campuses.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can lag cloud-scale LLMs on complex reasoning → admin-toggled Groq cloud burst covers non-sensitive queries.</a:t>
            </a:r>
            <a:endParaRPr lang="en-US" sz="1400" dirty="0"/>
          </a:p>
        </p:txBody>
      </p:sp>
      <p:graphicFrame>
        <p:nvGraphicFramePr>
          <p:cNvPr id="20" name="Table 0">
            <a:extLst>
              <a:ext uri="{FF2B5EF4-FFF2-40B4-BE49-F238E27FC236}">
                <a16:creationId xmlns:a16="http://schemas.microsoft.com/office/drawing/2014/main" id="{60D0FC37-6211-AACD-685A-691C8D6AB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92740"/>
              </p:ext>
            </p:extLst>
          </p:nvPr>
        </p:nvGraphicFramePr>
        <p:xfrm>
          <a:off x="365760" y="4114800"/>
          <a:ext cx="11430000" cy="1447800"/>
        </p:xfrm>
        <a:graphic>
          <a:graphicData uri="http://schemas.openxmlformats.org/drawingml/2006/table">
            <a:tbl>
              <a:tblPr/>
              <a:tblGrid>
                <a:gridCol w="3813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3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Social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Economic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Future Scope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Equal access to 24/7 tutoring regardless of location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Cuts LMS + proctoring vendor costs for institutions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Regional-language voice tutoring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Consistent, bias-checked grading criteria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Frees teacher hours for higher-value mentoring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Integration with institutional ERPs / govt. skilling schemes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8">
            <a:extLst>
              <a:ext uri="{FF2B5EF4-FFF2-40B4-BE49-F238E27FC236}">
                <a16:creationId xmlns:a16="http://schemas.microsoft.com/office/drawing/2014/main" id="{346227DC-23CA-B679-DFA2-2C674FA9E95C}"/>
              </a:ext>
            </a:extLst>
          </p:cNvPr>
          <p:cNvSpPr/>
          <p:nvPr/>
        </p:nvSpPr>
        <p:spPr>
          <a:xfrm>
            <a:off x="5992089" y="1247933"/>
            <a:ext cx="5532120" cy="3803651"/>
          </a:xfrm>
          <a:prstGeom prst="roundRect">
            <a:avLst>
              <a:gd name="adj" fmla="val 3556"/>
            </a:avLst>
          </a:prstGeom>
          <a:solidFill>
            <a:srgbClr val="FDF3E7"/>
          </a:solidFill>
          <a:ln w="12700">
            <a:solidFill>
              <a:srgbClr val="E0692F"/>
            </a:solidFill>
            <a:prstDash val="dash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IQ Holders</a:t>
            </a:r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6" name="Text 17">
            <a:extLst>
              <a:ext uri="{FF2B5EF4-FFF2-40B4-BE49-F238E27FC236}">
                <a16:creationId xmlns:a16="http://schemas.microsoft.com/office/drawing/2014/main" id="{AB85871A-CE95-9379-1909-50CE0C1736FB}"/>
              </a:ext>
            </a:extLst>
          </p:cNvPr>
          <p:cNvSpPr txBox="1"/>
          <p:nvPr/>
        </p:nvSpPr>
        <p:spPr>
          <a:xfrm>
            <a:off x="365760" y="5320000"/>
            <a:ext cx="560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TAM — IAMAI–Grant Thornton Bharat estimate via IBEF, 2025. SAM — IMARC Group, India LMS Market Report, 2025 (≈$877M, 15.39% CAGR to 2034). SOM is our own early-stage estimate — validate before citing externally.</a:t>
            </a:r>
            <a:endParaRPr lang="en-US" sz="140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22404718-96FB-E553-C79E-11BBE8D4CAB0}"/>
              </a:ext>
            </a:extLst>
          </p:cNvPr>
          <p:cNvSpPr txBox="1"/>
          <p:nvPr/>
        </p:nvSpPr>
        <p:spPr>
          <a:xfrm>
            <a:off x="6126480" y="1558795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al., “Retrieval-Augmented Generation for Knowledge-Intensive NLP Tasks,” NeurIPS 2020.
</a:t>
            </a: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arxiv.org/abs/2005.11401</a:t>
            </a:r>
            <a:endParaRPr lang="en-US" sz="15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1ABEB808-615B-BDAE-58EB-4B25E9D49BEF}"/>
              </a:ext>
            </a:extLst>
          </p:cNvPr>
          <p:cNvSpPr txBox="1"/>
          <p:nvPr/>
        </p:nvSpPr>
        <p:spPr>
          <a:xfrm>
            <a:off x="6126480" y="25209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Cepeda et al., spacing-effect research underlying our FSRS-based adaptive scheduling.
</a:t>
            </a: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file"/>
              </a:rPr>
              <a:t>doi.org/10.1037/0033-2909.132.3.354</a:t>
            </a:r>
            <a:endParaRPr lang="en-US" sz="1500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C9948B07-3BC1-307E-BC1A-8E19EDCCBDBA}"/>
              </a:ext>
            </a:extLst>
          </p:cNvPr>
          <p:cNvSpPr txBox="1"/>
          <p:nvPr/>
        </p:nvSpPr>
        <p:spPr>
          <a:xfrm>
            <a:off x="6126480" y="34313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local models for data privacy (Ollama).
</a:t>
            </a: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file"/>
              </a:rPr>
              <a:t>ollama.com</a:t>
            </a:r>
            <a:endParaRPr lang="en-US" sz="15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ECB6DBE5-379A-7131-E182-0A9661F086C4}"/>
              </a:ext>
            </a:extLst>
          </p:cNvPr>
          <p:cNvSpPr txBox="1"/>
          <p:nvPr/>
        </p:nvSpPr>
        <p:spPr>
          <a:xfrm>
            <a:off x="6126480" y="428758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&amp; BAAI bge-large-en-v1.5 embedding model documentation.
</a:t>
            </a: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file"/>
              </a:rPr>
              <a:t>huggingface.co</a:t>
            </a:r>
            <a:endParaRPr lang="en-US" sz="15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D7B87F0-4114-54F2-8DA8-128B3528B697}"/>
              </a:ext>
            </a:extLst>
          </p:cNvPr>
          <p:cNvGrpSpPr/>
          <p:nvPr/>
        </p:nvGrpSpPr>
        <p:grpSpPr>
          <a:xfrm>
            <a:off x="6126480" y="5188107"/>
            <a:ext cx="5394960" cy="777240"/>
            <a:chOff x="6126480" y="4590288"/>
            <a:chExt cx="5394960" cy="777240"/>
          </a:xfrm>
        </p:grpSpPr>
        <p:sp>
          <p:nvSpPr>
            <p:cNvPr id="36" name="Shape 23">
              <a:extLst>
                <a:ext uri="{FF2B5EF4-FFF2-40B4-BE49-F238E27FC236}">
                  <a16:creationId xmlns:a16="http://schemas.microsoft.com/office/drawing/2014/main" id="{D81D3D38-9397-9F08-2EE4-7E4DC87295DC}"/>
                </a:ext>
              </a:extLst>
            </p:cNvPr>
            <p:cNvSpPr/>
            <p:nvPr/>
          </p:nvSpPr>
          <p:spPr>
            <a:xfrm>
              <a:off x="6126480" y="4590288"/>
              <a:ext cx="5394960" cy="777240"/>
            </a:xfrm>
            <a:prstGeom prst="roundRect">
              <a:avLst>
                <a:gd name="adj" fmla="val 9412"/>
              </a:avLst>
            </a:prstGeom>
            <a:solidFill>
              <a:srgbClr val="EEF2F9"/>
            </a:solidFill>
            <a:ln w="12700">
              <a:solidFill>
                <a:srgbClr val="1B2A4A"/>
              </a:solidFill>
              <a:prstDash val="dash"/>
            </a:ln>
          </p:spPr>
        </p:sp>
        <p:sp>
          <p:nvSpPr>
            <p:cNvPr id="38" name="Text 24">
              <a:extLst>
                <a:ext uri="{FF2B5EF4-FFF2-40B4-BE49-F238E27FC236}">
                  <a16:creationId xmlns:a16="http://schemas.microsoft.com/office/drawing/2014/main" id="{6E2E1C09-6796-BC9C-42E1-19D0AF633858}"/>
                </a:ext>
              </a:extLst>
            </p:cNvPr>
            <p:cNvSpPr txBox="1"/>
            <p:nvPr/>
          </p:nvSpPr>
          <p:spPr>
            <a:xfrm>
              <a:off x="6309360" y="4672584"/>
              <a:ext cx="50292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i="1" dirty="0" err="1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Github</a:t>
              </a:r>
              <a:r>
                <a:rPr lang="en-US" sz="1400" i="1" dirty="0">
                  <a:solidFill>
                    <a:srgbClr val="1B2A4A"/>
                  </a:solidFill>
                  <a:ea typeface="Calibri" pitchFamily="34" charset="-122"/>
                  <a:cs typeface="Calibri" pitchFamily="34" charset="-120"/>
                </a:rPr>
                <a:t>: </a:t>
              </a:r>
              <a:r>
                <a:rPr lang="en-US" sz="1400" i="1" dirty="0">
                  <a:solidFill>
                    <a:srgbClr val="1B2A4A"/>
                  </a:solidFill>
                  <a:ea typeface="Calibri" pitchFamily="34" charset="-122"/>
                  <a:cs typeface="Calibri" pitchFamily="34" charset="-120"/>
                  <a:hlinkClick r:id="rId8"/>
                </a:rPr>
                <a:t>TALENT MANAGEMENT &amp; AI-POWERED SMART EDUCATION PLATFORM</a:t>
              </a:r>
              <a:endParaRPr lang="en-US" sz="1400" i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r>
                <a:rPr lang="en-US" sz="1400" i="1" dirty="0">
                  <a:solidFill>
                    <a:srgbClr val="1B2A4A"/>
                  </a:solidFill>
                  <a:ea typeface="Calibri" pitchFamily="34" charset="-122"/>
                  <a:cs typeface="Calibri" pitchFamily="34" charset="-120"/>
                </a:rPr>
                <a:t>Study plan demo: </a:t>
              </a:r>
              <a:r>
                <a:rPr lang="en-US" sz="1400" i="1" dirty="0">
                  <a:solidFill>
                    <a:srgbClr val="1B2A4A"/>
                  </a:solidFill>
                  <a:ea typeface="Calibri" pitchFamily="34" charset="-122"/>
                  <a:cs typeface="Calibri" pitchFamily="34" charset="-120"/>
                  <a:hlinkClick r:id="rId9"/>
                </a:rPr>
                <a:t>STUDY PLAN CREATION</a:t>
              </a:r>
              <a:endParaRPr lang="en-US" sz="1400" dirty="0"/>
            </a:p>
          </p:txBody>
        </p:sp>
      </p:grpSp>
      <p:sp>
        <p:nvSpPr>
          <p:cNvPr id="17410" name="Oval 17409"/>
          <p:cNvSpPr/>
          <p:nvPr/>
        </p:nvSpPr>
        <p:spPr>
          <a:xfrm>
            <a:off x="365760" y="1503840"/>
            <a:ext cx="3566160" cy="3566160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Oval 17410"/>
          <p:cNvSpPr/>
          <p:nvPr/>
        </p:nvSpPr>
        <p:spPr>
          <a:xfrm>
            <a:off x="960120" y="2692560"/>
            <a:ext cx="2377440" cy="2377440"/>
          </a:xfrm>
          <a:prstGeom prst="ellipse">
            <a:avLst/>
          </a:prstGeom>
          <a:solidFill>
            <a:srgbClr val="2E4A7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1554480" y="3881280"/>
            <a:ext cx="1188720" cy="1188720"/>
          </a:xfrm>
          <a:prstGeom prst="ellipse">
            <a:avLst/>
          </a:prstGeom>
          <a:solidFill>
            <a:srgbClr val="F2A65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48840" y="1633840"/>
            <a:ext cx="34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TAM   $7.5B</a:t>
            </a:r>
          </a:p>
          <a:p>
            <a:pPr algn="ctr"/>
            <a:r>
              <a:rPr sz="1050" i="1">
                <a:solidFill>
                  <a:srgbClr val="C9D4E8"/>
                </a:solidFill>
                <a:latin typeface="Calibri"/>
              </a:rPr>
              <a:t>India EdTech market, 2025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98840" y="2822560"/>
            <a:ext cx="23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SAM   $877M</a:t>
            </a:r>
          </a:p>
          <a:p>
            <a:pPr algn="ctr"/>
            <a:r>
              <a:rPr sz="950" i="1">
                <a:solidFill>
                  <a:srgbClr val="D6DEF0"/>
                </a:solidFill>
                <a:latin typeface="Calibri"/>
              </a:rPr>
              <a:t>India LMS market, 2025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558840" y="4265640"/>
            <a:ext cx="118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Calibri"/>
              </a:rPr>
              <a:t>SOM</a:t>
            </a:r>
          </a:p>
          <a:p>
            <a:pPr algn="ctr"/>
            <a:r>
              <a:rPr sz="1300" i="1">
                <a:solidFill>
                  <a:srgbClr val="1B2A4A"/>
                </a:solidFill>
                <a:latin typeface="Calibri"/>
              </a:rPr>
              <a:t>~$0.3M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7665</TotalTime>
  <Words>906</Words>
  <Application>Microsoft Office PowerPoint</Application>
  <PresentationFormat>Widescreen</PresentationFormat>
  <Paragraphs>135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TALENT MANAGEMENT &amp; AI-POWERED SMART EDUCATION PLATFORM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Reshekumar V</cp:lastModifiedBy>
  <cp:revision>153</cp:revision>
  <dcterms:created xsi:type="dcterms:W3CDTF">2013-12-12T18:46:50Z</dcterms:created>
  <dcterms:modified xsi:type="dcterms:W3CDTF">2026-09-11T04:40:10Z</dcterms:modified>
  <cp:category/>
</cp:coreProperties>
</file>