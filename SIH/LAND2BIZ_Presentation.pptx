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486400" cy="5486400"/>
          </a:xfrm>
          <a:prstGeom prst="ellipse">
            <a:avLst/>
          </a:prstGeom>
          <a:solidFill>
            <a:srgbClr val="2C5F2D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2926080"/>
            <a:ext cx="3840480" cy="3840480"/>
          </a:xfrm>
          <a:prstGeom prst="ellipse">
            <a:avLst/>
          </a:prstGeom>
          <a:solidFill>
            <a:srgbClr val="97BC62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ENTREPRENEURSHIP &amp; BUSINESS GUIDANCE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37744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LAND2BIZ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E9F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personalized platform that turns idle rural land into a confident, data-backed business decision.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709160"/>
            <a:ext cx="201168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StarkForge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3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&amp; Our Idea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4F7F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4846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First-time rural entrepreneurs choose a business on word-of-mouth, not data — leaving local demand, competitor density, the right investment size, and matching government loan schemes unjudged.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338328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E9F1E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5661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IDEA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93192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LAND2BIZ takes a user's land, location, capital and goals, and shows what business is realistically feasible there — why, what it will cost, and what government support applies, before a rupee is invested.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263640" y="12344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691640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12280" y="166420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Intelligence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812280" y="1938528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Population, road access and nearby institutions pulled from Google Places, OpenStreetMap and Census APIs.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63640" y="2743200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12280" y="271576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Gap Analysis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812280" y="2990088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underserved local needs instead of simply the most popular business.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63640" y="3794760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12280" y="376732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Business Ranking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812280" y="4041648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score broken into visible sub-scores — site, demand, finance and risk.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63640" y="4846320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3" name="Text 21"/>
          <p:cNvSpPr/>
          <p:nvPr/>
        </p:nvSpPr>
        <p:spPr>
          <a:xfrm>
            <a:off x="6263640" y="4846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12280" y="481888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Calculator &amp; Scheme Router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812280" y="5093208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cost, EMI and matching loan scheme, computed by pure rule-based code.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LAND2BIZ  |  Rural Entrepreneurship &amp; Business Guidance Platform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3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298448" cy="914400"/>
          </a:xfrm>
          <a:prstGeom prst="roundRect">
            <a:avLst>
              <a:gd name="adj" fmla="val 6000"/>
            </a:avLst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371600"/>
            <a:ext cx="12070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+ Location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Capital + Goals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847088" y="1371600"/>
            <a:ext cx="137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984248" y="1371600"/>
            <a:ext cx="1298448" cy="914400"/>
          </a:xfrm>
          <a:prstGeom prst="roundRect">
            <a:avLst>
              <a:gd name="adj" fmla="val 6000"/>
            </a:avLst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2029968" y="1371600"/>
            <a:ext cx="12070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282696" y="1371600"/>
            <a:ext cx="137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19856" y="1371600"/>
            <a:ext cx="1298448" cy="914400"/>
          </a:xfrm>
          <a:prstGeom prst="roundRect">
            <a:avLst>
              <a:gd name="adj" fmla="val 6000"/>
            </a:avLst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3465576" y="1371600"/>
            <a:ext cx="12070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18304" y="1371600"/>
            <a:ext cx="137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55464" y="1371600"/>
            <a:ext cx="1298448" cy="914400"/>
          </a:xfrm>
          <a:prstGeom prst="roundRect">
            <a:avLst>
              <a:gd name="adj" fmla="val 6000"/>
            </a:avLst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4901184" y="1371600"/>
            <a:ext cx="12070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&amp; Gap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153912" y="1371600"/>
            <a:ext cx="137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91072" y="1371600"/>
            <a:ext cx="1298448" cy="914400"/>
          </a:xfrm>
          <a:prstGeom prst="roundRect">
            <a:avLst>
              <a:gd name="adj" fmla="val 6000"/>
            </a:avLst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6336792" y="1371600"/>
            <a:ext cx="12070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589520" y="1371600"/>
            <a:ext cx="137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726680" y="1371600"/>
            <a:ext cx="1298448" cy="914400"/>
          </a:xfrm>
          <a:prstGeom prst="roundRect">
            <a:avLst>
              <a:gd name="adj" fmla="val 6000"/>
            </a:avLst>
          </a:prstGeom>
          <a:solidFill>
            <a:srgbClr val="2C5F2D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0" y="1371600"/>
            <a:ext cx="12070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025128" y="1371600"/>
            <a:ext cx="137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162288" y="1371600"/>
            <a:ext cx="1298448" cy="914400"/>
          </a:xfrm>
          <a:prstGeom prst="roundRect">
            <a:avLst>
              <a:gd name="adj" fmla="val 6000"/>
            </a:avLst>
          </a:prstGeom>
          <a:solidFill>
            <a:srgbClr val="2C5F2D"/>
          </a:solidFill>
          <a:ln/>
        </p:spPr>
      </p:sp>
      <p:sp>
        <p:nvSpPr>
          <p:cNvPr id="22" name="Text 20"/>
          <p:cNvSpPr/>
          <p:nvPr/>
        </p:nvSpPr>
        <p:spPr>
          <a:xfrm>
            <a:off x="9208008" y="1371600"/>
            <a:ext cx="12070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&amp; Scheme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0460736" y="1371600"/>
            <a:ext cx="137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0597896" y="1371600"/>
            <a:ext cx="1298448" cy="914400"/>
          </a:xfrm>
          <a:prstGeom prst="roundRect">
            <a:avLst>
              <a:gd name="adj" fmla="val 6000"/>
            </a:avLst>
          </a:prstGeom>
          <a:solidFill>
            <a:srgbClr val="2C5F2D"/>
          </a:solidFill>
          <a:ln/>
        </p:spPr>
      </p:sp>
      <p:sp>
        <p:nvSpPr>
          <p:cNvPr id="25" name="Text 23"/>
          <p:cNvSpPr/>
          <p:nvPr/>
        </p:nvSpPr>
        <p:spPr>
          <a:xfrm>
            <a:off x="10643616" y="1371600"/>
            <a:ext cx="12070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8640" y="2606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UNIQUENESS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2971800"/>
            <a:ext cx="292608" cy="29260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2971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05840" y="2916936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Land-aware — recommendations are grounded in the specific parcel, not a generic business category.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48640" y="3749040"/>
            <a:ext cx="292608" cy="29260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05840" y="3694176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— connects site data, market data, finance and government schemes into one explainable chain no single existing tool covers.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263640" y="2606040"/>
            <a:ext cx="5394960" cy="3520440"/>
          </a:xfrm>
          <a:prstGeom prst="roundRect">
            <a:avLst>
              <a:gd name="adj" fmla="val 2597"/>
            </a:avLst>
          </a:prstGeom>
          <a:solidFill>
            <a:srgbClr val="F4F7F1"/>
          </a:solidFill>
          <a:ln/>
        </p:spPr>
      </p:sp>
      <p:sp>
        <p:nvSpPr>
          <p:cNvPr id="34" name="Text 32"/>
          <p:cNvSpPr/>
          <p:nvPr/>
        </p:nvSpPr>
        <p:spPr>
          <a:xfrm>
            <a:off x="6537960" y="27889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THREE-LAYER TRUST APPROACH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537960" y="3246120"/>
            <a:ext cx="4846320" cy="896112"/>
          </a:xfrm>
          <a:prstGeom prst="roundRect">
            <a:avLst>
              <a:gd name="adj" fmla="val 7143"/>
            </a:avLst>
          </a:prstGeom>
          <a:solidFill>
            <a:srgbClr val="2C5F2D"/>
          </a:solidFill>
          <a:ln/>
        </p:spPr>
      </p:sp>
      <p:sp>
        <p:nvSpPr>
          <p:cNvPr id="36" name="Text 34"/>
          <p:cNvSpPr/>
          <p:nvPr/>
        </p:nvSpPr>
        <p:spPr>
          <a:xfrm>
            <a:off x="6766560" y="331927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Data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766560" y="363016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APIs, Census records and deterministic formulas.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537960" y="4279392"/>
            <a:ext cx="4846320" cy="896112"/>
          </a:xfrm>
          <a:prstGeom prst="roundRect">
            <a:avLst>
              <a:gd name="adj" fmla="val 7143"/>
            </a:avLst>
          </a:prstGeom>
          <a:solidFill>
            <a:srgbClr val="2C5F2D">
              <a:alpha val="88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766560" y="435254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Reasoning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766560" y="46634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only for explainable scoring and narrative — never to compute numbers.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537960" y="5312664"/>
            <a:ext cx="4846320" cy="896112"/>
          </a:xfrm>
          <a:prstGeom prst="roundRect">
            <a:avLst>
              <a:gd name="adj" fmla="val 7143"/>
            </a:avLst>
          </a:prstGeom>
          <a:solidFill>
            <a:srgbClr val="2C5F2D">
              <a:alpha val="76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6766560" y="5385816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Ground-Truth Verification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766560" y="569671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entrepreneur physically confirms the recommendation on site.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LAND2BIZ  |  Rural Entrepreneurship &amp; Business Guidance Platform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3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Approach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440680" cy="1051560"/>
          </a:xfrm>
          <a:prstGeom prst="roundRect">
            <a:avLst>
              <a:gd name="adj" fmla="val 6087"/>
            </a:avLst>
          </a:prstGeom>
          <a:solidFill>
            <a:srgbClr val="F4F7F1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577340"/>
            <a:ext cx="274320" cy="2743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773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130759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43000" y="161848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mobile-first multi-step form, Tailwind CSS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55080" y="1188720"/>
            <a:ext cx="5440680" cy="1051560"/>
          </a:xfrm>
          <a:prstGeom prst="roundRect">
            <a:avLst>
              <a:gd name="adj" fmla="val 6087"/>
            </a:avLst>
          </a:prstGeom>
          <a:solidFill>
            <a:srgbClr val="F4F7F1"/>
          </a:solidFill>
          <a:ln/>
        </p:spPr>
      </p:sp>
      <p:sp>
        <p:nvSpPr>
          <p:cNvPr id="9" name="Shape 7"/>
          <p:cNvSpPr/>
          <p:nvPr/>
        </p:nvSpPr>
        <p:spPr>
          <a:xfrm>
            <a:off x="6537960" y="1577340"/>
            <a:ext cx="274320" cy="2743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5773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949440" y="130759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49440" y="161848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orchestration engine running the end-to-end pipeline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368296"/>
            <a:ext cx="5440680" cy="1051560"/>
          </a:xfrm>
          <a:prstGeom prst="roundRect">
            <a:avLst>
              <a:gd name="adj" fmla="val 6087"/>
            </a:avLst>
          </a:prstGeom>
          <a:solidFill>
            <a:srgbClr val="F4F7F1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2756916"/>
            <a:ext cx="274320" cy="2743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7569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43000" y="248716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&amp; Market Data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2798064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Places API and OpenStreetMap Overpass API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55080" y="2368296"/>
            <a:ext cx="5440680" cy="1051560"/>
          </a:xfrm>
          <a:prstGeom prst="roundRect">
            <a:avLst>
              <a:gd name="adj" fmla="val 6087"/>
            </a:avLst>
          </a:prstGeom>
          <a:solidFill>
            <a:srgbClr val="F4F7F1"/>
          </a:solidFill>
          <a:ln/>
        </p:spPr>
      </p:sp>
      <p:sp>
        <p:nvSpPr>
          <p:cNvPr id="19" name="Shape 17"/>
          <p:cNvSpPr/>
          <p:nvPr/>
        </p:nvSpPr>
        <p:spPr>
          <a:xfrm>
            <a:off x="6537960" y="2756916"/>
            <a:ext cx="274320" cy="2743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27569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49440" y="248716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Baseline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49440" y="2798064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 (growth-adjusted) combined with NSSO / PLFS data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547872"/>
            <a:ext cx="5440680" cy="1051560"/>
          </a:xfrm>
          <a:prstGeom prst="roundRect">
            <a:avLst>
              <a:gd name="adj" fmla="val 6087"/>
            </a:avLst>
          </a:prstGeom>
          <a:solidFill>
            <a:srgbClr val="F4F7F1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" y="3936492"/>
            <a:ext cx="274320" cy="2743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39364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43000" y="366674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Engine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43000" y="39776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EMI and loan formulas — zero AI, 100% deterministic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55080" y="3547872"/>
            <a:ext cx="5440680" cy="1051560"/>
          </a:xfrm>
          <a:prstGeom prst="roundRect">
            <a:avLst>
              <a:gd name="adj" fmla="val 6087"/>
            </a:avLst>
          </a:prstGeom>
          <a:solidFill>
            <a:srgbClr val="F4F7F1"/>
          </a:solidFill>
          <a:ln/>
        </p:spPr>
      </p:sp>
      <p:sp>
        <p:nvSpPr>
          <p:cNvPr id="29" name="Shape 27"/>
          <p:cNvSpPr/>
          <p:nvPr/>
        </p:nvSpPr>
        <p:spPr>
          <a:xfrm>
            <a:off x="6537960" y="3936492"/>
            <a:ext cx="274320" cy="2743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0" name="Text 28"/>
          <p:cNvSpPr/>
          <p:nvPr/>
        </p:nvSpPr>
        <p:spPr>
          <a:xfrm>
            <a:off x="6537960" y="39364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949440" y="366674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 Dataset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49440" y="39776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PMEGP / Stand-Up India / state scheme records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4727448"/>
            <a:ext cx="5440680" cy="1051560"/>
          </a:xfrm>
          <a:prstGeom prst="roundRect">
            <a:avLst>
              <a:gd name="adj" fmla="val 6087"/>
            </a:avLst>
          </a:prstGeom>
          <a:solidFill>
            <a:srgbClr val="F4F7F1"/>
          </a:solidFill>
          <a:ln/>
        </p:spPr>
      </p:sp>
      <p:sp>
        <p:nvSpPr>
          <p:cNvPr id="34" name="Shape 32"/>
          <p:cNvSpPr/>
          <p:nvPr/>
        </p:nvSpPr>
        <p:spPr>
          <a:xfrm>
            <a:off x="731520" y="5116068"/>
            <a:ext cx="274320" cy="2743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" y="51160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143000" y="48463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143000" y="515721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used only to narrate rankings — never to compute numbers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355080" y="4727448"/>
            <a:ext cx="5440680" cy="1051560"/>
          </a:xfrm>
          <a:prstGeom prst="roundRect">
            <a:avLst>
              <a:gd name="adj" fmla="val 6087"/>
            </a:avLst>
          </a:prstGeom>
          <a:solidFill>
            <a:srgbClr val="F4F7F1"/>
          </a:solidFill>
          <a:ln/>
        </p:spPr>
      </p:sp>
      <p:sp>
        <p:nvSpPr>
          <p:cNvPr id="39" name="Shape 37"/>
          <p:cNvSpPr/>
          <p:nvPr/>
        </p:nvSpPr>
        <p:spPr>
          <a:xfrm>
            <a:off x="6537960" y="5116068"/>
            <a:ext cx="274320" cy="2743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40" name="Text 38"/>
          <p:cNvSpPr/>
          <p:nvPr/>
        </p:nvSpPr>
        <p:spPr>
          <a:xfrm>
            <a:off x="6537960" y="51160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949440" y="48463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949440" y="515721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Cloud-hosted backend and frontend, independently scalable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LAND2BIZ  |  Rural Entrepreneurship &amp; Business Guidance Platform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3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&amp; Mitigation Strategy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2624328" cy="1417320"/>
          </a:xfrm>
          <a:prstGeom prst="roundRect">
            <a:avLst>
              <a:gd name="adj" fmla="val 5161"/>
            </a:avLst>
          </a:prstGeom>
          <a:solidFill>
            <a:srgbClr val="E9F1E0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" y="1399032"/>
            <a:ext cx="329184" cy="32918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13232" y="1810512"/>
            <a:ext cx="2295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Loan 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3232" y="2194560"/>
            <a:ext cx="2295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margin / 90% loan — no new framework required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37560" y="1234440"/>
            <a:ext cx="2624328" cy="1417320"/>
          </a:xfrm>
          <a:prstGeom prst="roundRect">
            <a:avLst>
              <a:gd name="adj" fmla="val 5161"/>
            </a:avLst>
          </a:prstGeom>
          <a:solidFill>
            <a:srgbClr val="E9F1E0"/>
          </a:solidFill>
          <a:ln/>
        </p:spPr>
      </p:sp>
      <p:sp>
        <p:nvSpPr>
          <p:cNvPr id="9" name="Shape 7"/>
          <p:cNvSpPr/>
          <p:nvPr/>
        </p:nvSpPr>
        <p:spPr>
          <a:xfrm>
            <a:off x="3502152" y="1399032"/>
            <a:ext cx="329184" cy="32918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3502152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02152" y="1810512"/>
            <a:ext cx="2295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Public APIs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02152" y="2194560"/>
            <a:ext cx="2295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Places, OpenStreetMap, Census — no paid licences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234440"/>
            <a:ext cx="2624328" cy="1417320"/>
          </a:xfrm>
          <a:prstGeom prst="roundRect">
            <a:avLst>
              <a:gd name="adj" fmla="val 5161"/>
            </a:avLst>
          </a:prstGeom>
          <a:solidFill>
            <a:srgbClr val="E9F1E0"/>
          </a:solidFill>
          <a:ln/>
        </p:spPr>
      </p:sp>
      <p:sp>
        <p:nvSpPr>
          <p:cNvPr id="14" name="Shape 12"/>
          <p:cNvSpPr/>
          <p:nvPr/>
        </p:nvSpPr>
        <p:spPr>
          <a:xfrm>
            <a:off x="6291072" y="1399032"/>
            <a:ext cx="329184" cy="32918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6291072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91072" y="1810512"/>
            <a:ext cx="2295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Hallucination Risk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91072" y="2194560"/>
            <a:ext cx="2295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engine is pure rule-based code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915400" y="1234440"/>
            <a:ext cx="2624328" cy="1417320"/>
          </a:xfrm>
          <a:prstGeom prst="roundRect">
            <a:avLst>
              <a:gd name="adj" fmla="val 5161"/>
            </a:avLst>
          </a:prstGeom>
          <a:solidFill>
            <a:srgbClr val="E9F1E0"/>
          </a:solidFill>
          <a:ln/>
        </p:spPr>
      </p:sp>
      <p:sp>
        <p:nvSpPr>
          <p:cNvPr id="19" name="Shape 17"/>
          <p:cNvSpPr/>
          <p:nvPr/>
        </p:nvSpPr>
        <p:spPr>
          <a:xfrm>
            <a:off x="9079992" y="1399032"/>
            <a:ext cx="329184" cy="32918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0" name="Text 18"/>
          <p:cNvSpPr/>
          <p:nvPr/>
        </p:nvSpPr>
        <p:spPr>
          <a:xfrm>
            <a:off x="9079992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079992" y="1810512"/>
            <a:ext cx="2295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Compliance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079992" y="2194560"/>
            <a:ext cx="2295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checks run as a transparent rule-based list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2880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 →  MITIGATION STRATEGY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3291840"/>
            <a:ext cx="5440680" cy="841248"/>
          </a:xfrm>
          <a:prstGeom prst="roundRect">
            <a:avLst>
              <a:gd name="adj" fmla="val 7609"/>
            </a:avLst>
          </a:prstGeom>
          <a:solidFill>
            <a:srgbClr val="F4F7F1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3364992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India-wide zoning / land-use API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3694176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regulatory checklist (not exhaustive)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355080" y="3291840"/>
            <a:ext cx="5440680" cy="841248"/>
          </a:xfrm>
          <a:prstGeom prst="roundRect">
            <a:avLst>
              <a:gd name="adj" fmla="val 7609"/>
            </a:avLst>
          </a:prstGeom>
          <a:solidFill>
            <a:srgbClr val="F4F7F1"/>
          </a:solidFill>
          <a:ln/>
        </p:spPr>
      </p:sp>
      <p:sp>
        <p:nvSpPr>
          <p:cNvPr id="28" name="Text 26"/>
          <p:cNvSpPr/>
          <p:nvPr/>
        </p:nvSpPr>
        <p:spPr>
          <a:xfrm>
            <a:off x="6537960" y="3364992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 data ages between cycles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37960" y="3694176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Growth-adjusted with state rates; cross-checked against live proxies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4279392"/>
            <a:ext cx="5440680" cy="841248"/>
          </a:xfrm>
          <a:prstGeom prst="roundRect">
            <a:avLst>
              <a:gd name="adj" fmla="val 7609"/>
            </a:avLst>
          </a:prstGeom>
          <a:solidFill>
            <a:srgbClr val="F4F7F1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4352544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users need low-literacy access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1520" y="4681728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UI now; voice interface on the roadmap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355080" y="4279392"/>
            <a:ext cx="5440680" cy="841248"/>
          </a:xfrm>
          <a:prstGeom prst="roundRect">
            <a:avLst>
              <a:gd name="adj" fmla="val 7609"/>
            </a:avLst>
          </a:prstGeom>
          <a:solidFill>
            <a:srgbClr val="F4F7F1"/>
          </a:solidFill>
          <a:ln/>
        </p:spPr>
      </p:sp>
      <p:sp>
        <p:nvSpPr>
          <p:cNvPr id="34" name="Text 32"/>
          <p:cNvSpPr/>
          <p:nvPr/>
        </p:nvSpPr>
        <p:spPr>
          <a:xfrm>
            <a:off x="6537960" y="4352544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scheme rules change over time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537960" y="4681728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dataset with periodic manual refresh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LAND2BIZ  |  Rural Entrepreneurship &amp; Business Guidance Platform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3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&amp; Benefits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624328" cy="1554480"/>
          </a:xfrm>
          <a:prstGeom prst="roundRect">
            <a:avLst>
              <a:gd name="adj" fmla="val 4706"/>
            </a:avLst>
          </a:prstGeom>
          <a:solidFill>
            <a:srgbClr val="2C5F2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44752"/>
            <a:ext cx="2258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Choice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2258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9F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land and business selection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337560" y="1280160"/>
            <a:ext cx="2624328" cy="1554480"/>
          </a:xfrm>
          <a:prstGeom prst="roundRect">
            <a:avLst>
              <a:gd name="adj" fmla="val 4706"/>
            </a:avLst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3520440" y="1444752"/>
            <a:ext cx="2258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Risk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520440" y="1874520"/>
            <a:ext cx="2258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9F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feasibility checked before commitment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1280160"/>
            <a:ext cx="2624328" cy="1554480"/>
          </a:xfrm>
          <a:prstGeom prst="roundRect">
            <a:avLst>
              <a:gd name="adj" fmla="val 4706"/>
            </a:avLst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1444752"/>
            <a:ext cx="2258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 Land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309360" y="1874520"/>
            <a:ext cx="2258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9F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idle land into a real opportunity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915400" y="1280160"/>
            <a:ext cx="2624328" cy="1554480"/>
          </a:xfrm>
          <a:prstGeom prst="roundRect">
            <a:avLst>
              <a:gd name="adj" fmla="val 4706"/>
            </a:avLst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9098280" y="1444752"/>
            <a:ext cx="2258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 Commitment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098280" y="1874520"/>
            <a:ext cx="2258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9F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is user-verified before investing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200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CHAIN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611880"/>
            <a:ext cx="2011680" cy="594360"/>
          </a:xfrm>
          <a:prstGeom prst="roundRect">
            <a:avLst>
              <a:gd name="adj" fmla="val 49231"/>
            </a:avLst>
          </a:prstGeom>
          <a:solidFill>
            <a:srgbClr val="97BC62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6118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560320" y="3611880"/>
            <a:ext cx="228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788920" y="3611880"/>
            <a:ext cx="2011680" cy="594360"/>
          </a:xfrm>
          <a:prstGeom prst="roundRect">
            <a:avLst>
              <a:gd name="adj" fmla="val 49231"/>
            </a:avLst>
          </a:prstGeom>
          <a:solidFill>
            <a:srgbClr val="97BC62"/>
          </a:solidFill>
          <a:ln/>
        </p:spPr>
      </p:sp>
      <p:sp>
        <p:nvSpPr>
          <p:cNvPr id="20" name="Text 18"/>
          <p:cNvSpPr/>
          <p:nvPr/>
        </p:nvSpPr>
        <p:spPr>
          <a:xfrm>
            <a:off x="2788920" y="36118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Fit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00600" y="3611880"/>
            <a:ext cx="228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29200" y="3611880"/>
            <a:ext cx="2011680" cy="594360"/>
          </a:xfrm>
          <a:prstGeom prst="roundRect">
            <a:avLst>
              <a:gd name="adj" fmla="val 49231"/>
            </a:avLst>
          </a:prstGeom>
          <a:solidFill>
            <a:srgbClr val="97BC62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36118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Fit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040880" y="3611880"/>
            <a:ext cx="228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269480" y="3611880"/>
            <a:ext cx="2011680" cy="594360"/>
          </a:xfrm>
          <a:prstGeom prst="roundRect">
            <a:avLst>
              <a:gd name="adj" fmla="val 49231"/>
            </a:avLst>
          </a:prstGeom>
          <a:solidFill>
            <a:srgbClr val="97BC62"/>
          </a:solidFill>
          <a:ln/>
        </p:spPr>
      </p:sp>
      <p:sp>
        <p:nvSpPr>
          <p:cNvPr id="26" name="Text 24"/>
          <p:cNvSpPr/>
          <p:nvPr/>
        </p:nvSpPr>
        <p:spPr>
          <a:xfrm>
            <a:off x="7269480" y="36118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Verify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281160" y="3611880"/>
            <a:ext cx="228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9509760" y="3611880"/>
            <a:ext cx="2011680" cy="594360"/>
          </a:xfrm>
          <a:prstGeom prst="roundRect">
            <a:avLst>
              <a:gd name="adj" fmla="val 49231"/>
            </a:avLst>
          </a:prstGeom>
          <a:solidFill>
            <a:srgbClr val="97BC62"/>
          </a:solidFill>
          <a:ln/>
        </p:spPr>
      </p:sp>
      <p:sp>
        <p:nvSpPr>
          <p:cNvPr id="29" name="Text 27"/>
          <p:cNvSpPr/>
          <p:nvPr/>
        </p:nvSpPr>
        <p:spPr>
          <a:xfrm>
            <a:off x="9509760" y="36118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 Action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48640" y="4617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BENEFICIARIES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48640" y="502920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24472A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502920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&amp; Semi-urban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Entrepreneurs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389120" y="502920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24472A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89120" y="502920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Micro-enterprises &amp;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Businesses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229600" y="502920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24472A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0" y="502920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Lenders &amp; Government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F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3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&amp; References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10896" cy="31089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05840" y="128016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myScheme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1609344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scheme discovery — myscheme.gov.in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355080" y="1371600"/>
            <a:ext cx="310896" cy="31089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6355080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12280" y="128016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Udyam Registration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12280" y="1609344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MSME registration fields — udyamregistration.gov.in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377440"/>
            <a:ext cx="310896" cy="31089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377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228600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NABARD Model Project Reports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615184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project cost baselines — nabard.org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55080" y="2377440"/>
            <a:ext cx="310896" cy="31089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2377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12280" y="228600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 &amp; NSSO / PLFS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12280" y="2615184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Growth-adjusted demand and purchasing-power data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383280"/>
            <a:ext cx="310896" cy="31089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383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05840" y="329184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Places &amp; OpenStreetMap Overpass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3621024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site and competitor data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55080" y="3383280"/>
            <a:ext cx="310896" cy="31089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4" name="Text 22"/>
          <p:cNvSpPr/>
          <p:nvPr/>
        </p:nvSpPr>
        <p:spPr>
          <a:xfrm>
            <a:off x="6355080" y="3383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12280" y="329184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VIIRS Night-Light Data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12280" y="3621024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Economic-activity proxy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4389120"/>
            <a:ext cx="310896" cy="31089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4389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05840" y="429768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Priority-Sector-Lending Circulars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05840" y="4626864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and scheme rules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LAND2BIZ  |  Rural Entrepreneurship &amp; Business Guidance Platform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2026-09-08T16:06:08Z</dcterms:created>
  <dcterms:modified xsi:type="dcterms:W3CDTF">2026-09-08T16:06:08Z</dcterms:modified>
</cp:coreProperties>
</file>