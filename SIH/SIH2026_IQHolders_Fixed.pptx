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3000" dirty="0"/>
          </a:p>
        </p:txBody>
      </p:sp>
      <p:pic>
        <p:nvPicPr>
          <p:cNvPr id="3" name="Image 0" descr="/home/claude/asse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74320"/>
            <a:ext cx="274320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481328"/>
            <a:ext cx="11292840" cy="0"/>
          </a:xfrm>
          <a:prstGeom prst="line">
            <a:avLst/>
          </a:prstGeom>
          <a:noFill/>
          <a:ln w="15875">
            <a:solidFill>
              <a:srgbClr val="1B2A4A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457200" y="1691640"/>
            <a:ext cx="11292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 Management &amp; AI-Powered Smart Education Platform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97180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– 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SIH26207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0215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– 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Innovation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03250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– 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Education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56285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– 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09320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– 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added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562356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– 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HOLDERS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35240" y="3063240"/>
            <a:ext cx="4069080" cy="1965960"/>
          </a:xfrm>
          <a:prstGeom prst="roundRect">
            <a:avLst>
              <a:gd name="adj" fmla="val 5581"/>
            </a:avLst>
          </a:prstGeom>
          <a:solidFill>
            <a:srgbClr val="EEF2F9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· PRIVACY-PRESERVING AI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365760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engine (Ollama) + ChromaDB run on the institution's own server – student data never has to leave campus.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20040" y="256032"/>
            <a:ext cx="14173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0040" y="2560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HOLDERS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41F3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2004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–  IQ Holders  |  Talent Management &amp; AI-Powered Smart Education Platform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11411712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65960" y="29260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20040" y="1078992"/>
            <a:ext cx="11521440" cy="0"/>
          </a:xfrm>
          <a:prstGeom prst="line">
            <a:avLst/>
          </a:prstGeom>
          <a:noFill/>
          <a:ln w="12700">
            <a:solidFill>
              <a:srgbClr val="C7CFDF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14173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2560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HOLDERS</a:t>
            </a:r>
            <a:endParaRPr lang="en-US" sz="1100" dirty="0"/>
          </a:p>
        </p:txBody>
      </p:sp>
      <p:pic>
        <p:nvPicPr>
          <p:cNvPr id="6" name="Image 0" descr="/home/claude/asse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2194560" cy="877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41F3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004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–  IQ Holders  |  Talent Management &amp; AI-Powered Smart Education Platform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411712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13716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BEFE8"/>
          </a:solidFill>
          <a:ln w="12700">
            <a:solidFill>
              <a:srgbClr val="E0692F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0292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at Hand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938528"/>
            <a:ext cx="3246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design and grading are manual and time-consuming for educators.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study material gives no personalization to individual students.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student-to-teacher ratios limit one-on-one tutoring and doubt-clearing.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 ed-tech tools raise data-privacy concerns for institutions handling student records.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60520" y="13716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9F4EE"/>
          </a:solidFill>
          <a:ln w="12700">
            <a:solidFill>
              <a:srgbClr val="1F8A5F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34340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343400" y="1938528"/>
            <a:ext cx="3246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AI platform: local LLM (Ollama) + ChromaDB ingest PDFs/DOCX and run entirely on the institution's server.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6-day adaptive study sprints, mock tests, and flashcards from uploaded material.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Voice AI Assistant for 24/7, hands-free tutoring and navigation.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facial authentication for proctored exams; executive dashboard tracks live progress.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burst (Groq API) only for non-sensitive, high-load queries – always admin-toggled, never for student records.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13716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EF2F9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818388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Different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183880" y="193852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 / LMS
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adaptive AI grading or personalized plans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Auto-generates a personalized 6-day sprint per student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323697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ed-tech apps (BYJU'S-style)
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Recurring fees; runs on third-party cloud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Zero recurring API cost; data stays on-premise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35424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proctored exams
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Labor-intensive, no real-time insight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Biometric proctoring + live analytics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65960" y="29260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20040" y="1078992"/>
            <a:ext cx="11521440" cy="0"/>
          </a:xfrm>
          <a:prstGeom prst="line">
            <a:avLst/>
          </a:prstGeom>
          <a:noFill/>
          <a:ln w="12700">
            <a:solidFill>
              <a:srgbClr val="C7CFDF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14173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2560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HOLDERS</a:t>
            </a:r>
            <a:endParaRPr lang="en-US" sz="1100" dirty="0"/>
          </a:p>
        </p:txBody>
      </p:sp>
      <p:pic>
        <p:nvPicPr>
          <p:cNvPr id="6" name="Image 0" descr="/home/claude/asse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2194560" cy="877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41F3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004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–  IQ Holders  |  Talent Management &amp; AI-Powered Smart Education Platform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411712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55448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EF2F9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5760" y="1554480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(PDF, DOCX)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48840" y="155448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EF2F9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48840" y="1554480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(OCR, Parsing)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31920" y="155448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EF2F9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1554480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(ChromaDB – local)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984248" y="1847088"/>
            <a:ext cx="201168" cy="237744"/>
          </a:xfrm>
          <a:prstGeom prst="rightArrow">
            <a:avLst/>
          </a:prstGeom>
          <a:solidFill>
            <a:srgbClr val="1B2A4A"/>
          </a:solidFill>
          <a:ln/>
        </p:spPr>
      </p:sp>
      <p:sp>
        <p:nvSpPr>
          <p:cNvPr id="17" name="Shape 14"/>
          <p:cNvSpPr/>
          <p:nvPr/>
        </p:nvSpPr>
        <p:spPr>
          <a:xfrm>
            <a:off x="3767328" y="1847088"/>
            <a:ext cx="201168" cy="237744"/>
          </a:xfrm>
          <a:prstGeom prst="rightArrow">
            <a:avLst/>
          </a:prstGeom>
          <a:solidFill>
            <a:srgbClr val="1B2A4A"/>
          </a:solidFill>
          <a:ln/>
        </p:spPr>
      </p:sp>
      <p:sp>
        <p:nvSpPr>
          <p:cNvPr id="18" name="Shape 15"/>
          <p:cNvSpPr/>
          <p:nvPr/>
        </p:nvSpPr>
        <p:spPr>
          <a:xfrm>
            <a:off x="5989320" y="114300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FBEFE8"/>
          </a:solidFill>
          <a:ln w="12700">
            <a:solidFill>
              <a:srgbClr val="E069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89320" y="1143000"/>
            <a:ext cx="17373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0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UI)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89320" y="187452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FBEFE8"/>
          </a:solidFill>
          <a:ln w="12700">
            <a:solidFill>
              <a:srgbClr val="E0692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89320" y="1874520"/>
            <a:ext cx="17373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0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(Voice AI)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46720" y="150876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EEF2F9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46720" y="1508760"/>
            <a:ext cx="17373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(Vector Query)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429000" y="288036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1B2A4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429000" y="2880360"/>
            <a:ext cx="32004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ENGINE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– Llama 3 / Qwen (on-prem)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903720" y="29260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DF3E7"/>
          </a:solidFill>
          <a:ln w="12700">
            <a:solidFill>
              <a:srgbClr val="E0692F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6903720" y="2926080"/>
            <a:ext cx="19202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0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burst: Groq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E0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(admin-toggled, non-sensitive queries only)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22960" y="43434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1F8A5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434340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Sprints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(Flashcards, Plans)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606040" y="43434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1F8A5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2606040" y="434340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389120" y="43434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1F8A5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389120" y="434340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Responses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(TTS, Tutor)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92240" y="43434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EF2F9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92240" y="4343400"/>
            <a:ext cx="17373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549640" y="434340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549640" y="4343400"/>
            <a:ext cx="29260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Progress · Usage · Performance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532120" y="1417320"/>
            <a:ext cx="457200" cy="548640"/>
          </a:xfrm>
          <a:prstGeom prst="line">
            <a:avLst/>
          </a:prstGeom>
          <a:noFill/>
          <a:ln w="12700">
            <a:solidFill>
              <a:srgbClr val="9AA6B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32120" y="1965960"/>
            <a:ext cx="457200" cy="182880"/>
          </a:xfrm>
          <a:prstGeom prst="line">
            <a:avLst/>
          </a:prstGeom>
          <a:noFill/>
          <a:ln w="12700">
            <a:solidFill>
              <a:srgbClr val="9AA6B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726680" y="1417320"/>
            <a:ext cx="320040" cy="365760"/>
          </a:xfrm>
          <a:prstGeom prst="line">
            <a:avLst/>
          </a:prstGeom>
          <a:noFill/>
          <a:ln w="12700">
            <a:solidFill>
              <a:srgbClr val="9AA6B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726680" y="1783080"/>
            <a:ext cx="320040" cy="365760"/>
          </a:xfrm>
          <a:prstGeom prst="line">
            <a:avLst/>
          </a:prstGeom>
          <a:noFill/>
          <a:ln w="12700">
            <a:solidFill>
              <a:srgbClr val="9AA6B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212080" y="2103120"/>
            <a:ext cx="3703320" cy="777240"/>
          </a:xfrm>
          <a:prstGeom prst="line">
            <a:avLst/>
          </a:prstGeom>
          <a:noFill/>
          <a:ln w="12700">
            <a:solidFill>
              <a:srgbClr val="9AA6B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618488" y="3749040"/>
            <a:ext cx="3410712" cy="594360"/>
          </a:xfrm>
          <a:prstGeom prst="line">
            <a:avLst/>
          </a:prstGeom>
          <a:noFill/>
          <a:ln w="12700">
            <a:solidFill>
              <a:srgbClr val="9AA6B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401568" y="3749040"/>
            <a:ext cx="1627632" cy="594360"/>
          </a:xfrm>
          <a:prstGeom prst="line">
            <a:avLst/>
          </a:prstGeom>
          <a:noFill/>
          <a:ln w="12700">
            <a:solidFill>
              <a:srgbClr val="9AA6B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029200" y="3749040"/>
            <a:ext cx="155448" cy="594360"/>
          </a:xfrm>
          <a:prstGeom prst="line">
            <a:avLst/>
          </a:prstGeom>
          <a:noFill/>
          <a:ln w="12700">
            <a:solidFill>
              <a:srgbClr val="9AA6B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29200" y="3749040"/>
            <a:ext cx="2331720" cy="594360"/>
          </a:xfrm>
          <a:prstGeom prst="line">
            <a:avLst/>
          </a:prstGeom>
          <a:noFill/>
          <a:ln w="12700">
            <a:solidFill>
              <a:srgbClr val="9AA6B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360920" y="3749040"/>
            <a:ext cx="0" cy="594360"/>
          </a:xfrm>
          <a:prstGeom prst="line">
            <a:avLst/>
          </a:prstGeom>
          <a:noFill/>
          <a:ln w="12700">
            <a:solidFill>
              <a:srgbClr val="9AA6B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360920" y="3749040"/>
            <a:ext cx="2651760" cy="594360"/>
          </a:xfrm>
          <a:prstGeom prst="line">
            <a:avLst/>
          </a:prstGeom>
          <a:noFill/>
          <a:ln w="12700">
            <a:solidFill>
              <a:srgbClr val="9AA6B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365760" y="53492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applied: the engine is a single, consistent local LLM (Ollama) – no GPT-4 / Claude references. Cloud use is optional, disclosed, and never touches student data.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65960" y="29260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20040" y="1078992"/>
            <a:ext cx="11521440" cy="0"/>
          </a:xfrm>
          <a:prstGeom prst="line">
            <a:avLst/>
          </a:prstGeom>
          <a:noFill/>
          <a:ln w="12700">
            <a:solidFill>
              <a:srgbClr val="C7CFDF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14173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2560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HOLDERS</a:t>
            </a:r>
            <a:endParaRPr lang="en-US" sz="1100" dirty="0"/>
          </a:p>
        </p:txBody>
      </p:sp>
      <p:pic>
        <p:nvPicPr>
          <p:cNvPr id="6" name="Image 0" descr="/home/claude/asse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2194560" cy="877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41F3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004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–  IQ Holders  |  Talent Management &amp; AI-Powered Smart Education Platform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411712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2331720"/>
        </p:xfrm>
        <a:graphic>
          <a:graphicData uri="http://schemas.openxmlformats.org/drawingml/2006/table">
            <a:tbl>
              <a:tblPr/>
              <a:tblGrid>
                <a:gridCol w="3931920"/>
                <a:gridCol w="3749040"/>
                <a:gridCol w="3749040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Manual / Current Approach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IQ Holders Platform (target)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Time to build a 1-week study plan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3–4 hrs per teacher, manual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&lt; 2 minutes, automated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Grading / feedback turnaround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1–3 days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Near real-time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Recurring cost per student / year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₹800–₹1,500 (typical paid ed-tech tools)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₹0 recurring (local inference)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Where student data lives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Often third-party cloud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On-institution server (offline-first)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One-time setup cost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₹80,000–₹1.2L per campus (mid-range GPU server)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65760" y="37033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projected for a mid-size college; validate against a pilot before finalizing pricing.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5760" y="411480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FDF3E7"/>
          </a:solidFill>
          <a:ln w="12700">
            <a:solidFill>
              <a:srgbClr val="E0692F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548640" y="42245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61772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hardware requirements for running local LLMs at scale.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complex / scanned PDF layouts reliably.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offline engine's answer quality close to cloud models.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411480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9F4EE"/>
          </a:solidFill>
          <a:ln w="12700">
            <a:solidFill>
              <a:srgbClr val="1F8A5F"/>
            </a:solidFill>
            <a:prstDash val="dash"/>
          </a:ln>
        </p:spPr>
      </p:sp>
      <p:sp>
        <p:nvSpPr>
          <p:cNvPr id="16" name="Text 12"/>
          <p:cNvSpPr txBox="1"/>
          <p:nvPr/>
        </p:nvSpPr>
        <p:spPr>
          <a:xfrm>
            <a:off x="6309360" y="42245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Overcome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6309360" y="461772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document parsers (PyMuPDF) and use background task queues (Celery) to prevent UI lag.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admin-toggled Groq API burst for non-sensitive load spikes only.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open-weight models (Qwen/Llama) sized to run on affordable campus hardware.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65960" y="29260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20040" y="1078992"/>
            <a:ext cx="11521440" cy="0"/>
          </a:xfrm>
          <a:prstGeom prst="line">
            <a:avLst/>
          </a:prstGeom>
          <a:noFill/>
          <a:ln w="12700">
            <a:solidFill>
              <a:srgbClr val="C7CFDF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14173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2560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HOLDERS</a:t>
            </a:r>
            <a:endParaRPr lang="en-US" sz="1100" dirty="0"/>
          </a:p>
        </p:txBody>
      </p:sp>
      <p:pic>
        <p:nvPicPr>
          <p:cNvPr id="6" name="Image 0" descr="/home/claude/asse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2194560" cy="877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41F3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004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–  IQ Holders  |  Talent Management &amp; AI-Powered Smart Education Platform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411712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3258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E9F4EE"/>
          </a:solidFill>
          <a:ln w="12700">
            <a:solidFill>
              <a:srgbClr val="1F8A5F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48640" y="14356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Impact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801368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educators significant time on grading and lesson planning.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students personalized, adaptive 24/7 AI tutoring.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Democratizes access to tailored education, including voice-assisted learning.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offline-capable architecture keeps sensitive student data on campus.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recurring LMS licensing and third-party curriculum fees.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6480" y="13258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BEBEA"/>
          </a:solidFill>
          <a:ln w="12700">
            <a:solidFill>
              <a:srgbClr val="B23A3A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6309360" y="14356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Impact &amp; Risks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801368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divide: needs a device and basic digital literacy to benefit fully.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hardware cost is a real adoption barrier for under-funded institutions.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can lag cloud-scale LLMs on complex reasoning – needs ongoing tuning.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in-house admin to maintain the on-prem server and apply security updates.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86200"/>
          <a:ext cx="11430000" cy="1234440"/>
        </p:xfrm>
        <a:graphic>
          <a:graphicData uri="http://schemas.openxmlformats.org/drawingml/2006/table">
            <a:tbl>
              <a:tblPr/>
              <a:tblGrid>
                <a:gridCol w="3813048"/>
                <a:gridCol w="3813048"/>
                <a:gridCol w="380390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Social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Economic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Future Scope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Equal access to 24/7 tutoring regardless of location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Cuts LMS + proctoring vendor costs for institutions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Regional-language voice tutoring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Consistent, bias-checked grading criteria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Frees teacher hours for higher-value mentoring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Integration with institutional ERPs / govt. skilling schemes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65960" y="29260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RESEARCH, MARKET SIZING &amp; REFERENCES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20040" y="1078992"/>
            <a:ext cx="11521440" cy="0"/>
          </a:xfrm>
          <a:prstGeom prst="line">
            <a:avLst/>
          </a:prstGeom>
          <a:noFill/>
          <a:ln w="12700">
            <a:solidFill>
              <a:srgbClr val="C7CFDF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14173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2560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HOLDERS</a:t>
            </a:r>
            <a:endParaRPr lang="en-US" sz="1100" dirty="0"/>
          </a:p>
        </p:txBody>
      </p:sp>
      <p:pic>
        <p:nvPicPr>
          <p:cNvPr id="6" name="Image 0" descr="/home/claude/asse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2194560" cy="877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41F3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004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–  IQ Holders  |  Talent Management &amp; AI-Powered Smart Education Platform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411712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1280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 (India, AI-personalized learning segment)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1737360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65760" y="17922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$7.5B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20665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EdTech market, 2025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051560" y="2523744"/>
            <a:ext cx="3566160" cy="658368"/>
          </a:xfrm>
          <a:prstGeom prst="roundRect">
            <a:avLst>
              <a:gd name="adj" fmla="val 8333"/>
            </a:avLst>
          </a:prstGeom>
          <a:solidFill>
            <a:srgbClr val="2E4A7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51560" y="2578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~$1.1B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AI-personalized learning &amp; LMS segment (~15% of TAM, est.)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737360" y="3310128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E0692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73736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~$0.3M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874520" y="3639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reachable colleges/coaching institutes at ~1% conversion (est.)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41422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IAMAI–Grant Thornton Bharat estimate via IBEF, 2025 (India EdTech market ≈ $7.5B). SAM/SOM are our own estimates – validate before citing externally.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6126480" y="1280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16916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al., “Retrieval-Augmented Generation for Knowledge-Intensive NLP Tasks,” NeurIPS 2020.
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arxiv.org/abs/2005.11401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126480" y="240487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Cepeda et al., spacing-effect research underlying our 6-day adaptive sprints.
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doi.org/10.1037/0033-2909.132.3.354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126480" y="311810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local models for data privacy (Ollama).
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ollama.com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126480" y="3831336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&amp; HuggingFace Sentence-Transformers documentation.
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126480" y="4590288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EF2F9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6309360" y="4672584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add your working prototype demo video, GitHub repo, and any UI screenshots here before submission – judges weight visible execution heavily.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2026-09-08T11:58:15Z</dcterms:created>
  <dcterms:modified xsi:type="dcterms:W3CDTF">2026-09-08T11:58:15Z</dcterms:modified>
</cp:coreProperties>
</file>